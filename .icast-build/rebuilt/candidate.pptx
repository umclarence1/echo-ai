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7350551c4e465c" /><Relationship Type="http://schemas.openxmlformats.org/officeDocument/2006/relationships/extended-properties" Target="/docProps/app.xml" Id="R6643615980cb4e6f" /><Relationship Type="http://schemas.openxmlformats.org/officeDocument/2006/relationships/officeDocument" Target="/ppt/presentation.xml" Id="Rfd6a1bc4938548c2"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8a60d8ba47ab4310"/>
  </p:sldMasterIdLst>
  <p:notesMasterIdLst>
    <p:notesMasterId xmlns:r="http://schemas.openxmlformats.org/officeDocument/2006/relationships" r:id="R6f0bec42efec416e"/>
  </p:notesMasterIdLst>
  <p:sldIdLst>
    <p:sldId xmlns:r="http://schemas.openxmlformats.org/officeDocument/2006/relationships" id="256" r:id="R7ec72854965347a2"/>
    <p:sldId xmlns:r="http://schemas.openxmlformats.org/officeDocument/2006/relationships" id="257" r:id="R7d525b0df23d488c"/>
    <p:sldId xmlns:r="http://schemas.openxmlformats.org/officeDocument/2006/relationships" id="258" r:id="Rb5a965bdcf224700"/>
    <p:sldId xmlns:r="http://schemas.openxmlformats.org/officeDocument/2006/relationships" id="259" r:id="Rd7897b3360684442"/>
    <p:sldId xmlns:r="http://schemas.openxmlformats.org/officeDocument/2006/relationships" id="260" r:id="Rd7c63a1e99d74684"/>
    <p:sldId xmlns:r="http://schemas.openxmlformats.org/officeDocument/2006/relationships" id="261" r:id="Rd6f0a4a66afa4de7"/>
    <p:sldId xmlns:r="http://schemas.openxmlformats.org/officeDocument/2006/relationships" id="262" r:id="Rbef176193f8440f9"/>
    <p:sldId xmlns:r="http://schemas.openxmlformats.org/officeDocument/2006/relationships" id="263" r:id="Rf26e4f706d504e95"/>
    <p:sldId xmlns:r="http://schemas.openxmlformats.org/officeDocument/2006/relationships" id="264" r:id="Rc41db75e134043f3"/>
    <p:sldId xmlns:r="http://schemas.openxmlformats.org/officeDocument/2006/relationships" id="265" r:id="Rab82bf3287f1487c"/>
    <p:sldId xmlns:r="http://schemas.openxmlformats.org/officeDocument/2006/relationships" id="266" r:id="R5ab24f3eeb884db7"/>
    <p:sldId xmlns:r="http://schemas.openxmlformats.org/officeDocument/2006/relationships" id="267" r:id="R2f9eca982941405e"/>
    <p:sldId xmlns:r="http://schemas.openxmlformats.org/officeDocument/2006/relationships" id="268" r:id="Rcdbd916da29e4b97"/>
    <p:sldId xmlns:r="http://schemas.openxmlformats.org/officeDocument/2006/relationships" id="269" r:id="R8691d81fdcd84f64"/>
    <p:sldId xmlns:r="http://schemas.openxmlformats.org/officeDocument/2006/relationships" id="270" r:id="R06fb4b01b8664a2c"/>
    <p:sldId xmlns:r="http://schemas.openxmlformats.org/officeDocument/2006/relationships" id="271" r:id="R6591116066534b9b"/>
  </p:sldIdLst>
  <p:sldSz cx="12192000" cy="6858000"/>
  <p:notesSz cx="6858000" cy="9144000"/>
  <p:embeddedFontLst>
    <p:embeddedFont>
      <p:font typeface="Roboto"/>
      <p:regular xmlns:r="http://schemas.openxmlformats.org/officeDocument/2006/relationships" r:id="R4b5f5b5ef6674ce6"/>
      <p:bold xmlns:r="http://schemas.openxmlformats.org/officeDocument/2006/relationships" r:id="R7bdb44c3b8df4fe2"/>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cba6d542d3c4578" /><Relationship Type="http://schemas.openxmlformats.org/officeDocument/2006/relationships/slideMaster" Target="/ppt/slideMasters/slideMaster1.xml" Id="R8a60d8ba47ab4310" /><Relationship Type="http://schemas.openxmlformats.org/officeDocument/2006/relationships/notesMaster" Target="/ppt/notesMasters/notesMaster1.xml" Id="R6f0bec42efec416e" /><Relationship Type="http://schemas.openxmlformats.org/officeDocument/2006/relationships/presProps" Target="/ppt/presProps.xml" Id="R8ea07ff466194f0a" /><Relationship Type="http://schemas.openxmlformats.org/officeDocument/2006/relationships/viewProps" Target="/ppt/viewProps.xml" Id="Re11996b8bda540c8" /><Relationship Type="http://schemas.openxmlformats.org/officeDocument/2006/relationships/tableStyles" Target="/ppt/tableStyles.xml" Id="Rad6311e7f1324866" /><Relationship Type="http://schemas.openxmlformats.org/officeDocument/2006/relationships/font" Target="/ppt/fonts/font.dat" Id="R4b5f5b5ef6674ce6" /><Relationship Type="http://schemas.openxmlformats.org/officeDocument/2006/relationships/font" Target="/ppt/fonts/font2.dat" Id="R7bdb44c3b8df4fe2" /><Relationship Type="http://schemas.openxmlformats.org/officeDocument/2006/relationships/slide" Target="/ppt/slides/slide1.xml" Id="R7ec72854965347a2" /><Relationship Type="http://schemas.openxmlformats.org/officeDocument/2006/relationships/slide" Target="/ppt/slides/slide2.xml" Id="R7d525b0df23d488c" /><Relationship Type="http://schemas.openxmlformats.org/officeDocument/2006/relationships/slide" Target="/ppt/slides/slide3.xml" Id="Rb5a965bdcf224700" /><Relationship Type="http://schemas.openxmlformats.org/officeDocument/2006/relationships/slide" Target="/ppt/slides/slide4.xml" Id="Rd7897b3360684442" /><Relationship Type="http://schemas.openxmlformats.org/officeDocument/2006/relationships/slide" Target="/ppt/slides/slide5.xml" Id="Rd7c63a1e99d74684" /><Relationship Type="http://schemas.openxmlformats.org/officeDocument/2006/relationships/slide" Target="/ppt/slides/slide6.xml" Id="Rd6f0a4a66afa4de7" /><Relationship Type="http://schemas.openxmlformats.org/officeDocument/2006/relationships/slide" Target="/ppt/slides/slide7.xml" Id="Rbef176193f8440f9" /><Relationship Type="http://schemas.openxmlformats.org/officeDocument/2006/relationships/slide" Target="/ppt/slides/slide8.xml" Id="Rf26e4f706d504e95" /><Relationship Type="http://schemas.openxmlformats.org/officeDocument/2006/relationships/slide" Target="/ppt/slides/slide9.xml" Id="Rc41db75e134043f3" /><Relationship Type="http://schemas.openxmlformats.org/officeDocument/2006/relationships/slide" Target="/ppt/slides/slide10.xml" Id="Rab82bf3287f1487c" /><Relationship Type="http://schemas.openxmlformats.org/officeDocument/2006/relationships/slide" Target="/ppt/slides/slide11.xml" Id="R5ab24f3eeb884db7" /><Relationship Type="http://schemas.openxmlformats.org/officeDocument/2006/relationships/slide" Target="/ppt/slides/slide12.xml" Id="R2f9eca982941405e" /><Relationship Type="http://schemas.openxmlformats.org/officeDocument/2006/relationships/slide" Target="/ppt/slides/slide13.xml" Id="Rcdbd916da29e4b97" /><Relationship Type="http://schemas.openxmlformats.org/officeDocument/2006/relationships/slide" Target="/ppt/slides/slide14.xml" Id="R8691d81fdcd84f64" /><Relationship Type="http://schemas.openxmlformats.org/officeDocument/2006/relationships/slide" Target="/ppt/slides/slide15.xml" Id="R06fb4b01b8664a2c" /><Relationship Type="http://schemas.openxmlformats.org/officeDocument/2006/relationships/slide" Target="/ppt/slides/slide16.xml" Id="R6591116066534b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ff839a6bc941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3d4143975c4e2f" /><Relationship Type="http://schemas.openxmlformats.org/officeDocument/2006/relationships/notesMaster" Target="/ppt/notesMasters/notesMaster1.xml" Id="R3173c8e8bcea49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fc178c5fab462d" /><Relationship Type="http://schemas.openxmlformats.org/officeDocument/2006/relationships/notesMaster" Target="/ppt/notesMasters/notesMaster1.xml" Id="Rc955a5abed1348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ea629d95694ce4" /><Relationship Type="http://schemas.openxmlformats.org/officeDocument/2006/relationships/notesMaster" Target="/ppt/notesMasters/notesMaster1.xml" Id="R6d7d844fc20240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e30ec4b3d94cdf" /><Relationship Type="http://schemas.openxmlformats.org/officeDocument/2006/relationships/notesMaster" Target="/ppt/notesMasters/notesMaster1.xml" Id="R11f8ad02778b44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fad447979b7412a" /><Relationship Type="http://schemas.openxmlformats.org/officeDocument/2006/relationships/notesMaster" Target="/ppt/notesMasters/notesMaster1.xml" Id="Rcc8011e35d7a48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876ac12ad949f9" /><Relationship Type="http://schemas.openxmlformats.org/officeDocument/2006/relationships/notesMaster" Target="/ppt/notesMasters/notesMaster1.xml" Id="R22423e0db79b4f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48d2292f4d41a6" /><Relationship Type="http://schemas.openxmlformats.org/officeDocument/2006/relationships/notesMaster" Target="/ppt/notesMasters/notesMaster1.xml" Id="R1b8b472a6b554d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cdf415ea0548e0" /><Relationship Type="http://schemas.openxmlformats.org/officeDocument/2006/relationships/notesMaster" Target="/ppt/notesMasters/notesMaster1.xml" Id="Rdd381307135044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667d16d03b422d" /><Relationship Type="http://schemas.openxmlformats.org/officeDocument/2006/relationships/notesMaster" Target="/ppt/notesMasters/notesMaster1.xml" Id="R333afe076ff54f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0c6ebbc74d46d9" /><Relationship Type="http://schemas.openxmlformats.org/officeDocument/2006/relationships/notesMaster" Target="/ppt/notesMasters/notesMaster1.xml" Id="Rd05bc6e32f3b41d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5f7887fcf44237" /><Relationship Type="http://schemas.openxmlformats.org/officeDocument/2006/relationships/notesMaster" Target="/ppt/notesMasters/notesMaster1.xml" Id="R9484b57d7d044d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e3f35b94794195" /><Relationship Type="http://schemas.openxmlformats.org/officeDocument/2006/relationships/notesMaster" Target="/ppt/notesMasters/notesMaster1.xml" Id="Rc7fea1948ac541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8cac1ddf444ac5" /><Relationship Type="http://schemas.openxmlformats.org/officeDocument/2006/relationships/notesMaster" Target="/ppt/notesMasters/notesMaster1.xml" Id="R4d4d54129d9741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bdb214896145e3" /><Relationship Type="http://schemas.openxmlformats.org/officeDocument/2006/relationships/notesMaster" Target="/ppt/notesMasters/notesMaster1.xml" Id="Raf7a765194af44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5eaea9e2f0476b" /><Relationship Type="http://schemas.openxmlformats.org/officeDocument/2006/relationships/notesMaster" Target="/ppt/notesMasters/notesMaster1.xml" Id="R06815cddaec548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4016c43a794551" /><Relationship Type="http://schemas.openxmlformats.org/officeDocument/2006/relationships/notesMaster" Target="/ppt/notesMasters/notesMaster1.xml" Id="R10bfbeb5757548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Presenting on behalf of the study authors: Obed Appiah, Ezekiel Mensah Martey, Emmanuel Asante, Ernest Kwame Ampomah, Ofei Obuobisah Bekoe, Henry Cobbinah, Boateng Kwedwo Amponsah and Grace Tsomemanya Tulasi. Obed Appiah is affiliated with the University of Energy and Natural Resources, Ghana; the remaining authors are affiliated with the University of Mines and Technology, Ghana. The presenter identity and contact follow the supplied ICAST template. Introduce the distinction between gallery prevalence and training-set imbalance.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Content-based medical image retrieval returns reference images ranked by visual representation similarity. Potential uses include case-based education and second-opinion reference. The present experiment holds the fitted model, query set and total gallery size fixed. Only the selected target share decreases, with other pathology distractor quotas fixed and background filling the remaining positions. This is evaluation-time prevalence variation, not a change in training-data balance.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narrative review found no controlled multi-level reduction in target prevalence with query sets and fitted representations held fixed among the reviewed studies. This does not imply that scarcity has been ignored. Denner et al. [1] provide a close conceptual precedent but vary balanced index support, so their reported retrieval metrics are not numerically comparable. The study does not establish a universal ordering of supervised and self-supervised learning.</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from the supplied manuscript, with only the redundant figure title cropped. NIH ChestX-ray14 supplied multi-label adaptation data, cardiomegaly and emphysema queries, and retrieval-pool images after patient exclusions. SIIM supplied pneumothorax queries. External sources supplied normal, pneumonia and COVID-19 adaptation data. Target-positive NIH patients were excluded from adaptation and background partitions. NIH adaptation splits contained 48,280 training, 12,266 validation and 10,620 background images. The common-class dataset contained 4,545 images after source-class balancing, split 80:20. External metadata did not establish exhaustive finding labels or full patient identity. The tuberculosis audit excluded TB as an evaluated target, while retaining it as a fixed 2% distractor.</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are cardiomegaly, emphysema and pneumothorax. Each gallery has the selected target count, 400 images from each of three non-target pathologies, and background images filling remaining positions. TB remains one distractor. Cardiomegaly and emphysema use at most one NIH query per patient and exclude query patients from NIH retrieval pools. Pneumothorax uses SIIM queries and an NIH relevant pool. Five gallery seeds resample image identities under source quotas. All fitted models use the same manifests. The five samples estimate gallery-sampling sensitivity, not training variability.</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conditions provide 2,048-dimensional global average-pooled embeddings after removing the classification layer. CNN-PT and SwAV-PT use ImageNet-pretrained representations without task adaptation. CNN-Common uses the balanced external common-class data. CNN-NIH, SwAV-CLS and SwAV-SupCon share NIH partitions. The SwAV checkpoint is the official 800-epoch ImageNet model. Held out and zero-shot refer to available fine-tuning labels, not verified clinical absence of target pathology in every image.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grayscale replicated over three channels and 224 × 224 resizing, ImageNet normalization, horizontal flips, rotation, crops and brightness/contrast jitter. Evaluation uses resizing and normalization only. AdamW learning rate and weight decay are 1e-4, cosine annealing over at most 50 epochs, and early stopping after at least ten epochs with patience seven. Classification uses 64 images per batch. SupCon uses 64 source images with two views, 128 views per step, a 2,048-2,048-128 projection head and temperature 0.07. Distinct-image positive weights are Jaccard overlaps of NIH label sets; the paired view of the same image has weight one. Objective-specific validation losses select checkpoints. Exact ranking uses normalized dot products, equivalent to cosine similarity. Query images are excluded. Training ran on two Tesla T4 GPUs with PyTorch 2.10.0+cu128.</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P@10 is the primary endpoint; nDCG@10 checks ranking position. Relevance is binary and label-based for the designated query pathology. Each gallery has at least 100 relevant images, so the ideal top ten are all relevant. Prevalence effects use Friedman tests and Kendall W, followed by the primary paired contrast. Holm families contain 18 prevalence contrasts per metric. Six planned model comparisons over three pathologies and four prevalence levels give 72 globally corrected comparisons. Unadjusted 95% percentile intervals use 10,000 paired query resamples and are not simultaneous intervals. Statistical significance follows adjusted p-values.</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P@10 endpoint means are copied from manuscript Table 2. The highlighted SupCon row has the highest mean at both endpoints for each target and also ranks first at 1% and 2%. Relative reductions range from 83.4% to 91.9% across the 18 model-pathology combinations. Absolute reductions range from 0.0959 to 0.3480. All 18 primary endpoint contrasts are significant for both metrics after Holm correction, adjusted p ≤ 2.30 × 10^-26. nDCG absolute losses range from 0.0977 to 0.3694. Means summarize five gallery samples and one fitted checkpoint per learned condition.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SupCon has a higher mean than SwAV-CLS in every one of 12 pathology-prevalence conditions and exceeds it significantly in ten globally corrected planned comparisons. At 0.5%: cardiomegaly 0.0163 versus 0.0133, adjusted p &gt; 0.99; emphysema 0.0335 versus 0.0175, adjusted p = 5.34e-7; pneumothorax 0.0660 versus 0.0446, adjusted p = 3.17e-6. The two cardiomegaly contrasts at 0.5% and 1% do not survive correction. This supports the contrastive adaptation finding in the evaluated design, not a universal superiority claim. Objective-specific checkpoint selection and different effective contrastive batch size limit isolation of the objective alone.</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leading absolute means at 0.5% are 0.0163, 0.0335 and 0.0660. Dividing by 0.005 yields 3.26, 6.70 and 13.20 times random expectation. All evaluated model-pathology conditions remain above random at this endpoint. Enrichment increases between 5% and 0.5% in 17 of 18 combinations, but this is descriptive relative discrimination, not proof of adequate retrieval. The study does not measure diagnostic decisions or clinician workflow. Pneumothorax is a cross-source configuration and cannot be compared as a source-controlled estimate of pathology difficulty.</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illustrates the scale effect described in manuscript Section IV-C. SupCon P@10 decreases from 0.4140 to 0.0660, a 0.3480 loss. CLS decreases from 0.3287 to 0.0446, a 0.2841 loss. SupCon therefore loses 0.0639 more but remains higher at both endpoints. A larger absolute loss is not by itself evidence of worse rare-case retrieval. Assess endpoint quality and relative enrichment alongside loss. These are paired model means under the evaluated cross-source pneumothorax configuration.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conditions use ResNet-50, limiting architecture generalization. Classification and SupCon checkpoints use objective-specific selection criteria. TB was excluded after a source-confounding audit, narrowing pathology coverage. No source-separability diagnostic was performed for pneumothorax. NIH labels are report-derived and noisy. External common-class labels are not exhaustive. SIIM metadata do not establish patient uniqueness. Horizontal flipping may affect laterality-dependent findings. The lowest prevalence still provides 100 relevant images, and much larger approximate indexes or lower absolute counts remain untested.</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recommends reporting performance at at least two clinically relevant gallery-prevalence levels. The study shows substantial absolute degradation and pathology-dependent model separation. It supports the evaluated SupCon-versus-classification adaptation result but not an architecture-independent or universal learning-paradigm ordering. Future work should replicate training, broaden architectures, test lower relevant-case counts and improve clinical and source controls.</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entries use abbreviated display titles for readability. Full entries from the manuscript:</a:t>
            </a:r>
          </a:p>
          <a:p xmlns:a="http://schemas.openxmlformats.org/drawingml/2006/main">
            <a:r>
              <a:t/>
            </a:r>
          </a:p>
          <a:p xmlns:a="http://schemas.openxmlformats.org/drawingml/2006/main">
            <a:r>
              <a:t>[1] S. Denner et al., “Leveraging foundation models for content-based image retrieval in radiology,” Computers in Biology and Medicine, vol. 196, art. 110640, 2025. doi: 10.1016/j.compbiomed.2025.110640.</a:t>
            </a:r>
          </a:p>
          <a:p xmlns:a="http://schemas.openxmlformats.org/drawingml/2006/main">
            <a:r>
              <a:t/>
            </a:r>
          </a:p>
          <a:p xmlns:a="http://schemas.openxmlformats.org/drawingml/2006/main">
            <a:r>
              <a:t>[9] X. Wang, Y. Peng, L. Lu, Z. Lu, M. Bagheri, and R. M. Summers, “ChestX-ray8: Hospital-scale chest X-ray database and benchmarks on weakly-supervised classification and localization of common thorax diseases,” in Proceedings of the IEEE Conference on Computer Vision and Pattern Recognition, 2017, pp. 3462–3471. doi: 10.1109/CVPR.2017.369.</a:t>
            </a:r>
          </a:p>
          <a:p xmlns:a="http://schemas.openxmlformats.org/drawingml/2006/main">
            <a:r>
              <a:t/>
            </a:r>
          </a:p>
          <a:p xmlns:a="http://schemas.openxmlformats.org/drawingml/2006/main">
            <a:r>
              <a:t>[10] K. He, X. Zhang, S. Ren, and J. Sun, “Deep residual learning for image recognition,” in Proceedings of the IEEE Conference on Computer Vision and Pattern Recognition, 2016, pp. 770–778. doi: 10.1109/CVPR.2016.90.</a:t>
            </a:r>
          </a:p>
          <a:p xmlns:a="http://schemas.openxmlformats.org/drawingml/2006/main">
            <a:r>
              <a:t/>
            </a:r>
          </a:p>
          <a:p xmlns:a="http://schemas.openxmlformats.org/drawingml/2006/main">
            <a:r>
              <a:t>[11] M. Caron et al., “Unsupervised learning of visual features by contrasting cluster assignments,” in Advances in Neural Information Processing Systems, vol. 33, 2020, pp. 9912–9924.</a:t>
            </a:r>
          </a:p>
          <a:p xmlns:a="http://schemas.openxmlformats.org/drawingml/2006/main">
            <a:r>
              <a:t/>
            </a:r>
          </a:p>
          <a:p xmlns:a="http://schemas.openxmlformats.org/drawingml/2006/main">
            <a:r>
              <a:t>[12] P. Khosla et al., “Supervised contrastive learning,” in Advances in Neural Information Processing Systems, vol. 33, 2020, pp. 18661–18673.</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about prevalence-controlled evaluation, the choice of adaptation objective and cross-source design.</a:t>
            </a:r>
          </a:p>
          <a:p xmlns:a="http://schemas.openxmlformats.org/drawingml/2006/main">
            <a:r>
              <a:t/>
            </a:r>
          </a:p>
          <a:p xmlns:a="http://schemas.openxmlformats.org/drawingml/2006/main">
            <a:r>
              <a:t>Source: Chest_XRay_Retrieval_IEEE_Format.docx, supplied manuscript. Reference numbers follow the paper.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5133f4899d4f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86f70a4a0954097" /><Relationship Type="http://schemas.openxmlformats.org/officeDocument/2006/relationships/image" Target="/ppt/media/image.png" Id="R7e182fa224ed457c" /><Relationship Type="http://schemas.openxmlformats.org/officeDocument/2006/relationships/image" Target="/ppt/media/image2.png" Id="R7ef1b5fe28634410" /><Relationship Type="http://schemas.openxmlformats.org/officeDocument/2006/relationships/image" Target="/ppt/media/image3.png" Id="R2f665e91cc3249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3bca70ec614fb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925879576641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ef0fe4468344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c45eeee5c749d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10003fb274f4a16" /><Relationship Type="http://schemas.openxmlformats.org/officeDocument/2006/relationships/image" Target="/ppt/media/image3.png" Id="Rb0ff06e7733640e1" /><Relationship Type="http://schemas.openxmlformats.org/officeDocument/2006/relationships/image" Target="/ppt/media/image.png" Id="R525af94210fc4e72" /><Relationship Type="http://schemas.openxmlformats.org/officeDocument/2006/relationships/image" Target="/ppt/media/image2.png" Id="Rf89b520794fa440e"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ICAST Title">
    <p:bg>
      <p:bgPr>
        <a:solidFill xmlns:a="http://schemas.openxmlformats.org/drawingml/2006/main">
          <a:schemeClr val="accent1"/>
        </a:solidFill>
      </p:bgPr>
    </p:bg>
    <p:spTree>
      <p:nvGrpSpPr>
        <p:cNvPr id="1" name=""/>
        <p:cNvGrpSpPr/>
        <p:nvPr/>
      </p:nvGrpSpPr>
      <p:grpSpPr>
        <a:xfrm xmlns:a="http://schemas.openxmlformats.org/drawingml/2006/main"/>
      </p:grpSpPr>
      <p:sp>
        <p:nvSpPr>
          <p:cNvPr id="101" name="Band left curve">
            <a:extLst xmlns:a="http://schemas.openxmlformats.org/drawingml/2006/main">
              <a:ext uri="{FF2B5EF4-FFF2-40B4-BE49-F238E27FC236}">
                <a16:creationId xmlns:a16="http://schemas.microsoft.com/office/drawing/2014/main" id="{77616EC4-C8D3-46E1-BFD4-22DE4B3FD913}"/>
              </a:ext>
            </a:extLst>
          </p:cNvPr>
          <p:cNvSpPr>
            <a:spLocks xmlns:a="http://schemas.openxmlformats.org/drawingml/2006/main" noGrp="1"/>
          </p:cNvSpPr>
          <p:nvPr/>
        </p:nvSpPr>
        <p:spPr>
          <a:xfrm xmlns:a="http://schemas.openxmlformats.org/drawingml/2006/main">
            <a:off x="0" y="-821335"/>
            <a:ext cx="257907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2" name="Band right curve">
            <a:extLst xmlns:a="http://schemas.openxmlformats.org/drawingml/2006/main">
              <a:ext uri="{FF2B5EF4-FFF2-40B4-BE49-F238E27FC236}">
                <a16:creationId xmlns:a16="http://schemas.microsoft.com/office/drawing/2014/main" id="{11529A57-6C85-41B2-8983-50FDF6C5D166}"/>
              </a:ext>
            </a:extLst>
          </p:cNvPr>
          <p:cNvSpPr>
            <a:spLocks xmlns:a="http://schemas.openxmlformats.org/drawingml/2006/main" noGrp="1"/>
          </p:cNvSpPr>
          <p:nvPr/>
        </p:nvSpPr>
        <p:spPr>
          <a:xfrm xmlns:a="http://schemas.openxmlformats.org/drawingml/2006/main">
            <a:off x="9374095" y="-823095"/>
            <a:ext cx="2849167" cy="1805903"/>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3" name="Band">
            <a:extLst xmlns:a="http://schemas.openxmlformats.org/drawingml/2006/main">
              <a:ext uri="{FF2B5EF4-FFF2-40B4-BE49-F238E27FC236}">
                <a16:creationId xmlns:a16="http://schemas.microsoft.com/office/drawing/2014/main" id="{75B5E13C-6A33-4117-B21C-CBFA28709FB2}"/>
              </a:ext>
            </a:extLst>
          </p:cNvPr>
          <p:cNvSpPr>
            <a:spLocks xmlns:a="http://schemas.openxmlformats.org/drawingml/2006/main" noGrp="1"/>
          </p:cNvSpPr>
          <p:nvPr/>
        </p:nvSpPr>
        <p:spPr>
          <a:xfrm xmlns:a="http://schemas.openxmlformats.org/drawingml/2006/main">
            <a:off x="1227667" y="0"/>
            <a:ext cx="9682611" cy="984568"/>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04" name="IEEE Ghana Section logo">
            <a:extLst xmlns:a="http://schemas.openxmlformats.org/drawingml/2006/main">
              <a:ext uri="{FF2B5EF4-FFF2-40B4-BE49-F238E27FC236}">
                <a16:creationId xmlns:a16="http://schemas.microsoft.com/office/drawing/2014/main" id="{0C2A08C3-5F6A-418C-BD67-98F4A6D95366}"/>
              </a:ext>
            </a:extLst>
          </p:cNvPr>
          <p:cNvPicPr>
            <a:picLocks xmlns:a="http://schemas.openxmlformats.org/drawingml/2006/main" noChangeAspect="1"/>
          </p:cNvPicPr>
          <p:nvPr/>
        </p:nvPicPr>
        <p:blipFill>
          <a:blip xmlns:r="http://schemas.openxmlformats.org/officeDocument/2006/relationships" xmlns:a="http://schemas.openxmlformats.org/drawingml/2006/main" r:embed="R7e182fa224ed457c"/>
          <a:stretch xmlns:a="http://schemas.openxmlformats.org/drawingml/2006/main">
            <a:fillRect l="0" t="0" r="0" b="0"/>
          </a:stretch>
        </p:blipFill>
        <p:spPr>
          <a:xfrm xmlns:a="http://schemas.openxmlformats.org/drawingml/2006/main">
            <a:off x="713232" y="100584"/>
            <a:ext cx="1401438" cy="731520"/>
          </a:xfrm>
          <a:prstGeom xmlns:a="http://schemas.openxmlformats.org/drawingml/2006/main" prst="rect">
            <a:avLst/>
          </a:prstGeom>
        </p:spPr>
      </p:pic>
      <p:pic>
        <p:nvPicPr>
          <p:cNvPr id="105" name="IEEE logo">
            <a:extLst xmlns:a="http://schemas.openxmlformats.org/drawingml/2006/main">
              <a:ext uri="{FF2B5EF4-FFF2-40B4-BE49-F238E27FC236}">
                <a16:creationId xmlns:a16="http://schemas.microsoft.com/office/drawing/2014/main" id="{D31BA940-CA1B-459A-9E17-FE611052E881}"/>
              </a:ext>
            </a:extLst>
          </p:cNvPr>
          <p:cNvPicPr>
            <a:picLocks xmlns:a="http://schemas.openxmlformats.org/drawingml/2006/main" noChangeAspect="1"/>
          </p:cNvPicPr>
          <p:nvPr/>
        </p:nvPicPr>
        <p:blipFill>
          <a:blip xmlns:r="http://schemas.openxmlformats.org/officeDocument/2006/relationships" xmlns:a="http://schemas.openxmlformats.org/drawingml/2006/main" r:embed="R7ef1b5fe28634410"/>
          <a:stretch xmlns:a="http://schemas.openxmlformats.org/drawingml/2006/main">
            <a:fillRect l="0" t="0" r="0" b="0"/>
          </a:stretch>
        </p:blipFill>
        <p:spPr>
          <a:xfrm xmlns:a="http://schemas.openxmlformats.org/drawingml/2006/main">
            <a:off x="2224398" y="256032"/>
            <a:ext cx="1349763" cy="420624"/>
          </a:xfrm>
          <a:prstGeom xmlns:a="http://schemas.openxmlformats.org/drawingml/2006/main" prst="rect">
            <a:avLst/>
          </a:prstGeom>
        </p:spPr>
      </p:pic>
      <p:sp>
        <p:nvSpPr>
          <p:cNvPr id="106" name="Conference name">
            <a:extLst xmlns:a="http://schemas.openxmlformats.org/drawingml/2006/main">
              <a:ext uri="{FF2B5EF4-FFF2-40B4-BE49-F238E27FC236}">
                <a16:creationId xmlns:a16="http://schemas.microsoft.com/office/drawing/2014/main" id="{1F4944B4-878B-4B17-9E45-B7EBED8F36E5}"/>
              </a:ext>
            </a:extLst>
          </p:cNvPr>
          <p:cNvSpPr>
            <a:spLocks xmlns:a="http://schemas.openxmlformats.org/drawingml/2006/main" noGrp="1"/>
          </p:cNvSpPr>
          <p:nvPr/>
        </p:nvSpPr>
        <p:spPr>
          <a:xfrm xmlns:a="http://schemas.openxmlformats.org/drawingml/2006/main">
            <a:off x="3794760" y="54864"/>
            <a:ext cx="5074920" cy="8961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chemeClr val="accent1"/>
                </a:solidFill>
                <a:latin typeface="Times New Roman"/>
                <a:ea typeface="Times New Roman"/>
                <a:cs typeface="Times New Roman"/>
              </a:rPr>
              <a:t>10TH IEEE INTERNATIONAL CONFERENCE ON ADAPTIVE SCIENCE AND TECHNOLOGY (ICAST 2026)</a:t>
            </a:r>
          </a:p>
        </p:txBody>
      </p:sp>
      <p:pic>
        <p:nvPicPr>
          <p:cNvPr id="107" name="ICAST 2026 logo">
            <a:extLst xmlns:a="http://schemas.openxmlformats.org/drawingml/2006/main">
              <a:ext uri="{FF2B5EF4-FFF2-40B4-BE49-F238E27FC236}">
                <a16:creationId xmlns:a16="http://schemas.microsoft.com/office/drawing/2014/main" id="{6BD2852B-7012-482D-998C-10D9F1B8786B}"/>
              </a:ext>
            </a:extLst>
          </p:cNvPr>
          <p:cNvPicPr>
            <a:picLocks xmlns:a="http://schemas.openxmlformats.org/drawingml/2006/main" noChangeAspect="1"/>
          </p:cNvPicPr>
          <p:nvPr/>
        </p:nvPicPr>
        <p:blipFill>
          <a:blip xmlns:r="http://schemas.openxmlformats.org/officeDocument/2006/relationships" xmlns:a="http://schemas.openxmlformats.org/drawingml/2006/main" r:embed="R2f665e91cc3249ed"/>
          <a:stretch xmlns:a="http://schemas.openxmlformats.org/drawingml/2006/main">
            <a:fillRect l="0" t="0" r="0" b="0"/>
          </a:stretch>
        </p:blipFill>
        <p:spPr>
          <a:xfrm xmlns:a="http://schemas.openxmlformats.org/drawingml/2006/main" rot="21180000">
            <a:off x="9395599" y="146304"/>
            <a:ext cx="2339201" cy="640080"/>
          </a:xfrm>
          <a:prstGeom xmlns:a="http://schemas.openxmlformats.org/drawingml/2006/main" prst="roundRect">
            <a:avLst/>
          </a:prstGeom>
          <a:ln xmlns:a="http://schemas.openxmlformats.org/drawingml/2006/main">
            <a:noFill/>
          </a:ln>
          <a:effectLst xmlns:a="http://schemas.openxmlformats.org/drawingml/2006/main">
            <a:outerShdw blurRad="152400" dist="12000" dir="900000" sy="98000" kx="110000" ky="200000" algn="tl" rotWithShape="0">
              <a:srgbClr val="000000">
                <a:alpha val="30000"/>
              </a:srgbClr>
            </a:outerShdw>
          </a:effectLst>
        </p:spPr>
      </p:pic>
      <p:sp>
        <p:nvSpPr>
          <p:cNvPr id="108" name="Page curl base">
            <a:extLst xmlns:a="http://schemas.openxmlformats.org/drawingml/2006/main">
              <a:ext uri="{FF2B5EF4-FFF2-40B4-BE49-F238E27FC236}">
                <a16:creationId xmlns:a16="http://schemas.microsoft.com/office/drawing/2014/main" id="{57068DE5-9913-497B-A10C-20635ADA9D86}"/>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tTriangle">
            <a:avLst/>
          </a:prstGeom>
          <a:solidFill xmlns:a="http://schemas.openxmlformats.org/drawingml/2006/main">
            <a:schemeClr val="l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09" name="Page curl fold">
            <a:extLst xmlns:a="http://schemas.openxmlformats.org/drawingml/2006/main">
              <a:ext uri="{FF2B5EF4-FFF2-40B4-BE49-F238E27FC236}">
                <a16:creationId xmlns:a16="http://schemas.microsoft.com/office/drawing/2014/main" id="{B8DF3ECB-ACAF-4891-A2E7-3D6D0ADA35D2}"/>
              </a:ext>
            </a:extLst>
          </p:cNvPr>
          <p:cNvSpPr>
            <a:spLocks xmlns:a="http://schemas.openxmlformats.org/drawingml/2006/main" noGrp="1"/>
          </p:cNvSpPr>
          <p:nvPr/>
        </p:nvSpPr>
        <p:spPr>
          <a:xfrm xmlns:a="http://schemas.openxmlformats.org/drawingml/2006/main" flipH="1">
            <a:off x="10995200" y="5661200"/>
            <a:ext cx="1196800" cy="1196800"/>
          </a:xfrm>
          <a:prstGeom xmlns:a="http://schemas.openxmlformats.org/drawingml/2006/main" prst="round1Rect">
            <a:avLst>
              <a:gd name="adj" fmla="val 16667"/>
            </a:avLst>
          </a:prstGeom>
          <a:solidFill xmlns:a="http://schemas.openxmlformats.org/drawingml/2006/main">
            <a:schemeClr val="lt1">
              <a:alpha val="68080"/>
            </a:schemeClr>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0" name="Title">
            <a:extLst xmlns:a="http://schemas.openxmlformats.org/drawingml/2006/main">
              <a:ext uri="{FF2B5EF4-FFF2-40B4-BE49-F238E27FC236}">
                <a16:creationId xmlns:a16="http://schemas.microsoft.com/office/drawing/2014/main" id="{45D8C5BC-F39A-4DA6-AD39-FB5BD507521B}"/>
              </a:ext>
            </a:extLst>
          </p:cNvPr>
          <p:cNvSpPr>
            <a:spLocks xmlns:a="http://schemas.openxmlformats.org/drawingml/2006/main" noGrp="1"/>
          </p:cNvSpPr>
          <p:nvPr>
            <p:ph type="title" idx="109" hasCustomPrompt="1"/>
          </p:nvPr>
        </p:nvSpPr>
        <p:spPr>
          <a:xfrm xmlns:a="http://schemas.openxmlformats.org/drawingml/2006/main">
            <a:off x="822960" y="1600200"/>
            <a:ext cx="1054608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Paper title</a:t>
            </a:r>
          </a:p>
        </p:txBody>
      </p:sp>
      <p:sp>
        <p:nvSpPr>
          <p:cNvPr id="111" name="Authors">
            <a:extLst xmlns:a="http://schemas.openxmlformats.org/drawingml/2006/main">
              <a:ext uri="{FF2B5EF4-FFF2-40B4-BE49-F238E27FC236}">
                <a16:creationId xmlns:a16="http://schemas.microsoft.com/office/drawing/2014/main" id="{5F6B4F7B-D3FA-4202-8FEC-BCF9420582F5}"/>
              </a:ext>
            </a:extLst>
          </p:cNvPr>
          <p:cNvSpPr>
            <a:spLocks xmlns:a="http://schemas.openxmlformats.org/drawingml/2006/main" noGrp="1"/>
          </p:cNvSpPr>
          <p:nvPr>
            <p:ph type="body" idx="110" hasCustomPrompt="1"/>
          </p:nvPr>
        </p:nvSpPr>
        <p:spPr>
          <a:xfrm xmlns:a="http://schemas.openxmlformats.org/drawingml/2006/main">
            <a:off x="822960" y="342900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2000" b="0">
                <a:solidFill>
                  <a:schemeClr val="bg1"/>
                </a:solidFill>
              </a:defRPr>
            </a:lvl1pPr>
          </a:lstStyle>
          <a:p xmlns:a="http://schemas.openxmlformats.org/drawingml/2006/main">
            <a:pPr marL="0" indent="0" algn="ctr">
              <a:buNone/>
            </a:pPr>
            <a:r>
              <a:rPr sz="2000" b="0">
                <a:solidFill>
                  <a:schemeClr val="bg1"/>
                </a:solidFill>
              </a:rPr>
              <a:t>Author names</a:t>
            </a:r>
          </a:p>
        </p:txBody>
      </p:sp>
      <p:sp>
        <p:nvSpPr>
          <p:cNvPr id="112" name="Affiliation">
            <a:extLst xmlns:a="http://schemas.openxmlformats.org/drawingml/2006/main">
              <a:ext uri="{FF2B5EF4-FFF2-40B4-BE49-F238E27FC236}">
                <a16:creationId xmlns:a16="http://schemas.microsoft.com/office/drawing/2014/main" id="{C1598759-1510-4AF7-B3A7-F6CC0A4C1D9C}"/>
              </a:ext>
            </a:extLst>
          </p:cNvPr>
          <p:cNvSpPr>
            <a:spLocks xmlns:a="http://schemas.openxmlformats.org/drawingml/2006/main" noGrp="1"/>
          </p:cNvSpPr>
          <p:nvPr>
            <p:ph type="body" idx="111" hasCustomPrompt="1"/>
          </p:nvPr>
        </p:nvSpPr>
        <p:spPr>
          <a:xfrm xmlns:a="http://schemas.openxmlformats.org/drawingml/2006/main">
            <a:off x="822960" y="3931920"/>
            <a:ext cx="1054608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800" b="0">
                <a:solidFill>
                  <a:schemeClr val="bg1"/>
                </a:solidFill>
              </a:defRPr>
            </a:lvl1pPr>
          </a:lstStyle>
          <a:p xmlns:a="http://schemas.openxmlformats.org/drawingml/2006/main">
            <a:pPr marL="0" indent="0" algn="ctr">
              <a:buNone/>
            </a:pPr>
            <a:r>
              <a:rPr sz="1800" b="0">
                <a:solidFill>
                  <a:schemeClr val="bg1"/>
                </a:solidFill>
              </a:rPr>
              <a:t>Affiliation</a:t>
            </a:r>
          </a:p>
        </p:txBody>
      </p:sp>
      <p:sp>
        <p:nvSpPr>
          <p:cNvPr id="113" name="Paper details">
            <a:extLst xmlns:a="http://schemas.openxmlformats.org/drawingml/2006/main">
              <a:ext uri="{FF2B5EF4-FFF2-40B4-BE49-F238E27FC236}">
                <a16:creationId xmlns:a16="http://schemas.microsoft.com/office/drawing/2014/main" id="{F355DBDA-F17E-406E-99FE-06D67BABF85F}"/>
              </a:ext>
            </a:extLst>
          </p:cNvPr>
          <p:cNvSpPr>
            <a:spLocks xmlns:a="http://schemas.openxmlformats.org/drawingml/2006/main" noGrp="1"/>
          </p:cNvSpPr>
          <p:nvPr>
            <p:ph type="body" idx="112" hasCustomPrompt="1"/>
          </p:nvPr>
        </p:nvSpPr>
        <p:spPr>
          <a:xfrm xmlns:a="http://schemas.openxmlformats.org/drawingml/2006/main">
            <a:off x="822960" y="4434840"/>
            <a:ext cx="105460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1600" b="0">
                <a:solidFill>
                  <a:schemeClr val="bg1"/>
                </a:solidFill>
              </a:defRPr>
            </a:lvl1pPr>
          </a:lstStyle>
          <a:p xmlns:a="http://schemas.openxmlformats.org/drawingml/2006/main">
            <a:pPr marL="0" indent="0" algn="ctr">
              <a:buNone/>
            </a:pPr>
            <a:r>
              <a:rPr sz="1600" b="0">
                <a:solidFill>
                  <a:schemeClr val="bg1"/>
                </a:solidFill>
              </a:rPr>
              <a:t>Paper ID · Track · Session</a:t>
            </a:r>
          </a:p>
        </p:txBody>
      </p:sp>
      <p:sp>
        <p:nvSpPr>
          <p:cNvPr id="114" name="Conference date and venue">
            <a:extLst xmlns:a="http://schemas.openxmlformats.org/drawingml/2006/main">
              <a:ext uri="{FF2B5EF4-FFF2-40B4-BE49-F238E27FC236}">
                <a16:creationId xmlns:a16="http://schemas.microsoft.com/office/drawing/2014/main" id="{8C29C970-0B26-4227-B15A-273DE76BF94B}"/>
              </a:ext>
            </a:extLst>
          </p:cNvPr>
          <p:cNvSpPr>
            <a:spLocks xmlns:a="http://schemas.openxmlformats.org/drawingml/2006/main" noGrp="1"/>
          </p:cNvSpPr>
          <p:nvPr/>
        </p:nvSpPr>
        <p:spPr>
          <a:xfrm xmlns:a="http://schemas.openxmlformats.org/drawingml/2006/main">
            <a:off x="1828800" y="5074920"/>
            <a:ext cx="853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800" b="0">
                <a:solidFill>
                  <a:schemeClr val="bg1"/>
                </a:solidFill>
              </a:rPr>
              <a:t>22–24 October 2026  ·  Accra, Ghana</a:t>
            </a:r>
          </a:p>
        </p:txBody>
      </p:sp>
    </p:spTree>
  </p:cSld>
</p:sldLayout>
</file>

<file path=ppt/slideLayouts/slideLayout3.xml><?xml version="1.0" encoding="utf-8"?>
<p:sldLayout xmlns:p="http://schemas.openxmlformats.org/presentationml/2006/main" preserve="1">
  <p:cSld name="ICAST Section">
    <p:bg>
      <p:bgPr>
        <a:solidFill xmlns:a="http://schemas.openxmlformats.org/drawingml/2006/main">
          <a:srgbClr val="FAFAFA"/>
        </a:solidFill>
      </p:bgPr>
    </p:bg>
    <p:spTree>
      <p:nvGrpSpPr>
        <p:cNvPr id="1" name=""/>
        <p:cNvGrpSpPr/>
        <p:nvPr/>
      </p:nvGrpSpPr>
      <p:grpSpPr>
        <a:xfrm xmlns:a="http://schemas.openxmlformats.org/drawingml/2006/main"/>
      </p:grpSpPr>
      <p:sp>
        <p:nvSpPr>
          <p:cNvPr id="115" name="Side panel">
            <a:extLst xmlns:a="http://schemas.openxmlformats.org/drawingml/2006/main">
              <a:ext uri="{FF2B5EF4-FFF2-40B4-BE49-F238E27FC236}">
                <a16:creationId xmlns:a16="http://schemas.microsoft.com/office/drawing/2014/main" id="{6073633D-54C0-44B0-9947-46989C8BA165}"/>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16" name="Section number">
            <a:extLst xmlns:a="http://schemas.openxmlformats.org/drawingml/2006/main">
              <a:ext uri="{FF2B5EF4-FFF2-40B4-BE49-F238E27FC236}">
                <a16:creationId xmlns:a16="http://schemas.microsoft.com/office/drawing/2014/main" id="{4B9EF24F-B0B1-4154-9A7C-70E50CE55B92}"/>
              </a:ext>
            </a:extLst>
          </p:cNvPr>
          <p:cNvSpPr>
            <a:spLocks xmlns:a="http://schemas.openxmlformats.org/drawingml/2006/main" noGrp="1"/>
          </p:cNvSpPr>
          <p:nvPr>
            <p:ph type="body" idx="107" hasCustomPrompt="1"/>
          </p:nvPr>
        </p:nvSpPr>
        <p:spPr>
          <a:xfrm xmlns:a="http://schemas.openxmlformats.org/drawingml/2006/main">
            <a:off x="1224280" y="2468880"/>
            <a:ext cx="1920240" cy="192024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6000" b="1">
                <a:solidFill>
                  <a:schemeClr val="accent1"/>
                </a:solidFill>
              </a:defRPr>
            </a:lvl1pPr>
          </a:lstStyle>
          <a:p xmlns:a="http://schemas.openxmlformats.org/drawingml/2006/main">
            <a:pPr marL="0" indent="0" algn="ctr">
              <a:buNone/>
            </a:pPr>
            <a:r>
              <a:rPr sz="6000" b="1">
                <a:solidFill>
                  <a:schemeClr val="accent1"/>
                </a:solidFill>
              </a:rPr>
              <a:t>01</a:t>
            </a:r>
          </a:p>
        </p:txBody>
      </p:sp>
      <p:sp>
        <p:nvSpPr>
          <p:cNvPr id="117" name="Section title">
            <a:extLst xmlns:a="http://schemas.openxmlformats.org/drawingml/2006/main">
              <a:ext uri="{FF2B5EF4-FFF2-40B4-BE49-F238E27FC236}">
                <a16:creationId xmlns:a16="http://schemas.microsoft.com/office/drawing/2014/main" id="{C1835400-5F8D-4D68-B7AD-9644F82F3968}"/>
              </a:ext>
            </a:extLst>
          </p:cNvPr>
          <p:cNvSpPr>
            <a:spLocks xmlns:a="http://schemas.openxmlformats.org/drawingml/2006/main" noGrp="1"/>
          </p:cNvSpPr>
          <p:nvPr>
            <p:ph type="title" idx="108" hasCustomPrompt="1"/>
          </p:nvPr>
        </p:nvSpPr>
        <p:spPr>
          <a:xfrm xmlns:a="http://schemas.openxmlformats.org/drawingml/2006/main">
            <a:off x="5008880" y="2148840"/>
            <a:ext cx="6543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4800" b="0">
                <a:solidFill>
                  <a:schemeClr val="tx1"/>
                </a:solidFill>
              </a:defRPr>
            </a:lvl1pPr>
          </a:lstStyle>
          <a:p xmlns:a="http://schemas.openxmlformats.org/drawingml/2006/main">
            <a:pPr marL="0" indent="0" algn="l">
              <a:buNone/>
            </a:pPr>
            <a:r>
              <a:rPr sz="4800" b="0">
                <a:solidFill>
                  <a:schemeClr val="tx1"/>
                </a:solidFill>
              </a:rPr>
              <a:t>Section title</a:t>
            </a:r>
          </a:p>
        </p:txBody>
      </p:sp>
      <p:sp>
        <p:nvSpPr>
          <p:cNvPr id="118" name="Section summary">
            <a:extLst xmlns:a="http://schemas.openxmlformats.org/drawingml/2006/main">
              <a:ext uri="{FF2B5EF4-FFF2-40B4-BE49-F238E27FC236}">
                <a16:creationId xmlns:a16="http://schemas.microsoft.com/office/drawing/2014/main" id="{BE3857E2-A6D1-4B07-92E6-E52848D909FD}"/>
              </a:ext>
            </a:extLst>
          </p:cNvPr>
          <p:cNvSpPr>
            <a:spLocks xmlns:a="http://schemas.openxmlformats.org/drawingml/2006/main" noGrp="1"/>
          </p:cNvSpPr>
          <p:nvPr>
            <p:ph type="body" idx="109" hasCustomPrompt="1"/>
          </p:nvPr>
        </p:nvSpPr>
        <p:spPr>
          <a:xfrm xmlns:a="http://schemas.openxmlformats.org/drawingml/2006/main">
            <a:off x="5008880" y="3566160"/>
            <a:ext cx="654304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buNone/>
              <a:defRPr sz="2000" b="0">
                <a:solidFill>
                  <a:schemeClr val="accent5"/>
                </a:solidFill>
              </a:defRPr>
            </a:lvl1pPr>
          </a:lstStyle>
          <a:p xmlns:a="http://schemas.openxmlformats.org/drawingml/2006/main">
            <a:pPr marL="0" indent="0" algn="l">
              <a:buNone/>
            </a:pPr>
            <a:r>
              <a:rPr sz="2000" b="0">
                <a:solidFill>
                  <a:schemeClr val="accent5"/>
                </a:solidFill>
              </a:rPr>
              <a:t>One line on what this section covers</a:t>
            </a:r>
          </a:p>
        </p:txBody>
      </p:sp>
      <p:sp>
        <p:nvSpPr>
          <p:cNvPr id="119" name="Slide Number">
            <a:extLst xmlns:a="http://schemas.openxmlformats.org/drawingml/2006/main">
              <a:ext uri="{FF2B5EF4-FFF2-40B4-BE49-F238E27FC236}">
                <a16:creationId xmlns:a16="http://schemas.microsoft.com/office/drawing/2014/main" id="{96CE7349-DC05-456A-B685-1017DCE11DE8}"/>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Layouts/slideLayout4.xml><?xml version="1.0" encoding="utf-8"?>
<p:sldLayout xmlns:p="http://schemas.openxmlformats.org/presentationml/2006/main" preserve="1">
  <p:cSld name="ICAST Content">
    <p:bg>
      <p:bgPr>
        <a:solidFill xmlns:a="http://schemas.openxmlformats.org/drawingml/2006/main">
          <a:srgbClr val="FAFAFA"/>
        </a:solidFill>
      </p:bgPr>
    </p:bg>
    <p:spTree>
      <p:nvGrpSpPr>
        <p:cNvPr id="1" name=""/>
        <p:cNvGrpSpPr/>
        <p:nvPr/>
      </p:nvGrpSpPr>
      <p:grpSpPr>
        <a:xfrm xmlns:a="http://schemas.openxmlformats.org/drawingml/2006/main"/>
      </p:grpSpPr>
      <p:sp>
        <p:nvSpPr>
          <p:cNvPr id="120" name="Header bar">
            <a:extLst xmlns:a="http://schemas.openxmlformats.org/drawingml/2006/main">
              <a:ext uri="{FF2B5EF4-FFF2-40B4-BE49-F238E27FC236}">
                <a16:creationId xmlns:a16="http://schemas.microsoft.com/office/drawing/2014/main" id="{D40A0EB0-27D7-453C-AB90-7E50F9306371}"/>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1" name="Title">
            <a:extLst xmlns:a="http://schemas.openxmlformats.org/drawingml/2006/main">
              <a:ext uri="{FF2B5EF4-FFF2-40B4-BE49-F238E27FC236}">
                <a16:creationId xmlns:a16="http://schemas.microsoft.com/office/drawing/2014/main" id="{B16517AC-638C-4BF5-91E9-7DBF9747775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2" name="Body">
            <a:extLst xmlns:a="http://schemas.openxmlformats.org/drawingml/2006/main">
              <a:ext uri="{FF2B5EF4-FFF2-40B4-BE49-F238E27FC236}">
                <a16:creationId xmlns:a16="http://schemas.microsoft.com/office/drawing/2014/main" id="{C7A9B3BC-4123-49A3-AD9C-CEA8CEFA3CDB}"/>
              </a:ext>
            </a:extLst>
          </p:cNvPr>
          <p:cNvSpPr>
            <a:spLocks xmlns:a="http://schemas.openxmlformats.org/drawingml/2006/main" noGrp="1"/>
          </p:cNvSpPr>
          <p:nvPr>
            <p:ph type="body" idx="105" hasCustomPrompt="1"/>
          </p:nvPr>
        </p:nvSpPr>
        <p:spPr>
          <a:xfrm xmlns:a="http://schemas.openxmlformats.org/drawingml/2006/main">
            <a:off x="548640" y="1417320"/>
            <a:ext cx="11091672"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3" name="Slide Number">
            <a:extLst xmlns:a="http://schemas.openxmlformats.org/drawingml/2006/main">
              <a:ext uri="{FF2B5EF4-FFF2-40B4-BE49-F238E27FC236}">
                <a16:creationId xmlns:a16="http://schemas.microsoft.com/office/drawing/2014/main" id="{3F367F07-3FD6-45AB-BA70-B9E1C7A12431}"/>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5.xml><?xml version="1.0" encoding="utf-8"?>
<p:sldLayout xmlns:p="http://schemas.openxmlformats.org/presentationml/2006/main" preserve="1">
  <p:cSld name="ICAST Two Column">
    <p:bg>
      <p:bgPr>
        <a:solidFill xmlns:a="http://schemas.openxmlformats.org/drawingml/2006/main">
          <a:srgbClr val="FAFAFA"/>
        </a:solidFill>
      </p:bgPr>
    </p:bg>
    <p:spTree>
      <p:nvGrpSpPr>
        <p:cNvPr id="1" name=""/>
        <p:cNvGrpSpPr/>
        <p:nvPr/>
      </p:nvGrpSpPr>
      <p:grpSpPr>
        <a:xfrm xmlns:a="http://schemas.openxmlformats.org/drawingml/2006/main"/>
      </p:grpSpPr>
      <p:sp>
        <p:nvSpPr>
          <p:cNvPr id="124" name="Header bar">
            <a:extLst xmlns:a="http://schemas.openxmlformats.org/drawingml/2006/main">
              <a:ext uri="{FF2B5EF4-FFF2-40B4-BE49-F238E27FC236}">
                <a16:creationId xmlns:a16="http://schemas.microsoft.com/office/drawing/2014/main" id="{EE1C9030-477B-4107-B1D5-A82B10BA08E1}"/>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25" name="Title">
            <a:extLst xmlns:a="http://schemas.openxmlformats.org/drawingml/2006/main">
              <a:ext uri="{FF2B5EF4-FFF2-40B4-BE49-F238E27FC236}">
                <a16:creationId xmlns:a16="http://schemas.microsoft.com/office/drawing/2014/main" id="{573BED61-8E23-46DE-B3F1-A9EB2A3BF5B9}"/>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26" name="Body">
            <a:extLst xmlns:a="http://schemas.openxmlformats.org/drawingml/2006/main">
              <a:ext uri="{FF2B5EF4-FFF2-40B4-BE49-F238E27FC236}">
                <a16:creationId xmlns:a16="http://schemas.microsoft.com/office/drawing/2014/main" id="{5CDCFE7C-6D99-449A-905A-362667FF6D7A}"/>
              </a:ext>
            </a:extLst>
          </p:cNvPr>
          <p:cNvSpPr>
            <a:spLocks xmlns:a="http://schemas.openxmlformats.org/drawingml/2006/main" noGrp="1"/>
          </p:cNvSpPr>
          <p:nvPr>
            <p:ph type="body" idx="105" hasCustomPrompt="1"/>
          </p:nvPr>
        </p:nvSpPr>
        <p:spPr>
          <a:xfrm xmlns:a="http://schemas.openxmlformats.org/drawingml/2006/main">
            <a:off x="548640" y="1417320"/>
            <a:ext cx="5394960" cy="457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342900" indent="-342900" algn="l">
              <a:spcAft>
                <a:spcPts val="1000"/>
              </a:spcAft>
              <a:buClr>
                <a:schemeClr val="accent1"/>
              </a:buClr>
              <a:buSzPct val="100000"/>
              <a:buFont typeface="Arial"/>
              <a:buChar char="•"/>
              <a:defRPr sz="2000" b="0">
                <a:solidFill>
                  <a:schemeClr val="tx1"/>
                </a:solidFill>
              </a:defRPr>
            </a:lvl1pPr>
          </a:lstStyle>
          <a:p xmlns:a="http://schemas.openxmlformats.org/drawingml/2006/main">
            <a:pPr marL="342900" indent="-342900">
              <a:spcAft>
                <a:spcPts val="1000"/>
              </a:spcAft>
              <a:buClr>
                <a:schemeClr val="accent1"/>
              </a:buClr>
              <a:buChar char="•"/>
            </a:pPr>
            <a:r>
              <a:rPr sz="2000" b="0">
                <a:solidFill>
                  <a:schemeClr val="tx1"/>
                </a:solidFill>
              </a:rPr>
              <a:t>Body text</a:t>
            </a:r>
          </a:p>
        </p:txBody>
      </p:sp>
      <p:sp>
        <p:nvSpPr>
          <p:cNvPr id="127" name="Figure frame">
            <a:extLst xmlns:a="http://schemas.openxmlformats.org/drawingml/2006/main">
              <a:ext uri="{FF2B5EF4-FFF2-40B4-BE49-F238E27FC236}">
                <a16:creationId xmlns:a16="http://schemas.microsoft.com/office/drawing/2014/main" id="{A0218927-7A74-4FF3-9A08-2DBC948239C5}"/>
              </a:ext>
            </a:extLst>
          </p:cNvPr>
          <p:cNvSpPr>
            <a:spLocks xmlns:a="http://schemas.openxmlformats.org/drawingml/2006/main" noGrp="1"/>
          </p:cNvSpPr>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anchor="ctr"/>
          <a:lstStyle xmlns:a="http://schemas.openxmlformats.org/drawingml/2006/main"/>
          <a:p xmlns:a="http://schemas.openxmlformats.org/drawingml/2006/main">
            <a:endParaRPr/>
          </a:p>
        </p:txBody>
      </p:sp>
      <p:sp>
        <p:nvSpPr>
          <p:cNvPr id="128" name="Figure">
            <a:extLst xmlns:a="http://schemas.openxmlformats.org/drawingml/2006/main">
              <a:ext uri="{FF2B5EF4-FFF2-40B4-BE49-F238E27FC236}">
                <a16:creationId xmlns:a16="http://schemas.microsoft.com/office/drawing/2014/main" id="{0C0C5A59-2E67-42D7-B70A-23A0EB1711F2}"/>
              </a:ext>
            </a:extLst>
          </p:cNvPr>
          <p:cNvSpPr>
            <a:spLocks xmlns:a="http://schemas.openxmlformats.org/drawingml/2006/main" noGrp="1"/>
          </p:cNvSpPr>
          <p:nvPr>
            <p:ph idx="107" hasCustomPrompt="1"/>
          </p:nvPr>
        </p:nvSpPr>
        <p:spPr>
          <a:xfrm xmlns:a="http://schemas.openxmlformats.org/drawingml/2006/main">
            <a:off x="6309360" y="1417320"/>
            <a:ext cx="5330952" cy="4206240"/>
          </a:xfrm>
          <a:prstGeom xmlns:a="http://schemas.openxmlformats.org/drawingml/2006/main" prst="rect">
            <a:avLst/>
          </a:prstGeom>
          <a:solidFill xmlns:a="http://schemas.openxmlformats.org/drawingml/2006/main">
            <a:schemeClr val="bg1"/>
          </a:solidFill>
          <a:ln xmlns:a="http://schemas.openxmlformats.org/drawingml/2006/main" w="12700" cap="rnd">
            <a:solidFill>
              <a:srgbClr val="D3DCE8"/>
            </a:solidFill>
            <a:round/>
          </a:ln>
        </p:spPr>
        <p:txBody>
          <a:bodyPr xmlns:a="http://schemas.openxmlformats.org/drawingml/2006/main" wrap="square" lIns="0" tIns="0" rIns="0" bIns="0" anchor="ctr">
            <a:normAutofit/>
          </a:bodyPr>
          <a:lstStyle xmlns:a="http://schemas.openxmlformats.org/drawingml/2006/main">
            <a:lvl1pPr marL="0" indent="0" algn="ctr">
              <a:buNone/>
              <a:defRPr sz="1400" b="0">
                <a:solidFill>
                  <a:schemeClr val="accent5"/>
                </a:solidFill>
              </a:defRPr>
            </a:lvl1pPr>
          </a:lstStyle>
          <a:p xmlns:a="http://schemas.openxmlformats.org/drawingml/2006/main">
            <a:pPr marL="0" indent="0" algn="ctr">
              <a:buNone/>
            </a:pPr>
            <a:r>
              <a:rPr sz="1400" b="0">
                <a:solidFill>
                  <a:schemeClr val="accent5"/>
                </a:solidFill>
              </a:rPr>
              <a:t>Insert figure</a:t>
            </a:r>
          </a:p>
        </p:txBody>
      </p:sp>
      <p:sp>
        <p:nvSpPr>
          <p:cNvPr id="129" name="Caption">
            <a:extLst xmlns:a="http://schemas.openxmlformats.org/drawingml/2006/main">
              <a:ext uri="{FF2B5EF4-FFF2-40B4-BE49-F238E27FC236}">
                <a16:creationId xmlns:a16="http://schemas.microsoft.com/office/drawing/2014/main" id="{513D0F65-DCE9-457D-ABC1-17B258773B4D}"/>
              </a:ext>
            </a:extLst>
          </p:cNvPr>
          <p:cNvSpPr>
            <a:spLocks xmlns:a="http://schemas.openxmlformats.org/drawingml/2006/main" noGrp="1"/>
          </p:cNvSpPr>
          <p:nvPr>
            <p:ph type="body" idx="108" hasCustomPrompt="1"/>
          </p:nvPr>
        </p:nvSpPr>
        <p:spPr>
          <a:xfrm xmlns:a="http://schemas.openxmlformats.org/drawingml/2006/main">
            <a:off x="6309360" y="5669280"/>
            <a:ext cx="5330952"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ctr">
              <a:buNone/>
              <a:defRPr sz="1200" b="0">
                <a:solidFill>
                  <a:schemeClr val="accent5"/>
                </a:solidFill>
              </a:defRPr>
            </a:lvl1pPr>
          </a:lstStyle>
          <a:p xmlns:a="http://schemas.openxmlformats.org/drawingml/2006/main">
            <a:pPr marL="0" indent="0" algn="ctr">
              <a:buNone/>
            </a:pPr>
            <a:r>
              <a:rPr sz="1200" b="0">
                <a:solidFill>
                  <a:schemeClr val="accent5"/>
                </a:solidFill>
              </a:rPr>
              <a:t>Fig. 1. Caption</a:t>
            </a:r>
          </a:p>
        </p:txBody>
      </p:sp>
      <p:sp>
        <p:nvSpPr>
          <p:cNvPr id="130" name="Slide Number">
            <a:extLst xmlns:a="http://schemas.openxmlformats.org/drawingml/2006/main">
              <a:ext uri="{FF2B5EF4-FFF2-40B4-BE49-F238E27FC236}">
                <a16:creationId xmlns:a16="http://schemas.microsoft.com/office/drawing/2014/main" id="{C92A44D0-6691-463F-8649-4D62832F14DB}"/>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6.xml><?xml version="1.0" encoding="utf-8"?>
<p:sldLayout xmlns:p="http://schemas.openxmlformats.org/presentationml/2006/main" preserve="1">
  <p:cSld name="ICAST Title Only">
    <p:bg>
      <p:bgPr>
        <a:solidFill xmlns:a="http://schemas.openxmlformats.org/drawingml/2006/main">
          <a:srgbClr val="FAFAFA"/>
        </a:solidFill>
      </p:bgPr>
    </p:bg>
    <p:spTree>
      <p:nvGrpSpPr>
        <p:cNvPr id="1" name=""/>
        <p:cNvGrpSpPr/>
        <p:nvPr/>
      </p:nvGrpSpPr>
      <p:grpSpPr>
        <a:xfrm xmlns:a="http://schemas.openxmlformats.org/drawingml/2006/main"/>
      </p:grpSpPr>
      <p:sp>
        <p:nvSpPr>
          <p:cNvPr id="131" name="Header bar">
            <a:extLst xmlns:a="http://schemas.openxmlformats.org/drawingml/2006/main">
              <a:ext uri="{FF2B5EF4-FFF2-40B4-BE49-F238E27FC236}">
                <a16:creationId xmlns:a16="http://schemas.microsoft.com/office/drawing/2014/main" id="{696A9AF6-8A77-4AB6-A8B6-050C2C098F04}"/>
              </a:ext>
            </a:extLst>
          </p:cNvPr>
          <p:cNvSpPr>
            <a:spLocks xmlns:a="http://schemas.openxmlformats.org/drawingml/2006/main" noGrp="1"/>
          </p:cNvSpPr>
          <p:nvPr/>
        </p:nvSpPr>
        <p:spPr>
          <a:xfrm xmlns:a="http://schemas.openxmlformats.org/drawingml/2006/main">
            <a:off x="0" y="0"/>
            <a:ext cx="12192000" cy="996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2" name="Title">
            <a:extLst xmlns:a="http://schemas.openxmlformats.org/drawingml/2006/main">
              <a:ext uri="{FF2B5EF4-FFF2-40B4-BE49-F238E27FC236}">
                <a16:creationId xmlns:a16="http://schemas.microsoft.com/office/drawing/2014/main" id="{0572A29B-C657-4C91-BBE7-823B3FEED387}"/>
              </a:ext>
            </a:extLst>
          </p:cNvPr>
          <p:cNvSpPr>
            <a:spLocks xmlns:a="http://schemas.openxmlformats.org/drawingml/2006/main" noGrp="1"/>
          </p:cNvSpPr>
          <p:nvPr>
            <p:ph type="title" idx="104" hasCustomPrompt="1"/>
          </p:nvPr>
        </p:nvSpPr>
        <p:spPr>
          <a:xfrm xmlns:a="http://schemas.openxmlformats.org/drawingml/2006/main">
            <a:off x="1143000" y="0"/>
            <a:ext cx="9906000" cy="9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ctr">
              <a:buNone/>
              <a:defRPr sz="3600" b="0">
                <a:solidFill>
                  <a:schemeClr val="bg1"/>
                </a:solidFill>
              </a:defRPr>
            </a:lvl1pPr>
          </a:lstStyle>
          <a:p xmlns:a="http://schemas.openxmlformats.org/drawingml/2006/main">
            <a:pPr marL="0" indent="0" algn="ctr">
              <a:buNone/>
            </a:pPr>
            <a:r>
              <a:rPr sz="3600" b="0">
                <a:solidFill>
                  <a:schemeClr val="bg1"/>
                </a:solidFill>
              </a:rPr>
              <a:t>Slide title</a:t>
            </a:r>
          </a:p>
        </p:txBody>
      </p:sp>
      <p:sp>
        <p:nvSpPr>
          <p:cNvPr id="133" name="Slide Number">
            <a:extLst xmlns:a="http://schemas.openxmlformats.org/drawingml/2006/main">
              <a:ext uri="{FF2B5EF4-FFF2-40B4-BE49-F238E27FC236}">
                <a16:creationId xmlns:a16="http://schemas.microsoft.com/office/drawing/2014/main" id="{B8B6FF4B-4431-44D8-BDE4-67498BEA828C}"/>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F7021451-1387-4CA6-816F-3879F97B5CBC}" type="slidenum">
              <a:rPr sz="1800" b="1">
                <a:solidFill>
                  <a:schemeClr val="accent1"/>
                </a:solidFill>
              </a:rPr>
              <a:t>‹#›</a:t>
            </a:fld>
            <a:endParaRPr sz="1800" b="1"/>
          </a:p>
        </p:txBody>
      </p:sp>
    </p:spTree>
  </p:cSld>
</p:sldLayout>
</file>

<file path=ppt/slideLayouts/slideLayout7.xml><?xml version="1.0" encoding="utf-8"?>
<p:sldLayout xmlns:p="http://schemas.openxmlformats.org/presentationml/2006/main" preserve="1">
  <p:cSld name="ICAST Closing">
    <p:bg>
      <p:bgPr>
        <a:solidFill xmlns:a="http://schemas.openxmlformats.org/drawingml/2006/main">
          <a:srgbClr val="FAFAFA"/>
        </a:solidFill>
      </p:bgPr>
    </p:bg>
    <p:spTree>
      <p:nvGrpSpPr>
        <p:cNvPr id="1" name=""/>
        <p:cNvGrpSpPr/>
        <p:nvPr/>
      </p:nvGrpSpPr>
      <p:grpSpPr>
        <a:xfrm xmlns:a="http://schemas.openxmlformats.org/drawingml/2006/main"/>
      </p:grpSpPr>
      <p:sp>
        <p:nvSpPr>
          <p:cNvPr id="134" name="Side panel">
            <a:extLst xmlns:a="http://schemas.openxmlformats.org/drawingml/2006/main">
              <a:ext uri="{FF2B5EF4-FFF2-40B4-BE49-F238E27FC236}">
                <a16:creationId xmlns:a16="http://schemas.microsoft.com/office/drawing/2014/main" id="{49D2DE03-DCCF-4E23-9EFD-D7E6199643D5}"/>
              </a:ext>
            </a:extLst>
          </p:cNvPr>
          <p:cNvSpPr>
            <a:spLocks xmlns:a="http://schemas.openxmlformats.org/drawingml/2006/main" noGrp="1"/>
          </p:cNvSpPr>
          <p:nvPr/>
        </p:nvSpPr>
        <p:spPr>
          <a:xfrm xmlns:a="http://schemas.openxmlformats.org/drawingml/2006/main">
            <a:off x="0" y="0"/>
            <a:ext cx="43688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sp>
        <p:nvSpPr>
          <p:cNvPr id="135" name="Logo card 1">
            <a:extLst xmlns:a="http://schemas.openxmlformats.org/drawingml/2006/main">
              <a:ext uri="{FF2B5EF4-FFF2-40B4-BE49-F238E27FC236}">
                <a16:creationId xmlns:a16="http://schemas.microsoft.com/office/drawing/2014/main" id="{D6DA5A6F-2D19-453A-A234-4162D6725C8C}"/>
              </a:ext>
            </a:extLst>
          </p:cNvPr>
          <p:cNvSpPr>
            <a:spLocks xmlns:a="http://schemas.openxmlformats.org/drawingml/2006/main" noGrp="1"/>
          </p:cNvSpPr>
          <p:nvPr/>
        </p:nvSpPr>
        <p:spPr>
          <a:xfrm xmlns:a="http://schemas.openxmlformats.org/drawingml/2006/main">
            <a:off x="384048" y="178308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6" name="ICAST 2026 logo">
            <a:extLst xmlns:a="http://schemas.openxmlformats.org/drawingml/2006/main">
              <a:ext uri="{FF2B5EF4-FFF2-40B4-BE49-F238E27FC236}">
                <a16:creationId xmlns:a16="http://schemas.microsoft.com/office/drawing/2014/main" id="{6B6CFE07-FA89-421D-84DA-8825EB2CAAE2}"/>
              </a:ext>
            </a:extLst>
          </p:cNvPr>
          <p:cNvPicPr>
            <a:picLocks xmlns:a="http://schemas.openxmlformats.org/drawingml/2006/main" noChangeAspect="1"/>
          </p:cNvPicPr>
          <p:nvPr/>
        </p:nvPicPr>
        <p:blipFill>
          <a:blip xmlns:r="http://schemas.openxmlformats.org/officeDocument/2006/relationships" xmlns:a="http://schemas.openxmlformats.org/drawingml/2006/main" r:embed="Rb0ff06e7733640e1"/>
          <a:stretch xmlns:a="http://schemas.openxmlformats.org/drawingml/2006/main">
            <a:fillRect l="0" t="0" r="0" b="0"/>
          </a:stretch>
        </p:blipFill>
        <p:spPr>
          <a:xfrm xmlns:a="http://schemas.openxmlformats.org/drawingml/2006/main">
            <a:off x="947965" y="1947672"/>
            <a:ext cx="2472870" cy="676656"/>
          </a:xfrm>
          <a:prstGeom xmlns:a="http://schemas.openxmlformats.org/drawingml/2006/main" prst="rect">
            <a:avLst/>
          </a:prstGeom>
        </p:spPr>
      </p:pic>
      <p:sp>
        <p:nvSpPr>
          <p:cNvPr id="137" name="Logo card 2">
            <a:extLst xmlns:a="http://schemas.openxmlformats.org/drawingml/2006/main">
              <a:ext uri="{FF2B5EF4-FFF2-40B4-BE49-F238E27FC236}">
                <a16:creationId xmlns:a16="http://schemas.microsoft.com/office/drawing/2014/main" id="{4BDE4319-94FA-4592-A991-9776F960B4C3}"/>
              </a:ext>
            </a:extLst>
          </p:cNvPr>
          <p:cNvSpPr>
            <a:spLocks xmlns:a="http://schemas.openxmlformats.org/drawingml/2006/main" noGrp="1"/>
          </p:cNvSpPr>
          <p:nvPr/>
        </p:nvSpPr>
        <p:spPr>
          <a:xfrm xmlns:a="http://schemas.openxmlformats.org/drawingml/2006/main">
            <a:off x="384048" y="3017520"/>
            <a:ext cx="3600704" cy="1005840"/>
          </a:xfrm>
          <a:prstGeom xmlns:a="http://schemas.openxmlformats.org/drawingml/2006/main" prst="roundRect">
            <a:avLst>
              <a:gd name="adj" fmla="val 10000"/>
            </a:avLst>
          </a:prstGeom>
          <a:solidFill xmlns:a="http://schemas.openxmlformats.org/drawingml/2006/main">
            <a:schemeClr val="bg1"/>
          </a:solidFill>
          <a:ln xmlns:a="http://schemas.openxmlformats.org/drawingml/2006/main">
            <a:noFill/>
          </a:ln>
        </p:spPr>
        <p:txBody>
          <a:bodyPr xmlns:a="http://schemas.openxmlformats.org/drawingml/2006/main" anchor="ctr"/>
          <a:lstStyle xmlns:a="http://schemas.openxmlformats.org/drawingml/2006/main"/>
          <a:p xmlns:a="http://schemas.openxmlformats.org/drawingml/2006/main">
            <a:endParaRPr/>
          </a:p>
        </p:txBody>
      </p:sp>
      <p:pic>
        <p:nvPicPr>
          <p:cNvPr id="138" name="IEEE Ghana Section logo">
            <a:extLst xmlns:a="http://schemas.openxmlformats.org/drawingml/2006/main">
              <a:ext uri="{FF2B5EF4-FFF2-40B4-BE49-F238E27FC236}">
                <a16:creationId xmlns:a16="http://schemas.microsoft.com/office/drawing/2014/main" id="{8D9E2D36-5571-42D8-93CC-D000395ACA13}"/>
              </a:ext>
            </a:extLst>
          </p:cNvPr>
          <p:cNvPicPr>
            <a:picLocks xmlns:a="http://schemas.openxmlformats.org/drawingml/2006/main" noChangeAspect="1"/>
          </p:cNvPicPr>
          <p:nvPr/>
        </p:nvPicPr>
        <p:blipFill>
          <a:blip xmlns:r="http://schemas.openxmlformats.org/officeDocument/2006/relationships" xmlns:a="http://schemas.openxmlformats.org/drawingml/2006/main" r:embed="R525af94210fc4e72"/>
          <a:stretch xmlns:a="http://schemas.openxmlformats.org/drawingml/2006/main">
            <a:fillRect l="0" t="0" r="0" b="0"/>
          </a:stretch>
        </p:blipFill>
        <p:spPr>
          <a:xfrm xmlns:a="http://schemas.openxmlformats.org/drawingml/2006/main">
            <a:off x="755076" y="3163824"/>
            <a:ext cx="1366402" cy="713232"/>
          </a:xfrm>
          <a:prstGeom xmlns:a="http://schemas.openxmlformats.org/drawingml/2006/main" prst="rect">
            <a:avLst/>
          </a:prstGeom>
        </p:spPr>
      </p:pic>
      <p:pic>
        <p:nvPicPr>
          <p:cNvPr id="139" name="IEEE logo">
            <a:extLst xmlns:a="http://schemas.openxmlformats.org/drawingml/2006/main">
              <a:ext uri="{FF2B5EF4-FFF2-40B4-BE49-F238E27FC236}">
                <a16:creationId xmlns:a16="http://schemas.microsoft.com/office/drawing/2014/main" id="{BE9D6E0A-0712-424A-BAD2-96B1DC514614}"/>
              </a:ext>
            </a:extLst>
          </p:cNvPr>
          <p:cNvPicPr>
            <a:picLocks xmlns:a="http://schemas.openxmlformats.org/drawingml/2006/main" noChangeAspect="1"/>
          </p:cNvPicPr>
          <p:nvPr/>
        </p:nvPicPr>
        <p:blipFill>
          <a:blip xmlns:r="http://schemas.openxmlformats.org/officeDocument/2006/relationships" xmlns:a="http://schemas.openxmlformats.org/drawingml/2006/main" r:embed="Rf89b520794fa440e"/>
          <a:stretch xmlns:a="http://schemas.openxmlformats.org/drawingml/2006/main">
            <a:fillRect l="0" t="0" r="0" b="0"/>
          </a:stretch>
        </p:blipFill>
        <p:spPr>
          <a:xfrm xmlns:a="http://schemas.openxmlformats.org/drawingml/2006/main">
            <a:off x="2322646" y="3319272"/>
            <a:ext cx="1291078" cy="402336"/>
          </a:xfrm>
          <a:prstGeom xmlns:a="http://schemas.openxmlformats.org/drawingml/2006/main" prst="rect">
            <a:avLst/>
          </a:prstGeom>
        </p:spPr>
      </p:pic>
      <p:sp>
        <p:nvSpPr>
          <p:cNvPr id="140" name="Conference">
            <a:extLst xmlns:a="http://schemas.openxmlformats.org/drawingml/2006/main">
              <a:ext uri="{FF2B5EF4-FFF2-40B4-BE49-F238E27FC236}">
                <a16:creationId xmlns:a16="http://schemas.microsoft.com/office/drawing/2014/main" id="{50D17685-0644-43E3-A1CE-D32F4C1DFFCD}"/>
              </a:ext>
            </a:extLst>
          </p:cNvPr>
          <p:cNvSpPr>
            <a:spLocks xmlns:a="http://schemas.openxmlformats.org/drawingml/2006/main" noGrp="1"/>
          </p:cNvSpPr>
          <p:nvPr/>
        </p:nvSpPr>
        <p:spPr>
          <a:xfrm xmlns:a="http://schemas.openxmlformats.org/drawingml/2006/main">
            <a:off x="384048" y="4251960"/>
            <a:ext cx="36007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spcAft>
                <a:spcPts val="300"/>
              </a:spcAft>
              <a:buNone/>
            </a:pPr>
            <a:r>
              <a:rPr sz="1200" b="0">
                <a:solidFill>
                  <a:schemeClr val="bg1"/>
                </a:solidFill>
              </a:rPr>
              <a:t>2026 IEEE 10th International Conference on Adaptive Science and Technology</a:t>
            </a:r>
          </a:p>
          <a:p xmlns:a="http://schemas.openxmlformats.org/drawingml/2006/main">
            <a:pPr marL="0" indent="0" algn="ctr">
              <a:buNone/>
            </a:pPr>
            <a:r>
              <a:rPr sz="1200" b="1">
                <a:solidFill>
                  <a:schemeClr val="bg1"/>
                </a:solidFill>
              </a:rPr>
              <a:t>22–24 October 2026  ·  Accra, Ghana</a:t>
            </a:r>
          </a:p>
        </p:txBody>
      </p:sp>
      <p:sp>
        <p:nvSpPr>
          <p:cNvPr id="141" name="Title">
            <a:extLst xmlns:a="http://schemas.openxmlformats.org/drawingml/2006/main">
              <a:ext uri="{FF2B5EF4-FFF2-40B4-BE49-F238E27FC236}">
                <a16:creationId xmlns:a16="http://schemas.microsoft.com/office/drawing/2014/main" id="{481B716A-F4B9-4405-8735-AA7EC1ABF7DB}"/>
              </a:ext>
            </a:extLst>
          </p:cNvPr>
          <p:cNvSpPr>
            <a:spLocks xmlns:a="http://schemas.openxmlformats.org/drawingml/2006/main" noGrp="1"/>
          </p:cNvSpPr>
          <p:nvPr>
            <p:ph type="title" idx="109" hasCustomPrompt="1"/>
          </p:nvPr>
        </p:nvSpPr>
        <p:spPr>
          <a:xfrm xmlns:a="http://schemas.openxmlformats.org/drawingml/2006/main">
            <a:off x="5008880" y="1554480"/>
            <a:ext cx="654304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b">
            <a:normAutofit/>
          </a:bodyPr>
          <a:lstStyle xmlns:a="http://schemas.openxmlformats.org/drawingml/2006/main">
            <a:lvl1pPr marL="0" indent="0" algn="l">
              <a:buNone/>
              <a:defRPr sz="8000" b="0">
                <a:solidFill>
                  <a:schemeClr val="tx1"/>
                </a:solidFill>
              </a:defRPr>
            </a:lvl1pPr>
          </a:lstStyle>
          <a:p xmlns:a="http://schemas.openxmlformats.org/drawingml/2006/main">
            <a:pPr marL="0" indent="0" algn="l">
              <a:buNone/>
            </a:pPr>
            <a:r>
              <a:rPr sz="8000" b="0">
                <a:solidFill>
                  <a:schemeClr val="tx1"/>
                </a:solidFill>
              </a:rPr>
              <a:t>Thank you</a:t>
            </a:r>
          </a:p>
        </p:txBody>
      </p:sp>
      <p:sp>
        <p:nvSpPr>
          <p:cNvPr id="142" name="Questions">
            <a:extLst xmlns:a="http://schemas.openxmlformats.org/drawingml/2006/main">
              <a:ext uri="{FF2B5EF4-FFF2-40B4-BE49-F238E27FC236}">
                <a16:creationId xmlns:a16="http://schemas.microsoft.com/office/drawing/2014/main" id="{1BFE3075-9580-4956-9A36-F109D3D57D65}"/>
              </a:ext>
            </a:extLst>
          </p:cNvPr>
          <p:cNvSpPr>
            <a:spLocks xmlns:a="http://schemas.openxmlformats.org/drawingml/2006/main" noGrp="1"/>
          </p:cNvSpPr>
          <p:nvPr>
            <p:ph type="body" idx="110" hasCustomPrompt="1"/>
          </p:nvPr>
        </p:nvSpPr>
        <p:spPr>
          <a:xfrm xmlns:a="http://schemas.openxmlformats.org/drawingml/2006/main">
            <a:off x="5008880" y="3200400"/>
            <a:ext cx="65430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ctr">
            <a:normAutofit/>
          </a:bodyPr>
          <a:lstStyle xmlns:a="http://schemas.openxmlformats.org/drawingml/2006/main">
            <a:lvl1pPr marL="0" indent="0" algn="l">
              <a:buNone/>
              <a:defRPr sz="2600" b="0">
                <a:solidFill>
                  <a:schemeClr val="accent1"/>
                </a:solidFill>
              </a:defRPr>
            </a:lvl1pPr>
          </a:lstStyle>
          <a:p xmlns:a="http://schemas.openxmlformats.org/drawingml/2006/main">
            <a:pPr marL="0" indent="0" algn="l">
              <a:buNone/>
            </a:pPr>
            <a:r>
              <a:rPr sz="2600" b="0">
                <a:solidFill>
                  <a:schemeClr val="accent1"/>
                </a:solidFill>
              </a:rPr>
              <a:t>Questions</a:t>
            </a:r>
          </a:p>
        </p:txBody>
      </p:sp>
      <p:sp>
        <p:nvSpPr>
          <p:cNvPr id="143" name="Contact">
            <a:extLst xmlns:a="http://schemas.openxmlformats.org/drawingml/2006/main">
              <a:ext uri="{FF2B5EF4-FFF2-40B4-BE49-F238E27FC236}">
                <a16:creationId xmlns:a16="http://schemas.microsoft.com/office/drawing/2014/main" id="{807B71F3-7384-4C4E-8B72-363566964D73}"/>
              </a:ext>
            </a:extLst>
          </p:cNvPr>
          <p:cNvSpPr>
            <a:spLocks xmlns:a="http://schemas.openxmlformats.org/drawingml/2006/main" noGrp="1"/>
          </p:cNvSpPr>
          <p:nvPr>
            <p:ph type="body" idx="111" hasCustomPrompt="1"/>
          </p:nvPr>
        </p:nvSpPr>
        <p:spPr>
          <a:xfrm xmlns:a="http://schemas.openxmlformats.org/drawingml/2006/main">
            <a:off x="5008880" y="3840480"/>
            <a:ext cx="6543040"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normAutofit/>
          </a:bodyPr>
          <a:lstStyle xmlns:a="http://schemas.openxmlformats.org/drawingml/2006/main">
            <a:lvl1pPr marL="0" indent="0" algn="l">
              <a:spcAft>
                <a:spcPts val="600"/>
              </a:spcAft>
              <a:buNone/>
              <a:defRPr sz="1800" b="0">
                <a:solidFill>
                  <a:schemeClr val="accent5"/>
                </a:solidFill>
              </a:defRPr>
            </a:lvl1pPr>
          </a:lstStyle>
          <a:p xmlns:a="http://schemas.openxmlformats.org/drawingml/2006/main">
            <a:pPr marL="0" indent="0" algn="l">
              <a:buNone/>
            </a:pPr>
            <a:r>
              <a:rPr sz="1800" b="0">
                <a:solidFill>
                  <a:schemeClr val="accent5"/>
                </a:solidFill>
              </a:rPr>
              <a:t>Contact</a:t>
            </a:r>
          </a:p>
        </p:txBody>
      </p:sp>
      <p:sp>
        <p:nvSpPr>
          <p:cNvPr id="144" name="Slide Number">
            <a:extLst xmlns:a="http://schemas.openxmlformats.org/drawingml/2006/main">
              <a:ext uri="{FF2B5EF4-FFF2-40B4-BE49-F238E27FC236}">
                <a16:creationId xmlns:a16="http://schemas.microsoft.com/office/drawing/2014/main" id="{2B5CFA51-8EA1-471F-BCC0-B6D991C40983}"/>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F7021451-1387-4CA6-816F-3879F97B5CBC}" type="slidenum">
              <a:rPr sz="1800" b="1">
                <a:solidFill>
                  <a:schemeClr val="bg1"/>
                </a:solidFill>
              </a:rPr>
              <a:t>‹#›</a:t>
            </a:fld>
            <a:endParaRPr sz="1800" b="1"/>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2223b0c55645be" /><Relationship Type="http://schemas.openxmlformats.org/officeDocument/2006/relationships/slideLayout" Target="/ppt/slideLayouts/slideLayout1.xml" Id="R42215a5a24504aeb" /><Relationship Type="http://schemas.openxmlformats.org/officeDocument/2006/relationships/slideLayout" Target="/ppt/slideLayouts/slideLayout2.xml" Id="R54796caeec1a4fe4" /><Relationship Type="http://schemas.openxmlformats.org/officeDocument/2006/relationships/slideLayout" Target="/ppt/slideLayouts/slideLayout3.xml" Id="Rceca0fdc523e49f6" /><Relationship Type="http://schemas.openxmlformats.org/officeDocument/2006/relationships/slideLayout" Target="/ppt/slideLayouts/slideLayout4.xml" Id="Rb502f9d6773a4c83" /><Relationship Type="http://schemas.openxmlformats.org/officeDocument/2006/relationships/slideLayout" Target="/ppt/slideLayouts/slideLayout5.xml" Id="Rdfa88be437864704" /><Relationship Type="http://schemas.openxmlformats.org/officeDocument/2006/relationships/slideLayout" Target="/ppt/slideLayouts/slideLayout6.xml" Id="Rab08100a6e8d43bb" /><Relationship Type="http://schemas.openxmlformats.org/officeDocument/2006/relationships/slideLayout" Target="/ppt/slideLayouts/slideLayout7.xml" Id="Rd40ac57e82274464" /></Relationships>
</file>

<file path=ppt/slideMasters/slideMaster1.xml><?xml version="1.0" encoding="utf-8"?>
<p:sldMaster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9DE45C8E-4D1C-481C-AD62-CEBEF2635905}"/>
              </a:ext>
            </a:extLst>
          </p:cNvPr>
          <p:cNvSpPr>
            <a:spLocks xmlns:a="http://schemas.openxmlformats.org/drawingml/2006/main" noGrp="1"/>
          </p:cNvSpPr>
          <p:nvPr>
            <p:ph type="sldNum" idx="12"/>
          </p:nvPr>
        </p:nvSpPr>
        <p:spPr>
          <a:xfrm xmlns:a="http://schemas.openxmlformats.org/drawingml/2006/main">
            <a:off x="11247120" y="6272784"/>
            <a:ext cx="411480" cy="384048"/>
          </a:xfrm>
          <a:prstGeom xmlns:a="http://schemas.openxmlformats.org/drawingml/2006/main" prst="rect">
            <a:avLst/>
          </a:prstGeom>
        </p:spPr>
        <p:txBody>
          <a:bodyPr xmlns:a="http://schemas.openxmlformats.org/drawingml/2006/main" anchor="ctr"/>
          <a:lstStyle xmlns:a="http://schemas.openxmlformats.org/drawingml/2006/main">
            <a:lvl1pPr>
              <a:buNone/>
              <a:defRPr sz="1000">
                <a:solidFill>
                  <a:srgbClr val="C9D6E6"/>
                </a:solidFill>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215a5a24504aeb"/>
    <p:sldLayoutId xmlns:r="http://schemas.openxmlformats.org/officeDocument/2006/relationships" id="2147483650" r:id="R54796caeec1a4fe4"/>
    <p:sldLayoutId xmlns:r="http://schemas.openxmlformats.org/officeDocument/2006/relationships" id="2147483651" r:id="Rceca0fdc523e49f6"/>
    <p:sldLayoutId xmlns:r="http://schemas.openxmlformats.org/officeDocument/2006/relationships" id="2147483652" r:id="Rb502f9d6773a4c83"/>
    <p:sldLayoutId xmlns:r="http://schemas.openxmlformats.org/officeDocument/2006/relationships" id="2147483653" r:id="Rdfa88be437864704"/>
    <p:sldLayoutId xmlns:r="http://schemas.openxmlformats.org/officeDocument/2006/relationships" id="2147483654" r:id="Rab08100a6e8d43bb"/>
    <p:sldLayoutId xmlns:r="http://schemas.openxmlformats.org/officeDocument/2006/relationships" id="2147483655" r:id="Rd40ac57e8227446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499fdbcc2404581" /><Relationship Type="http://schemas.openxmlformats.org/officeDocument/2006/relationships/notesSlide" Target="/ppt/notesSlides/notesSlide1.xml" Id="R7caec6639ad44b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133c92f063314b48" /><Relationship Type="http://schemas.openxmlformats.org/officeDocument/2006/relationships/notesSlide" Target="/ppt/notesSlides/notesSlide2.xml" Id="Rb406a47100d74c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2b6a55b3801d4042" /><Relationship Type="http://schemas.openxmlformats.org/officeDocument/2006/relationships/notesSlide" Target="/ppt/notesSlides/notesSlide3.xml" Id="R4afa38faf5c749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95d119b3d9a54246" /><Relationship Type="http://schemas.openxmlformats.org/officeDocument/2006/relationships/image" Target="/ppt/media/image4.png" Id="Rf6971deccfcc4de3" /><Relationship Type="http://schemas.openxmlformats.org/officeDocument/2006/relationships/notesSlide" Target="/ppt/notesSlides/notesSlide4.xml" Id="R451b8e9b2a7845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99d6930353524bed" /><Relationship Type="http://schemas.openxmlformats.org/officeDocument/2006/relationships/notesSlide" Target="/ppt/notesSlides/notesSlide5.xml" Id="Ra6436eeb17a144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7953d31f269d4f56" /><Relationship Type="http://schemas.openxmlformats.org/officeDocument/2006/relationships/notesSlide" Target="/ppt/notesSlides/notesSlide6.xml" Id="R863ac45c286547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513d7f2912874a57" /><Relationship Type="http://schemas.openxmlformats.org/officeDocument/2006/relationships/notesSlide" Target="/ppt/notesSlides/notesSlide7.xml" Id="R0b932b019e734d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4.xml" Id="R58df2bff8ba44059" /><Relationship Type="http://schemas.openxmlformats.org/officeDocument/2006/relationships/notesSlide" Target="/ppt/notesSlides/notesSlide8.xml" Id="R495be6da62c548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c40863c2a2074f34" /><Relationship Type="http://schemas.openxmlformats.org/officeDocument/2006/relationships/notesSlide" Target="/ppt/notesSlides/notesSlide9.xml" Id="R355dc38c762743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017cacc358ac46d1" /><Relationship Type="http://schemas.openxmlformats.org/officeDocument/2006/relationships/chart" Target="/ppt/slides/charts/chart1.xml" Id="Rf88152aac8e944ad" /><Relationship Type="http://schemas.openxmlformats.org/officeDocument/2006/relationships/notesSlide" Target="/ppt/notesSlides/notesSlide10.xml" Id="R0a9f6009aea641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5a2b11d9f1474605" /><Relationship Type="http://schemas.openxmlformats.org/officeDocument/2006/relationships/notesSlide" Target="/ppt/notesSlides/notesSlide11.xml" Id="R99145de3985f4d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4.xml" Id="R31592cf975d2449a" /><Relationship Type="http://schemas.openxmlformats.org/officeDocument/2006/relationships/chart" Target="/ppt/slides/charts/chart2.xml" Id="Rd2cb1917477a408b" /><Relationship Type="http://schemas.openxmlformats.org/officeDocument/2006/relationships/notesSlide" Target="/ppt/notesSlides/notesSlide12.xml" Id="R46b30eaf833f4b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f01b6844a6124683" /><Relationship Type="http://schemas.openxmlformats.org/officeDocument/2006/relationships/notesSlide" Target="/ppt/notesSlides/notesSlide13.xml" Id="Rd77dc2b0cc9f4be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4.xml" Id="Rc8cec83575e0464c" /><Relationship Type="http://schemas.openxmlformats.org/officeDocument/2006/relationships/notesSlide" Target="/ppt/notesSlides/notesSlide14.xml" Id="Rc4e025a805d04a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29f9c87ad29b477f" /><Relationship Type="http://schemas.openxmlformats.org/officeDocument/2006/relationships/notesSlide" Target="/ppt/notesSlides/notesSlide15.xml" Id="Rcf9f92b849aa4d8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4d403110311e48dd" /><Relationship Type="http://schemas.openxmlformats.org/officeDocument/2006/relationships/notesSlide" Target="/ppt/notesSlides/notesSlide16.xml" Id="Ra4f6dc48bad0409b" /></Relationships>
</file>

<file path=ppt/slides/charts/chart1.xml><?xml version="1.0" encoding="utf-8"?>
<c:chartSpace xmlns:c="http://schemas.openxmlformats.org/drawingml/2006/chart">
  <c:lang val="en-US"/>
  <c:chart>
    <c:plotArea>
      <c:barChart>
        <c:barDir val="col"/>
        <c:grouping val="clustered"/>
        <c:varyColors val="0"/>
        <c:ser>
          <c:idx val="0"/>
          <c:order val="0"/>
          <c:tx>
            <c:v>SwAV-CLS</c:v>
          </c:tx>
          <c:spPr>
            <a:solidFill xmlns:a="http://schemas.openxmlformats.org/drawingml/2006/main">
              <a:srgbClr val="AAB8C7"/>
            </a:solidFill>
          </c:spPr>
          <c:invertIfNegative val="0"/>
          <c:cat>
            <c:strLit>
              <c:ptCount val="3"/>
              <c:pt idx="0">
                <c:v>Cardiomegaly</c:v>
              </c:pt>
              <c:pt idx="1">
                <c:v>Emphysema</c:v>
              </c:pt>
              <c:pt idx="2">
                <c:v>Pneumothorax</c:v>
              </c:pt>
            </c:strLit>
          </c:cat>
          <c:val>
            <c:numLit>
              <c:formatCode>0.00</c:formatCode>
              <c:ptCount val="3"/>
              <c:pt idx="0">
                <c:v>0.0133</c:v>
              </c:pt>
              <c:pt idx="1">
                <c:v>0.0175</c:v>
              </c:pt>
              <c:pt idx="2">
                <c:v>0.0446</c:v>
              </c:pt>
            </c:numLit>
          </c:val>
        </c:ser>
        <c:ser>
          <c:idx val="1"/>
          <c:order val="1"/>
          <c:tx>
            <c:v>SwAV-SupCon</c:v>
          </c:tx>
          <c:spPr>
            <a:solidFill xmlns:a="http://schemas.openxmlformats.org/drawingml/2006/main">
              <a:srgbClr val="0B2545"/>
            </a:solidFill>
          </c:spPr>
          <c:invertIfNegative val="0"/>
          <c:cat>
            <c:strLit>
              <c:ptCount val="3"/>
              <c:pt idx="0">
                <c:v>Cardiomegaly</c:v>
              </c:pt>
              <c:pt idx="1">
                <c:v>Emphysema</c:v>
              </c:pt>
              <c:pt idx="2">
                <c:v>Pneumothorax</c:v>
              </c:pt>
            </c:strLit>
          </c:cat>
          <c:val>
            <c:numLit>
              <c:formatCode>0.00</c:formatCode>
              <c:ptCount val="3"/>
              <c:pt idx="0">
                <c:v>0.0163</c:v>
              </c:pt>
              <c:pt idx="1">
                <c:v>0.0335</c:v>
              </c:pt>
              <c:pt idx="2">
                <c:v>0.066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Roboto"/>
                <a:ea typeface="Roboto"/>
                <a:cs typeface="Roboto"/>
              </a:defRPr>
            </a:pPr>
          </a:p>
        </c:txPr>
        <c:crossAx val="48672768"/>
      </c:catAx>
      <c:valAx>
        <c:axId val="48672768"/>
        <c:scaling>
          <c:orientation val="minMax"/>
          <c:max val="0.08"/>
          <c:min val="0"/>
        </c:scaling>
        <c:delete val="0"/>
        <c:axPos val="l"/>
        <c:majorGridlines>
          <c:spPr>
            <a:ln xmlns:a="http://schemas.openxmlformats.org/drawingml/2006/main" w="7620">
              <a:solidFill>
                <a:srgbClr val="D8E1EA"/>
              </a:solidFill>
            </a:ln>
          </c:spPr>
        </c:majorGridlines>
        <c:title>
          <c:tx>
            <c:rich>
              <a:bodyPr xmlns:a="http://schemas.openxmlformats.org/drawingml/2006/main"/>
              <a:lstStyle xmlns:a="http://schemas.openxmlformats.org/drawingml/2006/main"/>
              <a:p xmlns:a="http://schemas.openxmlformats.org/drawingml/2006/main">
                <a:r>
                  <a:rPr sz="1575">
                    <a:latin typeface="Roboto"/>
                    <a:ea typeface="Roboto"/>
                    <a:cs typeface="Roboto"/>
                  </a:rPr>
                  <a:t>Precision@10 at 0.5% prevalence</a:t>
                </a:r>
              </a:p>
            </c:rich>
          </c:tx>
          <c:overlay val="0"/>
          <c:txPr>
            <a:bodyPr xmlns:a="http://schemas.openxmlformats.org/drawingml/2006/main" anchorCtr="1"/>
            <a:lstStyle xmlns:a="http://schemas.openxmlformats.org/drawingml/2006/main"/>
            <a:p xmlns:a="http://schemas.openxmlformats.org/drawingml/2006/main">
              <a:pPr>
                <a:defRPr sz="1575">
                  <a:latin typeface="Roboto"/>
                  <a:ea typeface="Roboto"/>
                  <a:cs typeface="Roboto"/>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Roboto"/>
                <a:ea typeface="Roboto"/>
                <a:cs typeface="Roboto"/>
              </a:defRPr>
            </a:pPr>
          </a:p>
        </c:txPr>
        <c:crossAx val="48650112"/>
        <c:crossBetween val="between"/>
        <c:majorUnit val="0.02"/>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legend>
    <c:plotVisOnly val="1"/>
  </c:chart>
  <c:spPr>
    <a:solidFill xmlns:a="http://schemas.openxmlformats.org/drawingml/2006/main">
      <a:srgbClr val="FAFAFA"/>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5% prevalence</c:v>
          </c:tx>
          <c:spPr>
            <a:solidFill xmlns:a="http://schemas.openxmlformats.org/drawingml/2006/main">
              <a:srgbClr val="0B2545"/>
            </a:solidFill>
          </c:spPr>
          <c:invertIfNegative val="0"/>
          <c:cat>
            <c:strLit>
              <c:ptCount val="2"/>
              <c:pt idx="0">
                <c:v>SwAV-CLS</c:v>
              </c:pt>
              <c:pt idx="1">
                <c:v>SwAV-SupCon</c:v>
              </c:pt>
            </c:strLit>
          </c:cat>
          <c:val>
            <c:numLit>
              <c:formatCode>0.0</c:formatCode>
              <c:ptCount val="2"/>
              <c:pt idx="0">
                <c:v>0.3287</c:v>
              </c:pt>
              <c:pt idx="1">
                <c:v>0.414</c:v>
              </c:pt>
            </c:numLit>
          </c:val>
        </c:ser>
        <c:ser>
          <c:idx val="1"/>
          <c:order val="1"/>
          <c:tx>
            <c:v>0.5% prevalence</c:v>
          </c:tx>
          <c:spPr>
            <a:solidFill xmlns:a="http://schemas.openxmlformats.org/drawingml/2006/main">
              <a:srgbClr val="547FA9"/>
            </a:solidFill>
          </c:spPr>
          <c:invertIfNegative val="0"/>
          <c:cat>
            <c:strLit>
              <c:ptCount val="2"/>
              <c:pt idx="0">
                <c:v>SwAV-CLS</c:v>
              </c:pt>
              <c:pt idx="1">
                <c:v>SwAV-SupCon</c:v>
              </c:pt>
            </c:strLit>
          </c:cat>
          <c:val>
            <c:numLit>
              <c:formatCode>0.0</c:formatCode>
              <c:ptCount val="2"/>
              <c:pt idx="0">
                <c:v>0.0446</c:v>
              </c:pt>
              <c:pt idx="1">
                <c:v>0.066</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650">
                  <a:latin typeface="Roboto"/>
                  <a:ea typeface="Roboto"/>
                  <a:cs typeface="Robot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Roboto"/>
                <a:ea typeface="Roboto"/>
                <a:cs typeface="Roboto"/>
              </a:defRPr>
            </a:pPr>
          </a:p>
        </c:txPr>
        <c:crossAx val="48672768"/>
      </c:catAx>
      <c:valAx>
        <c:axId val="48672768"/>
        <c:scaling>
          <c:orientation val="minMax"/>
          <c:max val="0.5"/>
          <c:min val="0"/>
        </c:scaling>
        <c:delete val="0"/>
        <c:axPos val="l"/>
        <c:majorGridlines>
          <c:spPr>
            <a:ln xmlns:a="http://schemas.openxmlformats.org/drawingml/2006/main" w="7620">
              <a:solidFill>
                <a:srgbClr val="D8E1EA"/>
              </a:solidFill>
            </a:ln>
          </c:spPr>
        </c:majorGridlines>
        <c:title>
          <c:tx>
            <c:rich>
              <a:bodyPr xmlns:a="http://schemas.openxmlformats.org/drawingml/2006/main"/>
              <a:lstStyle xmlns:a="http://schemas.openxmlformats.org/drawingml/2006/main"/>
              <a:p xmlns:a="http://schemas.openxmlformats.org/drawingml/2006/main">
                <a:r>
                  <a:rPr sz="1650">
                    <a:latin typeface="Roboto"/>
                    <a:ea typeface="Roboto"/>
                    <a:cs typeface="Roboto"/>
                  </a:rPr>
                  <a:t>Precision@10</a:t>
                </a:r>
              </a:p>
            </c:rich>
          </c:tx>
          <c:overlay val="0"/>
          <c:txPr>
            <a:bodyPr xmlns:a="http://schemas.openxmlformats.org/drawingml/2006/main" anchorCtr="1"/>
            <a:lstStyle xmlns:a="http://schemas.openxmlformats.org/drawingml/2006/main"/>
            <a:p xmlns:a="http://schemas.openxmlformats.org/drawingml/2006/main">
              <a:pPr>
                <a:defRPr sz="1650">
                  <a:latin typeface="Roboto"/>
                  <a:ea typeface="Roboto"/>
                  <a:cs typeface="Robo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Roboto"/>
                <a:ea typeface="Roboto"/>
                <a:cs typeface="Roboto"/>
              </a:defRPr>
            </a:pPr>
          </a:p>
        </c:txPr>
        <c:crossAx val="48650112"/>
        <c:crossBetween val="between"/>
        <c:majorUnit val="0.1"/>
      </c:valAx>
      <c:spPr>
        <a:solidFill xmlns:a="http://schemas.openxmlformats.org/drawingml/2006/main">
          <a:srgbClr val="FAFAFA"/>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9333F"/>
              </a:solidFill>
              <a:latin typeface="Roboto"/>
              <a:ea typeface="Roboto"/>
              <a:cs typeface="Roboto"/>
            </a:defRPr>
          </a:pPr>
        </a:p>
      </c:txPr>
    </c:legend>
    <c:plotVisOnly val="1"/>
  </c:chart>
  <c:spPr>
    <a:solidFill xmlns:a="http://schemas.openxmlformats.org/drawingml/2006/main">
      <a:srgbClr val="FAFAFA"/>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5" name="Title">
            <a:extLst xmlns:a="http://schemas.openxmlformats.org/drawingml/2006/main">
              <a:ext uri="{FF2B5EF4-FFF2-40B4-BE49-F238E27FC236}">
                <a16:creationId xmlns:a16="http://schemas.microsoft.com/office/drawing/2014/main" id="{641621CB-1508-4002-801B-4FBF9BBC7E21}"/>
              </a:ext>
            </a:extLst>
          </p:cNvPr>
          <p:cNvSpPr>
            <a:spLocks xmlns:a="http://schemas.openxmlformats.org/drawingml/2006/main" noGrp="1"/>
          </p:cNvSpPr>
          <p:nvPr>
            <p:ph type="title" idx="109"/>
          </p:nvPr>
        </p:nvSpPr>
        <p:spPr>
          <a:xfrm xmlns:a="http://schemas.openxmlformats.org/drawingml/2006/main">
            <a:off x="952500" y="1895475"/>
            <a:ext cx="10287000" cy="1666875"/>
          </a:xfrm>
        </p:spPr>
        <p:txBody>
          <a:bodyPr xmlns:a="http://schemas.openxmlformats.org/drawingml/2006/main"/>
          <a:lstStyle xmlns:a="http://schemas.openxmlformats.org/drawingml/2006/main">
            <a:defPPr algn="ctr">
              <a:defRPr sz="3600">
                <a:solidFill>
                  <a:srgbClr val="FFFFFF"/>
                </a:solidFill>
              </a:defRPr>
            </a:defPPr>
          </a:lstStyle>
          <a:p xmlns:a="http://schemas.openxmlformats.org/drawingml/2006/main">
            <a:pPr algn="ctr">
              <a:defRPr sz="3600">
                <a:solidFill>
                  <a:srgbClr val="FFFFFF"/>
                </a:solidFill>
              </a:defRPr>
            </a:pPr>
            <a:r>
              <a:rPr sz="3600">
                <a:solidFill>
                  <a:srgbClr val="FFFFFF"/>
                </a:solidFill>
              </a:rPr>
              <a:t>Chest X-Ray Image Retrieval</a:t>
            </a:r>
          </a:p>
          <a:p xmlns:a="http://schemas.openxmlformats.org/drawingml/2006/main">
            <a:pPr algn="ctr">
              <a:defRPr sz="3600">
                <a:solidFill>
                  <a:srgbClr val="FFFFFF"/>
                </a:solidFill>
              </a:defRPr>
            </a:pPr>
            <a:r>
              <a:rPr sz="3600">
                <a:solidFill>
                  <a:srgbClr val="FFFFFF"/>
                </a:solidFill>
              </a:rPr>
              <a:t>Under Declining Target-Pathology Prevalence</a:t>
            </a:r>
          </a:p>
        </p:txBody>
      </p:sp>
      <p:sp>
        <p:nvSpPr>
          <p:cNvPr id="146" name="Authors">
            <a:extLst xmlns:a="http://schemas.openxmlformats.org/drawingml/2006/main">
              <a:ext uri="{FF2B5EF4-FFF2-40B4-BE49-F238E27FC236}">
                <a16:creationId xmlns:a16="http://schemas.microsoft.com/office/drawing/2014/main" id="{B1817A29-AF5C-4C1C-B19B-0555386093F1}"/>
              </a:ext>
            </a:extLst>
          </p:cNvPr>
          <p:cNvSpPr>
            <a:spLocks xmlns:a="http://schemas.openxmlformats.org/drawingml/2006/main" noGrp="1"/>
          </p:cNvSpPr>
          <p:nvPr>
            <p:ph type="body" idx="110"/>
          </p:nvPr>
        </p:nvSpPr>
        <p:spPr>
          <a:xfrm xmlns:a="http://schemas.openxmlformats.org/drawingml/2006/main">
            <a:off x="952500" y="3790950"/>
            <a:ext cx="10287000" cy="447675"/>
          </a:xfrm>
        </p:spPr>
        <p:txBody>
          <a:bodyPr xmlns:a="http://schemas.openxmlformats.org/drawingml/2006/main"/>
          <a:lstStyle xmlns:a="http://schemas.openxmlformats.org/drawingml/2006/main">
            <a:defPPr algn="ctr">
              <a:defRPr sz="2250">
                <a:solidFill>
                  <a:srgbClr val="FFFFFF"/>
                </a:solidFill>
              </a:defRPr>
            </a:defPPr>
          </a:lstStyle>
          <a:p xmlns:a="http://schemas.openxmlformats.org/drawingml/2006/main">
            <a:pPr algn="ctr">
              <a:defRPr sz="2250">
                <a:solidFill>
                  <a:srgbClr val="FFFFFF"/>
                </a:solidFill>
              </a:defRPr>
            </a:pPr>
            <a:r>
              <a:rPr sz="2250">
                <a:solidFill>
                  <a:srgbClr val="FFFFFF"/>
                </a:solidFill>
              </a:rPr>
              <a:t>Presented by Ofei Obuobisah Bekoe</a:t>
            </a:r>
          </a:p>
        </p:txBody>
      </p:sp>
      <p:sp>
        <p:nvSpPr>
          <p:cNvPr id="147" name="Affiliation">
            <a:extLst xmlns:a="http://schemas.openxmlformats.org/drawingml/2006/main">
              <a:ext uri="{FF2B5EF4-FFF2-40B4-BE49-F238E27FC236}">
                <a16:creationId xmlns:a16="http://schemas.microsoft.com/office/drawing/2014/main" id="{AB92F277-020D-4894-9771-03690FCF0EBA}"/>
              </a:ext>
            </a:extLst>
          </p:cNvPr>
          <p:cNvSpPr>
            <a:spLocks xmlns:a="http://schemas.openxmlformats.org/drawingml/2006/main" noGrp="1"/>
          </p:cNvSpPr>
          <p:nvPr>
            <p:ph type="body" idx="111"/>
          </p:nvPr>
        </p:nvSpPr>
        <p:spPr>
          <a:xfrm xmlns:a="http://schemas.openxmlformats.org/drawingml/2006/main">
            <a:off x="952500" y="4371975"/>
            <a:ext cx="10287000" cy="647700"/>
          </a:xfrm>
        </p:spPr>
        <p:txBody>
          <a:bodyPr xmlns:a="http://schemas.openxmlformats.org/drawingml/2006/main">
            <a:normAutofit fontScale="100000" lnSpcReduction="10000"/>
          </a:bodyPr>
          <a:lstStyle xmlns:a="http://schemas.openxmlformats.org/drawingml/2006/main">
            <a:defPPr algn="ctr">
              <a:defRPr sz="1725">
                <a:solidFill>
                  <a:srgbClr val="FFFFFF"/>
                </a:solidFill>
              </a:defRPr>
            </a:defPPr>
          </a:lstStyle>
          <a:p xmlns:a="http://schemas.openxmlformats.org/drawingml/2006/main">
            <a:pPr algn="ctr">
              <a:defRPr sz="1725">
                <a:solidFill>
                  <a:srgbClr val="FFFFFF"/>
                </a:solidFill>
              </a:defRPr>
            </a:pPr>
            <a:r>
              <a:rPr sz="1725">
                <a:solidFill>
                  <a:srgbClr val="FFFFFF"/>
                </a:solidFill>
              </a:rPr>
              <a:t>Department of Computer Science &amp; Engineering</a:t>
            </a:r>
          </a:p>
          <a:p xmlns:a="http://schemas.openxmlformats.org/drawingml/2006/main">
            <a:pPr algn="ctr">
              <a:defRPr sz="1725">
                <a:solidFill>
                  <a:srgbClr val="FFFFFF"/>
                </a:solidFill>
              </a:defRPr>
            </a:pPr>
            <a:r>
              <a:rPr sz="1725">
                <a:solidFill>
                  <a:srgbClr val="FFFFFF"/>
                </a:solidFill>
              </a:rPr>
              <a:t>University of Mines and Technology, Tarkwa, Ghana</a:t>
            </a:r>
          </a:p>
        </p:txBody>
      </p:sp>
      <p:sp>
        <p:nvSpPr>
          <p:cNvPr id="148" name="Paper details">
            <a:extLst xmlns:a="http://schemas.openxmlformats.org/drawingml/2006/main">
              <a:ext uri="{FF2B5EF4-FFF2-40B4-BE49-F238E27FC236}">
                <a16:creationId xmlns:a16="http://schemas.microsoft.com/office/drawing/2014/main" id="{01DC2AF8-B6E7-4AB0-B28C-0F9C22588605}"/>
              </a:ext>
            </a:extLst>
          </p:cNvPr>
          <p:cNvSpPr>
            <a:spLocks xmlns:a="http://schemas.openxmlformats.org/drawingml/2006/main" noGrp="1"/>
          </p:cNvSpPr>
          <p:nvPr>
            <p:ph type="body" idx="112"/>
          </p:nvPr>
        </p:nvSpPr>
        <p:spPr/>
        <p:txBody>
          <a:bodyPr xmlns:a="http://schemas.openxmlformats.org/drawingml/2006/main"/>
          <a:lstStyle xmlns:a="http://schemas.openxmlformats.org/drawingml/2006/main"/>
          <a:p xmlns:a="http://schemas.openxmlformats.org/drawingml/2006/main">
            <a:r>
              <a:t/>
            </a:r>
          </a:p>
        </p:txBody>
      </p:sp>
    </p:spTree>
    <p:extLst>
      <p:ext uri="{BB962C8B-B14F-4D97-AF65-F5344CB8AC3E}">
        <p14:creationId xmlns:p14="http://schemas.microsoft.com/office/powerpoint/2010/main" val="190165185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When relevant cases become rare</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2598689-54C9-18A7-3A19-ED76AA08988F}" type="slidenum">
              <a:rPr sz="1800" b="1">
                <a:solidFill>
                  <a:schemeClr val="accent1"/>
                </a:solidFill>
              </a:rPr>
              <a:t>2</a:t>
            </a:fld>
            <a:endParaRPr sz="1800" b="1"/>
          </a:p>
        </p:txBody>
      </p:sp>
      <p:sp>
        <p:nvSpPr>
          <p:cNvPr id="175" name="Question">
            <a:extLst xmlns:a="http://schemas.openxmlformats.org/drawingml/2006/main">
              <a:ext uri="{FF2B5EF4-FFF2-40B4-BE49-F238E27FC236}">
                <a16:creationId xmlns:a16="http://schemas.microsoft.com/office/drawing/2014/main" id="{70C0EEE6-40F6-4FCE-883F-A07175235640}"/>
              </a:ext>
            </a:extLst>
          </p:cNvPr>
          <p:cNvSpPr>
            <a:spLocks xmlns:a="http://schemas.openxmlformats.org/drawingml/2006/main" noGrp="1"/>
          </p:cNvSpPr>
          <p:nvPr/>
        </p:nvSpPr>
        <p:spPr>
          <a:xfrm xmlns:a="http://schemas.openxmlformats.org/drawingml/2006/main">
            <a:off x="685800" y="14382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B2545"/>
                </a:solidFill>
              </a:defRPr>
            </a:defPPr>
          </a:lstStyle>
          <a:p xmlns:a="http://schemas.openxmlformats.org/drawingml/2006/main">
            <a:pPr>
              <a:defRPr sz="3225" b="1">
                <a:solidFill>
                  <a:srgbClr val="0B2545"/>
                </a:solidFill>
              </a:defRPr>
            </a:pPr>
            <a:r>
              <a:rPr sz="3225" b="1">
                <a:solidFill>
                  <a:srgbClr val="0B2545"/>
                </a:solidFill>
              </a:rPr>
              <a:t>How much retrieval quality do we lose</a:t>
            </a:r>
          </a:p>
          <a:p xmlns:a="http://schemas.openxmlformats.org/drawingml/2006/main">
            <a:pPr>
              <a:defRPr sz="3225" b="1">
                <a:solidFill>
                  <a:srgbClr val="0B2545"/>
                </a:solidFill>
              </a:defRPr>
            </a:pPr>
            <a:r>
              <a:rPr sz="3225" b="1">
                <a:solidFill>
                  <a:srgbClr val="0B2545"/>
                </a:solidFill>
              </a:rPr>
              <a:t>when relevant cases become rarer?</a:t>
            </a:r>
          </a:p>
        </p:txBody>
      </p:sp>
      <p:sp>
        <p:nvSpPr>
          <p:cNvPr id="176" name="Context">
            <a:extLst xmlns:a="http://schemas.openxmlformats.org/drawingml/2006/main">
              <a:ext uri="{FF2B5EF4-FFF2-40B4-BE49-F238E27FC236}">
                <a16:creationId xmlns:a16="http://schemas.microsoft.com/office/drawing/2014/main" id="{C58E0001-1D5E-46DC-BA3F-2B6802E0DD90}"/>
              </a:ext>
            </a:extLst>
          </p:cNvPr>
          <p:cNvSpPr>
            <a:spLocks xmlns:a="http://schemas.openxmlformats.org/drawingml/2006/main" noGrp="1"/>
          </p:cNvSpPr>
          <p:nvPr/>
        </p:nvSpPr>
        <p:spPr>
          <a:xfrm xmlns:a="http://schemas.openxmlformats.org/drawingml/2006/main">
            <a:off x="685800" y="27717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The query stays the same. The gallery still contains 20,000 images.</a:t>
            </a:r>
          </a:p>
        </p:txBody>
      </p:sp>
      <p:sp>
        <p:nvSpPr>
          <p:cNvPr id="177" name="Start count">
            <a:extLst xmlns:a="http://schemas.openxmlformats.org/drawingml/2006/main">
              <a:ext uri="{FF2B5EF4-FFF2-40B4-BE49-F238E27FC236}">
                <a16:creationId xmlns:a16="http://schemas.microsoft.com/office/drawing/2014/main" id="{F913CF1A-12E1-4165-A1B8-087837CCBE21}"/>
              </a:ext>
            </a:extLst>
          </p:cNvPr>
          <p:cNvSpPr>
            <a:spLocks xmlns:a="http://schemas.openxmlformats.org/drawingml/2006/main" noGrp="1"/>
          </p:cNvSpPr>
          <p:nvPr/>
        </p:nvSpPr>
        <p:spPr>
          <a:xfrm xmlns:a="http://schemas.openxmlformats.org/drawingml/2006/main">
            <a:off x="685800" y="3743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B2545"/>
                </a:solidFill>
              </a:defRPr>
            </a:defPPr>
          </a:lstStyle>
          <a:p xmlns:a="http://schemas.openxmlformats.org/drawingml/2006/main">
            <a:pPr>
              <a:defRPr sz="5700" b="1">
                <a:solidFill>
                  <a:srgbClr val="0B2545"/>
                </a:solidFill>
              </a:defRPr>
            </a:pPr>
            <a:r>
              <a:rPr sz="5700" b="1">
                <a:solidFill>
                  <a:srgbClr val="0B2545"/>
                </a:solidFill>
              </a:rPr>
              <a:t>1,000</a:t>
            </a:r>
          </a:p>
        </p:txBody>
      </p:sp>
      <p:sp>
        <p:nvSpPr>
          <p:cNvPr id="178" name="Start label">
            <a:extLst xmlns:a="http://schemas.openxmlformats.org/drawingml/2006/main">
              <a:ext uri="{FF2B5EF4-FFF2-40B4-BE49-F238E27FC236}">
                <a16:creationId xmlns:a16="http://schemas.microsoft.com/office/drawing/2014/main" id="{23DA638A-85D0-4AB8-8A31-AF5E7AF813B3}"/>
              </a:ext>
            </a:extLst>
          </p:cNvPr>
          <p:cNvSpPr>
            <a:spLocks xmlns:a="http://schemas.openxmlformats.org/drawingml/2006/main" noGrp="1"/>
          </p:cNvSpPr>
          <p:nvPr/>
        </p:nvSpPr>
        <p:spPr>
          <a:xfrm xmlns:a="http://schemas.openxmlformats.org/drawingml/2006/main">
            <a:off x="685800" y="46577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Relevant cases at 5% prevalence</a:t>
            </a:r>
          </a:p>
        </p:txBody>
      </p:sp>
      <p:sp>
        <p:nvSpPr>
          <p:cNvPr id="179" name="End count">
            <a:extLst xmlns:a="http://schemas.openxmlformats.org/drawingml/2006/main">
              <a:ext uri="{FF2B5EF4-FFF2-40B4-BE49-F238E27FC236}">
                <a16:creationId xmlns:a16="http://schemas.microsoft.com/office/drawing/2014/main" id="{463638F4-F139-448C-B43C-21E11B3B494B}"/>
              </a:ext>
            </a:extLst>
          </p:cNvPr>
          <p:cNvSpPr>
            <a:spLocks xmlns:a="http://schemas.openxmlformats.org/drawingml/2006/main" noGrp="1"/>
          </p:cNvSpPr>
          <p:nvPr/>
        </p:nvSpPr>
        <p:spPr>
          <a:xfrm xmlns:a="http://schemas.openxmlformats.org/drawingml/2006/main">
            <a:off x="7029450" y="37433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326A99"/>
                </a:solidFill>
              </a:defRPr>
            </a:defPPr>
          </a:lstStyle>
          <a:p xmlns:a="http://schemas.openxmlformats.org/drawingml/2006/main">
            <a:pPr>
              <a:defRPr sz="5700" b="1">
                <a:solidFill>
                  <a:srgbClr val="326A99"/>
                </a:solidFill>
              </a:defRPr>
            </a:pPr>
            <a:r>
              <a:rPr sz="5700" b="1">
                <a:solidFill>
                  <a:srgbClr val="326A99"/>
                </a:solidFill>
              </a:rPr>
              <a:t>100</a:t>
            </a:r>
          </a:p>
        </p:txBody>
      </p:sp>
      <p:sp>
        <p:nvSpPr>
          <p:cNvPr id="180" name="End label">
            <a:extLst xmlns:a="http://schemas.openxmlformats.org/drawingml/2006/main">
              <a:ext uri="{FF2B5EF4-FFF2-40B4-BE49-F238E27FC236}">
                <a16:creationId xmlns:a16="http://schemas.microsoft.com/office/drawing/2014/main" id="{DBB24084-63CA-4EFF-8E49-0D8642CBB74B}"/>
              </a:ext>
            </a:extLst>
          </p:cNvPr>
          <p:cNvSpPr>
            <a:spLocks xmlns:a="http://schemas.openxmlformats.org/drawingml/2006/main" noGrp="1"/>
          </p:cNvSpPr>
          <p:nvPr/>
        </p:nvSpPr>
        <p:spPr>
          <a:xfrm xmlns:a="http://schemas.openxmlformats.org/drawingml/2006/main">
            <a:off x="7029450" y="4657725"/>
            <a:ext cx="447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Relevant cases at 0.5% prevalence</a:t>
            </a:r>
          </a:p>
        </p:txBody>
      </p:sp>
      <p:sp>
        <p:nvSpPr>
          <p:cNvPr id="181" name="Evidence note">
            <a:extLst xmlns:a="http://schemas.openxmlformats.org/drawingml/2006/main">
              <a:ext uri="{FF2B5EF4-FFF2-40B4-BE49-F238E27FC236}">
                <a16:creationId xmlns:a16="http://schemas.microsoft.com/office/drawing/2014/main" id="{DBC8A32E-AE65-419C-9EC0-1A63D2EEC1C8}"/>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A fixed-gallery benchmark can miss this tenfold reduction in relevant-case availability.</a:t>
            </a:r>
          </a:p>
        </p:txBody>
      </p:sp>
    </p:spTree>
    <p:extLst>
      <p:ext uri="{BB962C8B-B14F-4D97-AF65-F5344CB8AC3E}">
        <p14:creationId xmlns:p14="http://schemas.microsoft.com/office/powerpoint/2010/main" val="2089114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Research gap and study questions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202359C0-8A7A-196E-DD58-8E6569619F09}" type="slidenum">
              <a:rPr sz="1800" b="1">
                <a:solidFill>
                  <a:schemeClr val="accent1"/>
                </a:solidFill>
              </a:rPr>
              <a:t>3</a:t>
            </a:fld>
            <a:endParaRPr sz="1800" b="1"/>
          </a:p>
        </p:txBody>
      </p:sp>
      <p:sp>
        <p:nvSpPr>
          <p:cNvPr id="175" name="Prior heading">
            <a:extLst xmlns:a="http://schemas.openxmlformats.org/drawingml/2006/main">
              <a:ext uri="{FF2B5EF4-FFF2-40B4-BE49-F238E27FC236}">
                <a16:creationId xmlns:a16="http://schemas.microsoft.com/office/drawing/2014/main" id="{CC41053A-272A-4EFA-82B3-F60275C86C01}"/>
              </a:ext>
            </a:extLst>
          </p:cNvPr>
          <p:cNvSpPr>
            <a:spLocks xmlns:a="http://schemas.openxmlformats.org/drawingml/2006/main" noGrp="1"/>
          </p:cNvSpPr>
          <p:nvPr/>
        </p:nvSpPr>
        <p:spPr>
          <a:xfrm xmlns:a="http://schemas.openxmlformats.org/drawingml/2006/main">
            <a:off x="685800" y="14763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Prior retrieval evaluations</a:t>
            </a:r>
          </a:p>
        </p:txBody>
      </p:sp>
      <p:sp>
        <p:nvSpPr>
          <p:cNvPr id="176" name="Prior explanation">
            <a:extLst xmlns:a="http://schemas.openxmlformats.org/drawingml/2006/main">
              <a:ext uri="{FF2B5EF4-FFF2-40B4-BE49-F238E27FC236}">
                <a16:creationId xmlns:a16="http://schemas.microsoft.com/office/drawing/2014/main" id="{8A4CEE37-8733-47EE-8E0B-E59C0F7C5828}"/>
              </a:ext>
            </a:extLst>
          </p:cNvPr>
          <p:cNvSpPr>
            <a:spLocks xmlns:a="http://schemas.openxmlformats.org/drawingml/2006/main" noGrp="1"/>
          </p:cNvSpPr>
          <p:nvPr/>
        </p:nvSpPr>
        <p:spPr>
          <a:xfrm xmlns:a="http://schemas.openxmlformats.org/drawingml/2006/main">
            <a:off x="685800" y="2114550"/>
            <a:ext cx="4905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Pretrained embeddings, rare diseases</a:t>
            </a:r>
          </a:p>
          <a:p xmlns:a="http://schemas.openxmlformats.org/drawingml/2006/main">
            <a:pPr>
              <a:defRPr sz="2175">
                <a:solidFill>
                  <a:srgbClr val="29333F"/>
                </a:solidFill>
              </a:defRPr>
            </a:pPr>
            <a:r>
              <a:rPr sz="2175">
                <a:solidFill>
                  <a:srgbClr val="29333F"/>
                </a:solidFill>
              </a:rPr>
              <a:t>and imbalanced galleries already</a:t>
            </a:r>
          </a:p>
          <a:p xmlns:a="http://schemas.openxmlformats.org/drawingml/2006/main">
            <a:pPr>
              <a:defRPr sz="2175">
                <a:solidFill>
                  <a:srgbClr val="29333F"/>
                </a:solidFill>
              </a:defRPr>
            </a:pPr>
            <a:r>
              <a:rPr sz="2175">
                <a:solidFill>
                  <a:srgbClr val="29333F"/>
                </a:solidFill>
              </a:rPr>
              <a:t>have substantial literature.</a:t>
            </a:r>
          </a:p>
        </p:txBody>
      </p:sp>
      <p:sp>
        <p:nvSpPr>
          <p:cNvPr id="177" name="Protocol distinction">
            <a:extLst xmlns:a="http://schemas.openxmlformats.org/drawingml/2006/main">
              <a:ext uri="{FF2B5EF4-FFF2-40B4-BE49-F238E27FC236}">
                <a16:creationId xmlns:a16="http://schemas.microsoft.com/office/drawing/2014/main" id="{8E3771F4-FE74-414A-BB35-E18F47503000}"/>
              </a:ext>
            </a:extLst>
          </p:cNvPr>
          <p:cNvSpPr>
            <a:spLocks xmlns:a="http://schemas.openxmlformats.org/drawingml/2006/main" noGrp="1"/>
          </p:cNvSpPr>
          <p:nvPr/>
        </p:nvSpPr>
        <p:spPr>
          <a:xfrm xmlns:a="http://schemas.openxmlformats.org/drawingml/2006/main">
            <a:off x="685800" y="3762375"/>
            <a:ext cx="490537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Changing examples per class in a</a:t>
            </a:r>
          </a:p>
          <a:p xmlns:a="http://schemas.openxmlformats.org/drawingml/2006/main">
            <a:pPr>
              <a:defRPr sz="2175">
                <a:solidFill>
                  <a:srgbClr val="29333F"/>
                </a:solidFill>
              </a:defRPr>
            </a:pPr>
            <a:r>
              <a:rPr sz="2175">
                <a:solidFill>
                  <a:srgbClr val="29333F"/>
                </a:solidFill>
              </a:rPr>
              <a:t>balanced index changes support</a:t>
            </a:r>
          </a:p>
          <a:p xmlns:a="http://schemas.openxmlformats.org/drawingml/2006/main">
            <a:pPr>
              <a:defRPr sz="2175">
                <a:solidFill>
                  <a:srgbClr val="29333F"/>
                </a:solidFill>
              </a:defRPr>
            </a:pPr>
            <a:r>
              <a:rPr sz="2175">
                <a:solidFill>
                  <a:srgbClr val="29333F"/>
                </a:solidFill>
              </a:rPr>
              <a:t>while preserving relative prevalence.</a:t>
            </a:r>
          </a:p>
        </p:txBody>
      </p:sp>
      <p:sp>
        <p:nvSpPr>
          <p:cNvPr id="178" name="Questions heading">
            <a:extLst xmlns:a="http://schemas.openxmlformats.org/drawingml/2006/main">
              <a:ext uri="{FF2B5EF4-FFF2-40B4-BE49-F238E27FC236}">
                <a16:creationId xmlns:a16="http://schemas.microsoft.com/office/drawing/2014/main" id="{18587244-1020-4CA6-AD94-8811EC4FAC5D}"/>
              </a:ext>
            </a:extLst>
          </p:cNvPr>
          <p:cNvSpPr>
            <a:spLocks xmlns:a="http://schemas.openxmlformats.org/drawingml/2006/main" noGrp="1"/>
          </p:cNvSpPr>
          <p:nvPr/>
        </p:nvSpPr>
        <p:spPr>
          <a:xfrm xmlns:a="http://schemas.openxmlformats.org/drawingml/2006/main">
            <a:off x="6496050" y="1476375"/>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This controlled experiment</a:t>
            </a:r>
          </a:p>
        </p:txBody>
      </p:sp>
      <p:sp>
        <p:nvSpPr>
          <p:cNvPr id="179" name="Question one">
            <a:extLst xmlns:a="http://schemas.openxmlformats.org/drawingml/2006/main">
              <a:ext uri="{FF2B5EF4-FFF2-40B4-BE49-F238E27FC236}">
                <a16:creationId xmlns:a16="http://schemas.microsoft.com/office/drawing/2014/main" id="{98A57767-133B-4F62-B2BE-750F3F68C587}"/>
              </a:ext>
            </a:extLst>
          </p:cNvPr>
          <p:cNvSpPr>
            <a:spLocks xmlns:a="http://schemas.openxmlformats.org/drawingml/2006/main" noGrp="1"/>
          </p:cNvSpPr>
          <p:nvPr/>
        </p:nvSpPr>
        <p:spPr>
          <a:xfrm xmlns:a="http://schemas.openxmlformats.org/drawingml/2006/main">
            <a:off x="6496050" y="2114550"/>
            <a:ext cx="5010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1  How does declining target prevalence</a:t>
            </a:r>
          </a:p>
          <a:p xmlns:a="http://schemas.openxmlformats.org/drawingml/2006/main">
            <a:pPr>
              <a:defRPr sz="2175">
                <a:solidFill>
                  <a:srgbClr val="29333F"/>
                </a:solidFill>
              </a:defRPr>
            </a:pPr>
            <a:r>
              <a:rPr sz="2175">
                <a:solidFill>
                  <a:srgbClr val="29333F"/>
                </a:solidFill>
              </a:rPr>
              <a:t>    affect retrieval across pathologies</a:t>
            </a:r>
          </a:p>
          <a:p xmlns:a="http://schemas.openxmlformats.org/drawingml/2006/main">
            <a:pPr>
              <a:defRPr sz="2175">
                <a:solidFill>
                  <a:srgbClr val="29333F"/>
                </a:solidFill>
              </a:defRPr>
            </a:pPr>
            <a:r>
              <a:rPr sz="2175">
                <a:solidFill>
                  <a:srgbClr val="29333F"/>
                </a:solidFill>
              </a:rPr>
              <a:t>    and representation models?</a:t>
            </a:r>
          </a:p>
        </p:txBody>
      </p:sp>
      <p:sp>
        <p:nvSpPr>
          <p:cNvPr id="180" name="Question two">
            <a:extLst xmlns:a="http://schemas.openxmlformats.org/drawingml/2006/main">
              <a:ext uri="{FF2B5EF4-FFF2-40B4-BE49-F238E27FC236}">
                <a16:creationId xmlns:a16="http://schemas.microsoft.com/office/drawing/2014/main" id="{34277851-A1A1-4BBC-902B-44D1F74F9D0B}"/>
              </a:ext>
            </a:extLst>
          </p:cNvPr>
          <p:cNvSpPr>
            <a:spLocks xmlns:a="http://schemas.openxmlformats.org/drawingml/2006/main" noGrp="1"/>
          </p:cNvSpPr>
          <p:nvPr/>
        </p:nvSpPr>
        <p:spPr>
          <a:xfrm xmlns:a="http://schemas.openxmlformats.org/drawingml/2006/main">
            <a:off x="6496050" y="3886200"/>
            <a:ext cx="50101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29333F"/>
                </a:solidFill>
              </a:defRPr>
            </a:defPPr>
          </a:lstStyle>
          <a:p xmlns:a="http://schemas.openxmlformats.org/drawingml/2006/main">
            <a:pPr>
              <a:defRPr sz="2175">
                <a:solidFill>
                  <a:srgbClr val="29333F"/>
                </a:solidFill>
              </a:defRPr>
            </a:pPr>
            <a:r>
              <a:rPr sz="2175">
                <a:solidFill>
                  <a:srgbClr val="29333F"/>
                </a:solidFill>
              </a:rPr>
              <a:t>2  From the same SwAV initialization,</a:t>
            </a:r>
          </a:p>
          <a:p xmlns:a="http://schemas.openxmlformats.org/drawingml/2006/main">
            <a:pPr>
              <a:defRPr sz="2175">
                <a:solidFill>
                  <a:srgbClr val="29333F"/>
                </a:solidFill>
              </a:defRPr>
            </a:pPr>
            <a:r>
              <a:rPr sz="2175">
                <a:solidFill>
                  <a:srgbClr val="29333F"/>
                </a:solidFill>
              </a:rPr>
              <a:t>    does contrastive adaptation improve</a:t>
            </a:r>
          </a:p>
          <a:p xmlns:a="http://schemas.openxmlformats.org/drawingml/2006/main">
            <a:pPr>
              <a:defRPr sz="2175">
                <a:solidFill>
                  <a:srgbClr val="29333F"/>
                </a:solidFill>
              </a:defRPr>
            </a:pPr>
            <a:r>
              <a:rPr sz="2175">
                <a:solidFill>
                  <a:srgbClr val="29333F"/>
                </a:solidFill>
              </a:rPr>
              <a:t>    retrieval over classification?</a:t>
            </a:r>
          </a:p>
        </p:txBody>
      </p:sp>
      <p:sp>
        <p:nvSpPr>
          <p:cNvPr id="181" name="Evidence note">
            <a:extLst xmlns:a="http://schemas.openxmlformats.org/drawingml/2006/main">
              <a:ext uri="{FF2B5EF4-FFF2-40B4-BE49-F238E27FC236}">
                <a16:creationId xmlns:a16="http://schemas.microsoft.com/office/drawing/2014/main" id="{F901BF45-AF63-424B-ADC1-1F05E0326362}"/>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The comparison concerns six ResNet-50 conditions and three target pathologies.</a:t>
            </a:r>
          </a:p>
        </p:txBody>
      </p:sp>
    </p:spTree>
    <p:extLst>
      <p:ext uri="{BB962C8B-B14F-4D97-AF65-F5344CB8AC3E}">
        <p14:creationId xmlns:p14="http://schemas.microsoft.com/office/powerpoint/2010/main" val="20891140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Data sources and experimental roles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FD6AB9A-5F9E-5F59-51AB-3C8734130965}" type="slidenum">
              <a:rPr sz="1800" b="1">
                <a:solidFill>
                  <a:schemeClr val="accent1"/>
                </a:solidFill>
              </a:rPr>
              <a:t>4</a:t>
            </a:fld>
            <a:endParaRPr sz="1800" b="1"/>
          </a:p>
        </p:txBody>
      </p:sp>
      <p:pic>
        <p:nvPicPr>
          <p:cNvPr id="175" name="">
            <a:extLst xmlns:a="http://schemas.openxmlformats.org/drawingml/2006/main">
              <a:ext uri="{FF2B5EF4-FFF2-40B4-BE49-F238E27FC236}">
                <a16:creationId xmlns:a16="http://schemas.microsoft.com/office/drawing/2014/main" id="{D3917EC4-678E-4E1F-AACF-C38BA662B958}"/>
              </a:ext>
            </a:extLst>
          </p:cNvPr>
          <p:cNvPicPr>
            <a:picLocks xmlns:a="http://schemas.openxmlformats.org/drawingml/2006/main" noChangeAspect="1"/>
          </p:cNvPicPr>
          <p:nvPr/>
        </p:nvPicPr>
        <p:blipFill>
          <a:blip xmlns:r="http://schemas.openxmlformats.org/officeDocument/2006/relationships" xmlns:a="http://schemas.openxmlformats.org/drawingml/2006/main" r:embed="Rf6971deccfcc4de3"/>
          <a:srcRect xmlns:a="http://schemas.openxmlformats.org/drawingml/2006/main" l="0" t="7500" r="0" b="0"/>
          <a:stretch xmlns:a="http://schemas.openxmlformats.org/drawingml/2006/main"/>
        </p:blipFill>
        <p:spPr>
          <a:xfrm xmlns:a="http://schemas.openxmlformats.org/drawingml/2006/main">
            <a:off x="552450" y="1133475"/>
            <a:ext cx="11087100" cy="5524500"/>
          </a:xfrm>
          <a:prstGeom xmlns:a="http://schemas.openxmlformats.org/drawingml/2006/main" prst="rect">
            <a:avLst/>
          </a:prstGeom>
        </p:spPr>
      </p:pic>
    </p:spTree>
    <p:extLst>
      <p:ext uri="{BB962C8B-B14F-4D97-AF65-F5344CB8AC3E}">
        <p14:creationId xmlns:p14="http://schemas.microsoft.com/office/powerpoint/2010/main" val="2089114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 fixed gallery with declining prevalence</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E5B3003-2C54-13C6-9832-7637201064DE}" type="slidenum">
              <a:rPr sz="1800" b="1">
                <a:solidFill>
                  <a:schemeClr val="accent1"/>
                </a:solidFill>
              </a:rPr>
              <a:t>5</a:t>
            </a:fld>
            <a:endParaRPr sz="1800" b="1"/>
          </a:p>
        </p:txBody>
      </p:sp>
      <p:sp>
        <p:nvSpPr>
          <p:cNvPr id="175" name="Fixed heading">
            <a:extLst xmlns:a="http://schemas.openxmlformats.org/drawingml/2006/main">
              <a:ext uri="{FF2B5EF4-FFF2-40B4-BE49-F238E27FC236}">
                <a16:creationId xmlns:a16="http://schemas.microsoft.com/office/drawing/2014/main" id="{2EF0519C-4603-425D-A713-1125CA08E0E2}"/>
              </a:ext>
            </a:extLst>
          </p:cNvPr>
          <p:cNvSpPr>
            <a:spLocks xmlns:a="http://schemas.openxmlformats.org/drawingml/2006/main" noGrp="1"/>
          </p:cNvSpPr>
          <p:nvPr/>
        </p:nvSpPr>
        <p:spPr>
          <a:xfrm xmlns:a="http://schemas.openxmlformats.org/drawingml/2006/main">
            <a:off x="685800" y="148590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2545"/>
                </a:solidFill>
              </a:defRPr>
            </a:defPPr>
          </a:lstStyle>
          <a:p xmlns:a="http://schemas.openxmlformats.org/drawingml/2006/main">
            <a:pPr>
              <a:defRPr sz="2400" b="1">
                <a:solidFill>
                  <a:srgbClr val="0B2545"/>
                </a:solidFill>
              </a:defRPr>
            </a:pPr>
            <a:r>
              <a:rPr sz="2400" b="1">
                <a:solidFill>
                  <a:srgbClr val="0B2545"/>
                </a:solidFill>
              </a:rPr>
              <a:t>What stays fixed</a:t>
            </a:r>
          </a:p>
        </p:txBody>
      </p:sp>
      <p:sp>
        <p:nvSpPr>
          <p:cNvPr id="176" name="Fixed variables">
            <a:extLst xmlns:a="http://schemas.openxmlformats.org/drawingml/2006/main">
              <a:ext uri="{FF2B5EF4-FFF2-40B4-BE49-F238E27FC236}">
                <a16:creationId xmlns:a16="http://schemas.microsoft.com/office/drawing/2014/main" id="{AE03C70A-1F1A-492F-A4FC-622F5C297E16}"/>
              </a:ext>
            </a:extLst>
          </p:cNvPr>
          <p:cNvSpPr>
            <a:spLocks xmlns:a="http://schemas.openxmlformats.org/drawingml/2006/main" noGrp="1"/>
          </p:cNvSpPr>
          <p:nvPr/>
        </p:nvSpPr>
        <p:spPr>
          <a:xfrm xmlns:a="http://schemas.openxmlformats.org/drawingml/2006/main">
            <a:off x="685800" y="2171700"/>
            <a:ext cx="49339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200 queries per target pathology</a:t>
            </a:r>
          </a:p>
          <a:p xmlns:a="http://schemas.openxmlformats.org/drawingml/2006/main">
            <a:r>
              <a:t/>
            </a:r>
          </a:p>
          <a:p xmlns:a="http://schemas.openxmlformats.org/drawingml/2006/main">
            <a:pPr>
              <a:defRPr sz="2100">
                <a:solidFill>
                  <a:srgbClr val="29333F"/>
                </a:solidFill>
              </a:defRPr>
            </a:pPr>
            <a:r>
              <a:rPr sz="2100">
                <a:solidFill>
                  <a:srgbClr val="29333F"/>
                </a:solidFill>
              </a:rPr>
              <a:t>20,000 images per gallery</a:t>
            </a:r>
          </a:p>
          <a:p xmlns:a="http://schemas.openxmlformats.org/drawingml/2006/main">
            <a:r>
              <a:t/>
            </a:r>
          </a:p>
          <a:p xmlns:a="http://schemas.openxmlformats.org/drawingml/2006/main">
            <a:pPr>
              <a:defRPr sz="2100">
                <a:solidFill>
                  <a:srgbClr val="29333F"/>
                </a:solidFill>
              </a:defRPr>
            </a:pPr>
            <a:r>
              <a:rPr sz="2100">
                <a:solidFill>
                  <a:srgbClr val="29333F"/>
                </a:solidFill>
              </a:rPr>
              <a:t>The fitted model and retrieval depth</a:t>
            </a:r>
          </a:p>
          <a:p xmlns:a="http://schemas.openxmlformats.org/drawingml/2006/main">
            <a:r>
              <a:t/>
            </a:r>
          </a:p>
          <a:p xmlns:a="http://schemas.openxmlformats.org/drawingml/2006/main">
            <a:pPr>
              <a:defRPr sz="2100">
                <a:solidFill>
                  <a:srgbClr val="29333F"/>
                </a:solidFill>
              </a:defRPr>
            </a:pPr>
            <a:r>
              <a:rPr sz="2100">
                <a:solidFill>
                  <a:srgbClr val="29333F"/>
                </a:solidFill>
              </a:rPr>
              <a:t>400 images per non-target pathology</a:t>
            </a:r>
          </a:p>
        </p:txBody>
      </p:sp>
      <p:graphicFrame>
        <p:nvGraphicFramePr>
          <p:cNvPr id="177" name="">
            <a:extLst xmlns:a="http://schemas.openxmlformats.org/drawingml/2006/main">
              <a:ext uri="{FF2B5EF4-FFF2-40B4-BE49-F238E27FC236}">
                <a16:creationId xmlns:a16="http://schemas.microsoft.com/office/drawing/2014/main" id="{06BA3FC9-22E9-43A5-918D-FB207DED4256}"/>
              </a:ext>
            </a:extLst>
          </p:cNvPr>
          <p:cNvGraphicFramePr/>
          <p:nvPr/>
        </p:nvGraphicFramePr>
        <p:xfrm>
          <a:off xmlns:a="http://schemas.openxmlformats.org/drawingml/2006/main" x="6324600" y="1571625"/>
          <a:ext xmlns:a="http://schemas.openxmlformats.org/drawingml/2006/main" cx="5181600" cy="3324225"/>
        </p:xfrm>
        <a:graphic xmlns:a="http://schemas.openxmlformats.org/drawingml/2006/main">
          <a:graphicData uri="http://schemas.openxmlformats.org/drawingml/2006/table">
            <a:tbl>
              <a:tblPr/>
              <a:tblGrid>
                <a:gridCol w="2590800"/>
                <a:gridCol w="2590800"/>
              </a:tblGrid>
              <a:tr h="664845">
                <a:tc>
                  <a:txBody>
                    <a:bodyPr/>
                    <a:lstStyle/>
                    <a:p>
                      <a:r>
                        <a:rPr sz="2025" b="1">
                          <a:solidFill>
                            <a:srgbClr val="FFFFFF"/>
                          </a:solidFill>
                        </a:rPr>
                        <a:t>Target share</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a:txBody>
                    <a:bodyPr/>
                    <a:lstStyle/>
                    <a:p>
                      <a:r>
                        <a:rPr sz="2025" b="1">
                          <a:solidFill>
                            <a:srgbClr val="FFFFFF"/>
                          </a:solidFill>
                        </a:rPr>
                        <a:t>Relevant images</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664845">
                <a:tc>
                  <a:txBody>
                    <a:bodyPr/>
                    <a:lstStyle/>
                    <a:p>
                      <a:r>
                        <a:rPr sz="2025" b="1">
                          <a:solidFill>
                            <a:srgbClr val="29333F"/>
                          </a:solidFill>
                        </a:rPr>
                        <a:t>5%</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1,000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2%</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400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1%</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200</a:t>
                      </a:r>
                    </a:p>
                  </a:txBody>
                  <a:tcPr marL="91440" marR="91440" marT="45720" marB="45720">
                    <a:lnR w="6668">
                      <a:solidFill>
                        <a:srgbClr val="D8E1EA"/>
                      </a:solidFill>
                    </a:lnR>
                    <a:lnB w="6668">
                      <a:solidFill>
                        <a:srgbClr val="D8E1EA"/>
                      </a:solidFill>
                    </a:lnB>
                    <a:solidFill>
                      <a:srgbClr val="FFFFFF"/>
                    </a:solidFill>
                  </a:tcPr>
                </a:tc>
              </a:tr>
              <a:tr h="664845">
                <a:tc>
                  <a:txBody>
                    <a:bodyPr/>
                    <a:lstStyle/>
                    <a:p>
                      <a:r>
                        <a:rPr sz="2025" b="1">
                          <a:solidFill>
                            <a:srgbClr val="29333F"/>
                          </a:solidFill>
                        </a:rPr>
                        <a:t>0.5%</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2025" b="0">
                          <a:solidFill>
                            <a:srgbClr val="29333F"/>
                          </a:solidFill>
                        </a:rPr>
                        <a:t>100</a:t>
                      </a:r>
                    </a:p>
                  </a:txBody>
                  <a:tcPr marL="91440" marR="91440" marT="45720" marB="45720">
                    <a:lnR w="6668">
                      <a:solidFill>
                        <a:srgbClr val="D8E1EA"/>
                      </a:solidFill>
                    </a:lnR>
                    <a:lnB w="6668">
                      <a:solidFill>
                        <a:srgbClr val="D8E1EA"/>
                      </a:solidFill>
                    </a:lnB>
                    <a:solidFill>
                      <a:srgbClr val="FFFFFF"/>
                    </a:solidFill>
                  </a:tcPr>
                </a:tc>
              </a:tr>
            </a:tbl>
          </a:graphicData>
        </a:graphic>
      </p:graphicFrame>
      <p:sp>
        <p:nvSpPr>
          <p:cNvPr id="178" name="Replication">
            <a:extLst xmlns:a="http://schemas.openxmlformats.org/drawingml/2006/main">
              <a:ext uri="{FF2B5EF4-FFF2-40B4-BE49-F238E27FC236}">
                <a16:creationId xmlns:a16="http://schemas.microsoft.com/office/drawing/2014/main" id="{7039D0E9-FAED-4095-B854-49A6CF07C8DD}"/>
              </a:ext>
            </a:extLst>
          </p:cNvPr>
          <p:cNvSpPr>
            <a:spLocks xmlns:a="http://schemas.openxmlformats.org/drawingml/2006/main" noGrp="1"/>
          </p:cNvSpPr>
          <p:nvPr/>
        </p:nvSpPr>
        <p:spPr>
          <a:xfrm xmlns:a="http://schemas.openxmlformats.org/drawingml/2006/main">
            <a:off x="685800" y="5391150"/>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B2545"/>
                </a:solidFill>
              </a:defRPr>
            </a:defPPr>
          </a:lstStyle>
          <a:p xmlns:a="http://schemas.openxmlformats.org/drawingml/2006/main">
            <a:pPr>
              <a:defRPr sz="2400" b="1">
                <a:solidFill>
                  <a:srgbClr val="0B2545"/>
                </a:solidFill>
              </a:defRPr>
            </a:pPr>
            <a:r>
              <a:rPr sz="2400" b="1">
                <a:solidFill>
                  <a:srgbClr val="0B2545"/>
                </a:solidFill>
              </a:rPr>
              <a:t>3 targets × 4 prevalence levels × 5 gallery samples</a:t>
            </a:r>
          </a:p>
        </p:txBody>
      </p:sp>
      <p:sp>
        <p:nvSpPr>
          <p:cNvPr id="179" name="Evidence note">
            <a:extLst xmlns:a="http://schemas.openxmlformats.org/drawingml/2006/main">
              <a:ext uri="{FF2B5EF4-FFF2-40B4-BE49-F238E27FC236}">
                <a16:creationId xmlns:a16="http://schemas.microsoft.com/office/drawing/2014/main" id="{D28EE109-79EB-476F-96C8-0F2215223B5A}"/>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60 galleries. All six models use identical gallery manifests and fixed query sets.</a:t>
            </a:r>
          </a:p>
        </p:txBody>
      </p:sp>
    </p:spTree>
    <p:extLst>
      <p:ext uri="{BB962C8B-B14F-4D97-AF65-F5344CB8AC3E}">
        <p14:creationId xmlns:p14="http://schemas.microsoft.com/office/powerpoint/2010/main" val="20891140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Six representation conditions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8C630A04-5A25-9E0C-9436-126091DB86B3}" type="slidenum">
              <a:rPr sz="1800" b="1">
                <a:solidFill>
                  <a:schemeClr val="accent1"/>
                </a:solidFill>
              </a:rPr>
              <a:t>6</a:t>
            </a:fld>
            <a:endParaRPr sz="1800" b="1"/>
          </a:p>
        </p:txBody>
      </p:sp>
      <p:graphicFrame>
        <p:nvGraphicFramePr>
          <p:cNvPr id="175" name="">
            <a:extLst xmlns:a="http://schemas.openxmlformats.org/drawingml/2006/main">
              <a:ext uri="{FF2B5EF4-FFF2-40B4-BE49-F238E27FC236}">
                <a16:creationId xmlns:a16="http://schemas.microsoft.com/office/drawing/2014/main" id="{DA0EE4A5-5D78-458D-BF6E-E3DA8530A801}"/>
              </a:ext>
            </a:extLst>
          </p:cNvPr>
          <p:cNvGraphicFramePr/>
          <p:nvPr/>
        </p:nvGraphicFramePr>
        <p:xfrm>
          <a:off xmlns:a="http://schemas.openxmlformats.org/drawingml/2006/main" x="685800" y="1428750"/>
          <a:ext xmlns:a="http://schemas.openxmlformats.org/drawingml/2006/main" cx="10820400" cy="4276725"/>
        </p:xfrm>
        <a:graphic xmlns:a="http://schemas.openxmlformats.org/drawingml/2006/main">
          <a:graphicData uri="http://schemas.openxmlformats.org/drawingml/2006/table">
            <a:tbl>
              <a:tblPr/>
              <a:tblGrid>
                <a:gridCol w="2095500"/>
                <a:gridCol w="3048000"/>
                <a:gridCol w="5676900"/>
              </a:tblGrid>
              <a:tr h="610961">
                <a:tc>
                  <a:txBody>
                    <a:bodyPr/>
                    <a:lstStyle/>
                    <a:p>
                      <a:r>
                        <a:rPr sz="1800" b="1">
                          <a:solidFill>
                            <a:srgbClr val="FFFFFF"/>
                          </a:solidFill>
                        </a:rPr>
                        <a:t>Condition</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a:txBody>
                    <a:bodyPr/>
                    <a:lstStyle/>
                    <a:p>
                      <a:r>
                        <a:rPr sz="1800" b="1">
                          <a:solidFill>
                            <a:srgbClr val="FFFFFF"/>
                          </a:solidFill>
                        </a:rPr>
                        <a:t>Initialization</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a:txBody>
                    <a:bodyPr/>
                    <a:lstStyle/>
                    <a:p>
                      <a:r>
                        <a:rPr sz="1800" b="1">
                          <a:solidFill>
                            <a:srgbClr val="FFFFFF"/>
                          </a:solidFill>
                        </a:rPr>
                        <a:t>Task-specific adaptation</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610961">
                <a:tc>
                  <a:txBody>
                    <a:bodyPr/>
                    <a:lstStyle/>
                    <a:p>
                      <a:r>
                        <a:rPr sz="1800" b="1">
                          <a:solidFill>
                            <a:srgbClr val="29333F"/>
                          </a:solidFill>
                        </a:rPr>
                        <a:t>CNN-PT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Supervised ImageNet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None</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CNN-Common</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CNN-PT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Normal / pneumonia / COVID-19 classification</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CNN-NIH</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CNN-PT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NIH multi-label classification</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Self-supervised ImageNet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None</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SwAV-CLS</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800" b="0">
                          <a:solidFill>
                            <a:srgbClr val="29333F"/>
                          </a:solidFill>
                        </a:rPr>
                        <a:t>SwAV-PT</a:t>
                      </a:r>
                    </a:p>
                  </a:txBody>
                  <a:tcPr marL="91440" marR="91440" marT="45720" marB="45720">
                    <a:lnR w="6668">
                      <a:solidFill>
                        <a:srgbClr val="D8E1EA"/>
                      </a:solidFill>
                    </a:lnR>
                    <a:lnB w="6668">
                      <a:solidFill>
                        <a:srgbClr val="D8E1EA"/>
                      </a:solidFill>
                    </a:lnB>
                    <a:solidFill>
                      <a:srgbClr val="FFFFFF"/>
                    </a:solidFill>
                  </a:tcPr>
                </a:tc>
                <a:tc>
                  <a:txBody>
                    <a:bodyPr/>
                    <a:lstStyle/>
                    <a:p>
                      <a:r>
                        <a:rPr sz="1800" b="0">
                          <a:solidFill>
                            <a:srgbClr val="29333F"/>
                          </a:solidFill>
                        </a:rPr>
                        <a:t>Same NIH classification as CNN-NIH</a:t>
                      </a:r>
                    </a:p>
                  </a:txBody>
                  <a:tcPr marL="91440" marR="91440" marT="45720" marB="45720">
                    <a:lnR w="6668">
                      <a:solidFill>
                        <a:srgbClr val="D8E1EA"/>
                      </a:solidFill>
                    </a:lnR>
                    <a:lnB w="6668">
                      <a:solidFill>
                        <a:srgbClr val="D8E1EA"/>
                      </a:solidFill>
                    </a:lnB>
                    <a:solidFill>
                      <a:srgbClr val="FFFFFF"/>
                    </a:solidFill>
                  </a:tcPr>
                </a:tc>
              </a:tr>
              <a:tr h="610961">
                <a:tc>
                  <a:txBody>
                    <a:bodyPr/>
                    <a:lstStyle/>
                    <a:p>
                      <a:r>
                        <a:rPr sz="1800" b="1">
                          <a:solidFill>
                            <a:srgbClr val="29333F"/>
                          </a:solidFill>
                        </a:rPr>
                        <a:t>SwAV-SupCon</a:t>
                      </a:r>
                    </a:p>
                  </a:txBody>
                  <a:tcPr marL="91440" marR="91440" marT="45720" marB="45720">
                    <a:lnL w="6668">
                      <a:solidFill>
                        <a:srgbClr val="D8E1EA"/>
                      </a:solidFill>
                    </a:lnL>
                    <a:lnR w="6668">
                      <a:solidFill>
                        <a:srgbClr val="D8E1EA"/>
                      </a:solidFill>
                    </a:lnR>
                    <a:lnB w="6668">
                      <a:solidFill>
                        <a:srgbClr val="D8E1EA"/>
                      </a:solidFill>
                    </a:lnB>
                    <a:solidFill>
                      <a:srgbClr val="EAF1F7"/>
                    </a:solidFill>
                  </a:tcPr>
                </a:tc>
                <a:tc>
                  <a:txBody>
                    <a:bodyPr/>
                    <a:lstStyle/>
                    <a:p>
                      <a:r>
                        <a:rPr sz="1800" b="1">
                          <a:solidFill>
                            <a:srgbClr val="29333F"/>
                          </a:solidFill>
                        </a:rPr>
                        <a:t>SwAV-PT</a:t>
                      </a:r>
                    </a:p>
                  </a:txBody>
                  <a:tcPr marL="91440" marR="91440" marT="45720" marB="45720">
                    <a:lnR w="6668">
                      <a:solidFill>
                        <a:srgbClr val="D8E1EA"/>
                      </a:solidFill>
                    </a:lnR>
                    <a:lnB w="6668">
                      <a:solidFill>
                        <a:srgbClr val="D8E1EA"/>
                      </a:solidFill>
                    </a:lnB>
                    <a:solidFill>
                      <a:srgbClr val="EAF1F7"/>
                    </a:solidFill>
                  </a:tcPr>
                </a:tc>
                <a:tc>
                  <a:txBody>
                    <a:bodyPr/>
                    <a:lstStyle/>
                    <a:p>
                      <a:r>
                        <a:rPr sz="1800" b="1">
                          <a:solidFill>
                            <a:srgbClr val="29333F"/>
                          </a:solidFill>
                        </a:rPr>
                        <a:t>Weighted multi-label contrastive learning</a:t>
                      </a:r>
                    </a:p>
                  </a:txBody>
                  <a:tcPr marL="91440" marR="91440" marT="45720" marB="45720">
                    <a:lnR w="6668">
                      <a:solidFill>
                        <a:srgbClr val="D8E1EA"/>
                      </a:solidFill>
                    </a:lnR>
                    <a:lnB w="6668">
                      <a:solidFill>
                        <a:srgbClr val="D8E1EA"/>
                      </a:solidFill>
                    </a:lnB>
                    <a:solidFill>
                      <a:srgbClr val="EAF1F7"/>
                    </a:solidFill>
                  </a:tcPr>
                </a:tc>
              </a:tr>
            </a:tbl>
          </a:graphicData>
        </a:graphic>
      </p:graphicFrame>
      <p:sp>
        <p:nvSpPr>
          <p:cNvPr id="176" name="Evidence note">
            <a:extLst xmlns:a="http://schemas.openxmlformats.org/drawingml/2006/main">
              <a:ext uri="{FF2B5EF4-FFF2-40B4-BE49-F238E27FC236}">
                <a16:creationId xmlns:a16="http://schemas.microsoft.com/office/drawing/2014/main" id="{DFE5E0D8-8DAD-42A6-B2B6-EF10518AB7FF}"/>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Shared ResNet-50 backbone. Target labels are absent from available fine-tuning annotations.</a:t>
            </a:r>
          </a:p>
        </p:txBody>
      </p:sp>
    </p:spTree>
    <p:extLst>
      <p:ext uri="{BB962C8B-B14F-4D97-AF65-F5344CB8AC3E}">
        <p14:creationId xmlns:p14="http://schemas.microsoft.com/office/powerpoint/2010/main" val="2089114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Adaptation and exact image retrieval</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D3D7D1C8-AE23-AA48-DF65-C742588DBE47}" type="slidenum">
              <a:rPr sz="1800" b="1">
                <a:solidFill>
                  <a:schemeClr val="accent1"/>
                </a:solidFill>
              </a:rPr>
              <a:t>7</a:t>
            </a:fld>
            <a:endParaRPr sz="1800" b="1"/>
          </a:p>
        </p:txBody>
      </p:sp>
      <p:sp>
        <p:nvSpPr>
          <p:cNvPr id="175" name="Learning heading">
            <a:extLst xmlns:a="http://schemas.openxmlformats.org/drawingml/2006/main">
              <a:ext uri="{FF2B5EF4-FFF2-40B4-BE49-F238E27FC236}">
                <a16:creationId xmlns:a16="http://schemas.microsoft.com/office/drawing/2014/main" id="{C3AB85CA-F3EE-48FC-B9AD-86FEC4BCDFFE}"/>
              </a:ext>
            </a:extLst>
          </p:cNvPr>
          <p:cNvSpPr>
            <a:spLocks xmlns:a="http://schemas.openxmlformats.org/drawingml/2006/main" noGrp="1"/>
          </p:cNvSpPr>
          <p:nvPr/>
        </p:nvSpPr>
        <p:spPr>
          <a:xfrm xmlns:a="http://schemas.openxmlformats.org/drawingml/2006/main">
            <a:off x="685800" y="14954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Contrastive adaptation</a:t>
            </a:r>
          </a:p>
        </p:txBody>
      </p:sp>
      <p:sp>
        <p:nvSpPr>
          <p:cNvPr id="176" name="Learning text">
            <a:extLst xmlns:a="http://schemas.openxmlformats.org/drawingml/2006/main">
              <a:ext uri="{FF2B5EF4-FFF2-40B4-BE49-F238E27FC236}">
                <a16:creationId xmlns:a16="http://schemas.microsoft.com/office/drawing/2014/main" id="{CF7B10F6-C166-4490-91AD-10414BDFCBAB}"/>
              </a:ext>
            </a:extLst>
          </p:cNvPr>
          <p:cNvSpPr>
            <a:spLocks xmlns:a="http://schemas.openxmlformats.org/drawingml/2006/main" noGrp="1"/>
          </p:cNvSpPr>
          <p:nvPr/>
        </p:nvSpPr>
        <p:spPr>
          <a:xfrm xmlns:a="http://schemas.openxmlformats.org/drawingml/2006/main">
            <a:off x="685800" y="2200275"/>
            <a:ext cx="5048250"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Two augmented views of each image</a:t>
            </a:r>
          </a:p>
          <a:p xmlns:a="http://schemas.openxmlformats.org/drawingml/2006/main">
            <a:r>
              <a:t/>
            </a:r>
          </a:p>
          <a:p xmlns:a="http://schemas.openxmlformats.org/drawingml/2006/main">
            <a:pPr>
              <a:defRPr sz="2100">
                <a:solidFill>
                  <a:srgbClr val="29333F"/>
                </a:solidFill>
              </a:defRPr>
            </a:pPr>
            <a:r>
              <a:rPr sz="2100">
                <a:solidFill>
                  <a:srgbClr val="29333F"/>
                </a:solidFill>
              </a:rPr>
              <a:t>Positive-pair weights follow the</a:t>
            </a:r>
          </a:p>
          <a:p xmlns:a="http://schemas.openxmlformats.org/drawingml/2006/main">
            <a:pPr>
              <a:defRPr sz="2100">
                <a:solidFill>
                  <a:srgbClr val="29333F"/>
                </a:solidFill>
              </a:defRPr>
            </a:pPr>
            <a:r>
              <a:rPr sz="2100">
                <a:solidFill>
                  <a:srgbClr val="29333F"/>
                </a:solidFill>
              </a:rPr>
              <a:t>overlap of NIH label sets</a:t>
            </a:r>
          </a:p>
          <a:p xmlns:a="http://schemas.openxmlformats.org/drawingml/2006/main">
            <a:r>
              <a:t/>
            </a:r>
          </a:p>
          <a:p xmlns:a="http://schemas.openxmlformats.org/drawingml/2006/main">
            <a:pPr>
              <a:defRPr sz="2100">
                <a:solidFill>
                  <a:srgbClr val="29333F"/>
                </a:solidFill>
              </a:defRPr>
            </a:pPr>
            <a:r>
              <a:rPr sz="2100">
                <a:solidFill>
                  <a:srgbClr val="29333F"/>
                </a:solidFill>
              </a:rPr>
              <a:t>Projection head supports training</a:t>
            </a:r>
          </a:p>
          <a:p xmlns:a="http://schemas.openxmlformats.org/drawingml/2006/main">
            <a:pPr>
              <a:defRPr sz="2100">
                <a:solidFill>
                  <a:srgbClr val="29333F"/>
                </a:solidFill>
              </a:defRPr>
            </a:pPr>
            <a:r>
              <a:rPr sz="2100">
                <a:solidFill>
                  <a:srgbClr val="29333F"/>
                </a:solidFill>
              </a:rPr>
              <a:t>and is removed for retrieval</a:t>
            </a:r>
          </a:p>
        </p:txBody>
      </p:sp>
      <p:sp>
        <p:nvSpPr>
          <p:cNvPr id="177" name="Retrieval heading">
            <a:extLst xmlns:a="http://schemas.openxmlformats.org/drawingml/2006/main">
              <a:ext uri="{FF2B5EF4-FFF2-40B4-BE49-F238E27FC236}">
                <a16:creationId xmlns:a16="http://schemas.microsoft.com/office/drawing/2014/main" id="{56A9032C-D104-4E06-B28A-61C88E2C45A3}"/>
              </a:ext>
            </a:extLst>
          </p:cNvPr>
          <p:cNvSpPr>
            <a:spLocks xmlns:a="http://schemas.openxmlformats.org/drawingml/2006/main" noGrp="1"/>
          </p:cNvSpPr>
          <p:nvPr/>
        </p:nvSpPr>
        <p:spPr>
          <a:xfrm xmlns:a="http://schemas.openxmlformats.org/drawingml/2006/main">
            <a:off x="6496050" y="1495425"/>
            <a:ext cx="50101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Retrieval for every condition</a:t>
            </a:r>
          </a:p>
        </p:txBody>
      </p:sp>
      <p:sp>
        <p:nvSpPr>
          <p:cNvPr id="178" name="Retrieval text">
            <a:extLst xmlns:a="http://schemas.openxmlformats.org/drawingml/2006/main">
              <a:ext uri="{FF2B5EF4-FFF2-40B4-BE49-F238E27FC236}">
                <a16:creationId xmlns:a16="http://schemas.microsoft.com/office/drawing/2014/main" id="{C96CCF2F-D919-437C-8C38-458B773DDCFA}"/>
              </a:ext>
            </a:extLst>
          </p:cNvPr>
          <p:cNvSpPr>
            <a:spLocks xmlns:a="http://schemas.openxmlformats.org/drawingml/2006/main" noGrp="1"/>
          </p:cNvSpPr>
          <p:nvPr/>
        </p:nvSpPr>
        <p:spPr>
          <a:xfrm xmlns:a="http://schemas.openxmlformats.org/drawingml/2006/main">
            <a:off x="6496050" y="2200275"/>
            <a:ext cx="501015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1  Resize and normalize the image</a:t>
            </a:r>
          </a:p>
          <a:p xmlns:a="http://schemas.openxmlformats.org/drawingml/2006/main">
            <a:r>
              <a:t/>
            </a:r>
          </a:p>
          <a:p xmlns:a="http://schemas.openxmlformats.org/drawingml/2006/main">
            <a:pPr>
              <a:defRPr sz="2100">
                <a:solidFill>
                  <a:srgbClr val="29333F"/>
                </a:solidFill>
              </a:defRPr>
            </a:pPr>
            <a:r>
              <a:rPr sz="2100">
                <a:solidFill>
                  <a:srgbClr val="29333F"/>
                </a:solidFill>
              </a:rPr>
              <a:t>2  Extract a 2,048-D embedding</a:t>
            </a:r>
          </a:p>
          <a:p xmlns:a="http://schemas.openxmlformats.org/drawingml/2006/main">
            <a:r>
              <a:t/>
            </a:r>
          </a:p>
          <a:p xmlns:a="http://schemas.openxmlformats.org/drawingml/2006/main">
            <a:pPr>
              <a:defRPr sz="2100">
                <a:solidFill>
                  <a:srgbClr val="29333F"/>
                </a:solidFill>
              </a:defRPr>
            </a:pPr>
            <a:r>
              <a:rPr sz="2100">
                <a:solidFill>
                  <a:srgbClr val="29333F"/>
                </a:solidFill>
              </a:rPr>
              <a:t>3  Apply L2 normalization</a:t>
            </a:r>
          </a:p>
          <a:p xmlns:a="http://schemas.openxmlformats.org/drawingml/2006/main">
            <a:r>
              <a:t/>
            </a:r>
          </a:p>
          <a:p xmlns:a="http://schemas.openxmlformats.org/drawingml/2006/main">
            <a:pPr>
              <a:defRPr sz="2100">
                <a:solidFill>
                  <a:srgbClr val="29333F"/>
                </a:solidFill>
              </a:defRPr>
            </a:pPr>
            <a:r>
              <a:rPr sz="2100">
                <a:solidFill>
                  <a:srgbClr val="29333F"/>
                </a:solidFill>
              </a:rPr>
              <a:t>4  Rank the full gallery by cosine similarity</a:t>
            </a:r>
          </a:p>
        </p:txBody>
      </p:sp>
      <p:sp>
        <p:nvSpPr>
          <p:cNvPr id="179" name="Evidence note">
            <a:extLst xmlns:a="http://schemas.openxmlformats.org/drawingml/2006/main">
              <a:ext uri="{FF2B5EF4-FFF2-40B4-BE49-F238E27FC236}">
                <a16:creationId xmlns:a16="http://schemas.microsoft.com/office/drawing/2014/main" id="{7949FD5F-7A3D-40BD-8E53-15055F717609}"/>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AdamW, learning rate 0.0001. One fitted checkpoint per learned condition.</a:t>
            </a:r>
          </a:p>
        </p:txBody>
      </p:sp>
    </p:spTree>
    <p:extLst>
      <p:ext uri="{BB962C8B-B14F-4D97-AF65-F5344CB8AC3E}">
        <p14:creationId xmlns:p14="http://schemas.microsoft.com/office/powerpoint/2010/main" val="20891140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Retrieval metrics and statistical tests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BA58DA2A-B818-18A9-29C1-B697728D5BCE}" type="slidenum">
              <a:rPr sz="1800" b="1">
                <a:solidFill>
                  <a:schemeClr val="accent1"/>
                </a:solidFill>
              </a:rPr>
              <a:t>8</a:t>
            </a:fld>
            <a:endParaRPr sz="1800" b="1"/>
          </a:p>
        </p:txBody>
      </p:sp>
      <p:sp>
        <p:nvSpPr>
          <p:cNvPr id="175" name="Precision label">
            <a:extLst xmlns:a="http://schemas.openxmlformats.org/drawingml/2006/main">
              <a:ext uri="{FF2B5EF4-FFF2-40B4-BE49-F238E27FC236}">
                <a16:creationId xmlns:a16="http://schemas.microsoft.com/office/drawing/2014/main" id="{955D6BEF-9716-402C-833E-F75596568CCD}"/>
              </a:ext>
            </a:extLst>
          </p:cNvPr>
          <p:cNvSpPr>
            <a:spLocks xmlns:a="http://schemas.openxmlformats.org/drawingml/2006/main" noGrp="1"/>
          </p:cNvSpPr>
          <p:nvPr/>
        </p:nvSpPr>
        <p:spPr>
          <a:xfrm xmlns:a="http://schemas.openxmlformats.org/drawingml/2006/main">
            <a:off x="685800" y="15430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Precision@10</a:t>
            </a:r>
          </a:p>
        </p:txBody>
      </p:sp>
      <p:sp>
        <p:nvSpPr>
          <p:cNvPr id="176" name="Precision meaning">
            <a:extLst xmlns:a="http://schemas.openxmlformats.org/drawingml/2006/main">
              <a:ext uri="{FF2B5EF4-FFF2-40B4-BE49-F238E27FC236}">
                <a16:creationId xmlns:a16="http://schemas.microsoft.com/office/drawing/2014/main" id="{20F149C3-AB88-4FC1-AF2D-7FB687C0F0F1}"/>
              </a:ext>
            </a:extLst>
          </p:cNvPr>
          <p:cNvSpPr>
            <a:spLocks xmlns:a="http://schemas.openxmlformats.org/drawingml/2006/main" noGrp="1"/>
          </p:cNvSpPr>
          <p:nvPr/>
        </p:nvSpPr>
        <p:spPr>
          <a:xfrm xmlns:a="http://schemas.openxmlformats.org/drawingml/2006/main">
            <a:off x="685800" y="2181225"/>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Relevant results among the first ten,</a:t>
            </a:r>
          </a:p>
          <a:p xmlns:a="http://schemas.openxmlformats.org/drawingml/2006/main">
            <a:pPr>
              <a:defRPr sz="2250">
                <a:solidFill>
                  <a:srgbClr val="29333F"/>
                </a:solidFill>
              </a:defRPr>
            </a:pPr>
            <a:r>
              <a:rPr sz="2250">
                <a:solidFill>
                  <a:srgbClr val="29333F"/>
                </a:solidFill>
              </a:rPr>
              <a:t>divided by ten.</a:t>
            </a:r>
          </a:p>
        </p:txBody>
      </p:sp>
      <p:sp>
        <p:nvSpPr>
          <p:cNvPr id="177" name="Ndcg label">
            <a:extLst xmlns:a="http://schemas.openxmlformats.org/drawingml/2006/main">
              <a:ext uri="{FF2B5EF4-FFF2-40B4-BE49-F238E27FC236}">
                <a16:creationId xmlns:a16="http://schemas.microsoft.com/office/drawing/2014/main" id="{FF85B5F3-E1C3-4119-B489-4B7B1498528C}"/>
              </a:ext>
            </a:extLst>
          </p:cNvPr>
          <p:cNvSpPr>
            <a:spLocks xmlns:a="http://schemas.openxmlformats.org/drawingml/2006/main" noGrp="1"/>
          </p:cNvSpPr>
          <p:nvPr/>
        </p:nvSpPr>
        <p:spPr>
          <a:xfrm xmlns:a="http://schemas.openxmlformats.org/drawingml/2006/main">
            <a:off x="685800" y="353377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nDCG@10</a:t>
            </a:r>
          </a:p>
        </p:txBody>
      </p:sp>
      <p:sp>
        <p:nvSpPr>
          <p:cNvPr id="178" name="Ndcg meaning">
            <a:extLst xmlns:a="http://schemas.openxmlformats.org/drawingml/2006/main">
              <a:ext uri="{FF2B5EF4-FFF2-40B4-BE49-F238E27FC236}">
                <a16:creationId xmlns:a16="http://schemas.microsoft.com/office/drawing/2014/main" id="{EDB5DECD-5E37-4D3D-BD11-006BEA3DFD4A}"/>
              </a:ext>
            </a:extLst>
          </p:cNvPr>
          <p:cNvSpPr>
            <a:spLocks xmlns:a="http://schemas.openxmlformats.org/drawingml/2006/main" noGrp="1"/>
          </p:cNvSpPr>
          <p:nvPr/>
        </p:nvSpPr>
        <p:spPr>
          <a:xfrm xmlns:a="http://schemas.openxmlformats.org/drawingml/2006/main">
            <a:off x="685800" y="4171950"/>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Adds sensitivity to where relevant</a:t>
            </a:r>
          </a:p>
          <a:p xmlns:a="http://schemas.openxmlformats.org/drawingml/2006/main">
            <a:pPr>
              <a:defRPr sz="2250">
                <a:solidFill>
                  <a:srgbClr val="29333F"/>
                </a:solidFill>
              </a:defRPr>
            </a:pPr>
            <a:r>
              <a:rPr sz="2250">
                <a:solidFill>
                  <a:srgbClr val="29333F"/>
                </a:solidFill>
              </a:rPr>
              <a:t>images appear in the top ten.</a:t>
            </a:r>
          </a:p>
        </p:txBody>
      </p:sp>
      <p:sp>
        <p:nvSpPr>
          <p:cNvPr id="179" name="Inference label">
            <a:extLst xmlns:a="http://schemas.openxmlformats.org/drawingml/2006/main">
              <a:ext uri="{FF2B5EF4-FFF2-40B4-BE49-F238E27FC236}">
                <a16:creationId xmlns:a16="http://schemas.microsoft.com/office/drawing/2014/main" id="{440DF582-79E4-4712-9479-9728CCDDD613}"/>
              </a:ext>
            </a:extLst>
          </p:cNvPr>
          <p:cNvSpPr>
            <a:spLocks xmlns:a="http://schemas.openxmlformats.org/drawingml/2006/main" noGrp="1"/>
          </p:cNvSpPr>
          <p:nvPr/>
        </p:nvSpPr>
        <p:spPr>
          <a:xfrm xmlns:a="http://schemas.openxmlformats.org/drawingml/2006/main">
            <a:off x="6496050" y="1543050"/>
            <a:ext cx="5010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B2545"/>
                </a:solidFill>
              </a:defRPr>
            </a:defPPr>
          </a:lstStyle>
          <a:p xmlns:a="http://schemas.openxmlformats.org/drawingml/2006/main">
            <a:pPr>
              <a:defRPr sz="2550" b="1">
                <a:solidFill>
                  <a:srgbClr val="0B2545"/>
                </a:solidFill>
              </a:defRPr>
            </a:pPr>
            <a:r>
              <a:rPr sz="2550" b="1">
                <a:solidFill>
                  <a:srgbClr val="0B2545"/>
                </a:solidFill>
              </a:rPr>
              <a:t>Paired comparisons</a:t>
            </a:r>
          </a:p>
        </p:txBody>
      </p:sp>
      <p:sp>
        <p:nvSpPr>
          <p:cNvPr id="180" name="Inference meaning">
            <a:extLst xmlns:a="http://schemas.openxmlformats.org/drawingml/2006/main">
              <a:ext uri="{FF2B5EF4-FFF2-40B4-BE49-F238E27FC236}">
                <a16:creationId xmlns:a16="http://schemas.microsoft.com/office/drawing/2014/main" id="{CC7DF013-6C62-467F-BAAC-97CE6A766218}"/>
              </a:ext>
            </a:extLst>
          </p:cNvPr>
          <p:cNvSpPr>
            <a:spLocks xmlns:a="http://schemas.openxmlformats.org/drawingml/2006/main" noGrp="1"/>
          </p:cNvSpPr>
          <p:nvPr/>
        </p:nvSpPr>
        <p:spPr>
          <a:xfrm xmlns:a="http://schemas.openxmlformats.org/drawingml/2006/main">
            <a:off x="6496050" y="2181225"/>
            <a:ext cx="50101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Average each query across five galleries.</a:t>
            </a:r>
          </a:p>
          <a:p xmlns:a="http://schemas.openxmlformats.org/drawingml/2006/main">
            <a:r>
              <a:t/>
            </a:r>
          </a:p>
          <a:p xmlns:a="http://schemas.openxmlformats.org/drawingml/2006/main">
            <a:pPr>
              <a:defRPr sz="2100">
                <a:solidFill>
                  <a:srgbClr val="29333F"/>
                </a:solidFill>
              </a:defRPr>
            </a:pPr>
            <a:r>
              <a:rPr sz="2100">
                <a:solidFill>
                  <a:srgbClr val="29333F"/>
                </a:solidFill>
              </a:rPr>
              <a:t>Use paired Wilcoxon tests and</a:t>
            </a:r>
          </a:p>
          <a:p xmlns:a="http://schemas.openxmlformats.org/drawingml/2006/main">
            <a:pPr>
              <a:defRPr sz="2100">
                <a:solidFill>
                  <a:srgbClr val="29333F"/>
                </a:solidFill>
              </a:defRPr>
            </a:pPr>
            <a:r>
              <a:rPr sz="2100">
                <a:solidFill>
                  <a:srgbClr val="29333F"/>
                </a:solidFill>
              </a:rPr>
              <a:t>global Holm correction.</a:t>
            </a:r>
          </a:p>
          <a:p xmlns:a="http://schemas.openxmlformats.org/drawingml/2006/main">
            <a:r>
              <a:t/>
            </a:r>
          </a:p>
          <a:p xmlns:a="http://schemas.openxmlformats.org/drawingml/2006/main">
            <a:pPr>
              <a:defRPr sz="2100">
                <a:solidFill>
                  <a:srgbClr val="29333F"/>
                </a:solidFill>
              </a:defRPr>
            </a:pPr>
            <a:r>
              <a:rPr sz="2100">
                <a:solidFill>
                  <a:srgbClr val="29333F"/>
                </a:solidFill>
              </a:rPr>
              <a:t>Bootstrap intervals describe uncertainty</a:t>
            </a:r>
          </a:p>
          <a:p xmlns:a="http://schemas.openxmlformats.org/drawingml/2006/main">
            <a:pPr>
              <a:defRPr sz="2100">
                <a:solidFill>
                  <a:srgbClr val="29333F"/>
                </a:solidFill>
              </a:defRPr>
            </a:pPr>
            <a:r>
              <a:rPr sz="2100">
                <a:solidFill>
                  <a:srgbClr val="29333F"/>
                </a:solidFill>
              </a:rPr>
              <a:t>conditional on the observed galleries.</a:t>
            </a:r>
          </a:p>
        </p:txBody>
      </p:sp>
      <p:sp>
        <p:nvSpPr>
          <p:cNvPr id="181" name="Evidence note">
            <a:extLst xmlns:a="http://schemas.openxmlformats.org/drawingml/2006/main">
              <a:ext uri="{FF2B5EF4-FFF2-40B4-BE49-F238E27FC236}">
                <a16:creationId xmlns:a16="http://schemas.microsoft.com/office/drawing/2014/main" id="{6FF5B8C6-87E0-4FAB-9C31-DE339A3CD7B8}"/>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Primary contrast: 5% versus 0.5%. Error bars across galleries do not measure retraining variability.</a:t>
            </a:r>
          </a:p>
        </p:txBody>
      </p:sp>
    </p:spTree>
    <p:extLst>
      <p:ext uri="{BB962C8B-B14F-4D97-AF65-F5344CB8AC3E}">
        <p14:creationId xmlns:p14="http://schemas.microsoft.com/office/powerpoint/2010/main" val="2089114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Every model loses precision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88657AE-30A1-5A7A-6A7F-315D84436430}" type="slidenum">
              <a:rPr sz="1800" b="1">
                <a:solidFill>
                  <a:schemeClr val="accent1"/>
                </a:solidFill>
              </a:rPr>
              <a:t>9</a:t>
            </a:fld>
            <a:endParaRPr sz="1800" b="1"/>
          </a:p>
        </p:txBody>
      </p:sp>
      <p:graphicFrame>
        <p:nvGraphicFramePr>
          <p:cNvPr id="175" name="">
            <a:extLst xmlns:a="http://schemas.openxmlformats.org/drawingml/2006/main">
              <a:ext uri="{FF2B5EF4-FFF2-40B4-BE49-F238E27FC236}">
                <a16:creationId xmlns:a16="http://schemas.microsoft.com/office/drawing/2014/main" id="{9F41C617-44CC-4CD9-B3FD-5960624797FD}"/>
              </a:ext>
            </a:extLst>
          </p:cNvPr>
          <p:cNvGraphicFramePr/>
          <p:nvPr/>
        </p:nvGraphicFramePr>
        <p:xfrm>
          <a:off xmlns:a="http://schemas.openxmlformats.org/drawingml/2006/main" x="685800" y="1400175"/>
          <a:ext xmlns:a="http://schemas.openxmlformats.org/drawingml/2006/main" cx="10820400" cy="4000500"/>
        </p:xfrm>
        <a:graphic xmlns:a="http://schemas.openxmlformats.org/drawingml/2006/main">
          <a:graphicData uri="http://schemas.openxmlformats.org/drawingml/2006/table">
            <a:tbl>
              <a:tblPr/>
              <a:tblGrid>
                <a:gridCol w="2133600"/>
                <a:gridCol w="1447800"/>
                <a:gridCol w="1447800"/>
                <a:gridCol w="1447800"/>
                <a:gridCol w="1447800"/>
                <a:gridCol w="1447800"/>
                <a:gridCol w="1447800"/>
              </a:tblGrid>
              <a:tr h="500063">
                <a:tc rowSpan="2">
                  <a:txBody>
                    <a:bodyPr/>
                    <a:lstStyle/>
                    <a:p>
                      <a:r>
                        <a:rPr sz="1725" b="1">
                          <a:solidFill>
                            <a:srgbClr val="FFFFFF"/>
                          </a:solidFill>
                        </a:rPr>
                        <a:t>Model</a:t>
                      </a:r>
                    </a:p>
                  </a:txBody>
                  <a:tcPr marL="91440" marR="91440" marT="45720" marB="45720">
                    <a:lnL w="6668">
                      <a:solidFill>
                        <a:srgbClr val="D8E1EA"/>
                      </a:solidFill>
                    </a:lnL>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Cardiomegaly</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Emphysema</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gridSpan="2">
                  <a:txBody>
                    <a:bodyPr/>
                    <a:lstStyle/>
                    <a:p>
                      <a:r>
                        <a:rPr sz="1725" b="1">
                          <a:solidFill>
                            <a:srgbClr val="FFFFFF"/>
                          </a:solidFill>
                        </a:rPr>
                        <a:t>Pneumothorax</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c hMerge="1">
                  <a:txBody>
                    <a:bodyPr/>
                    <a:lstStyle/>
                    <a:p>
                      <a:r>
                        <a:rPr sz="1725" b="1">
                          <a:solidFill>
                            <a:srgbClr val="FFFFFF"/>
                          </a:solidFill>
                        </a:rPr>
                        <a:t/>
                      </a:r>
                    </a:p>
                  </a:txBody>
                  <a:tcPr marL="91440" marR="91440" marT="45720" marB="45720">
                    <a:lnR w="6668">
                      <a:solidFill>
                        <a:srgbClr val="D8E1EA"/>
                      </a:solidFill>
                    </a:lnR>
                    <a:lnT w="6668">
                      <a:solidFill>
                        <a:srgbClr val="D8E1EA"/>
                      </a:solidFill>
                    </a:lnT>
                    <a:lnB w="6668">
                      <a:solidFill>
                        <a:srgbClr val="D8E1EA"/>
                      </a:solidFill>
                    </a:lnB>
                    <a:solidFill>
                      <a:srgbClr val="0B2545"/>
                    </a:solidFill>
                  </a:tcPr>
                </a:tc>
              </a:tr>
              <a:tr h="500063">
                <a:tc vMerge="1">
                  <a:txBody>
                    <a:bodyPr/>
                    <a:lstStyle/>
                    <a:p>
                      <a:r>
                        <a:rPr sz="1725" b="1">
                          <a:solidFill>
                            <a:srgbClr val="FFFFFF"/>
                          </a:solidFill>
                        </a:rPr>
                        <a:t/>
                      </a:r>
                    </a:p>
                  </a:txBody>
                  <a:tcPr marL="91440" marR="91440" marT="45720" marB="45720">
                    <a:lnL w="6668">
                      <a:solidFill>
                        <a:srgbClr val="D8E1EA"/>
                      </a:solidFill>
                    </a:lnL>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5%</a:t>
                      </a:r>
                    </a:p>
                  </a:txBody>
                  <a:tcPr marL="91440" marR="91440" marT="45720" marB="45720">
                    <a:lnR w="6668">
                      <a:solidFill>
                        <a:srgbClr val="D8E1EA"/>
                      </a:solidFill>
                    </a:lnR>
                    <a:lnB w="6668">
                      <a:solidFill>
                        <a:srgbClr val="D8E1EA"/>
                      </a:solidFill>
                    </a:lnB>
                    <a:solidFill>
                      <a:srgbClr val="0B2545"/>
                    </a:solidFill>
                  </a:tcPr>
                </a:tc>
                <a:tc>
                  <a:txBody>
                    <a:bodyPr/>
                    <a:lstStyle/>
                    <a:p>
                      <a:r>
                        <a:rPr sz="1725" b="1">
                          <a:solidFill>
                            <a:srgbClr val="FFFFFF"/>
                          </a:solidFill>
                        </a:rPr>
                        <a:t>0.5%</a:t>
                      </a:r>
                    </a:p>
                  </a:txBody>
                  <a:tcPr marL="91440" marR="91440" marT="45720" marB="45720">
                    <a:lnR w="6668">
                      <a:solidFill>
                        <a:srgbClr val="D8E1EA"/>
                      </a:solidFill>
                    </a:lnR>
                    <a:lnB w="6668">
                      <a:solidFill>
                        <a:srgbClr val="D8E1EA"/>
                      </a:solidFill>
                    </a:lnB>
                    <a:solidFill>
                      <a:srgbClr val="0B2545"/>
                    </a:solidFill>
                  </a:tcPr>
                </a:tc>
              </a:tr>
              <a:tr h="500063">
                <a:tc>
                  <a:txBody>
                    <a:bodyPr/>
                    <a:lstStyle/>
                    <a:p>
                      <a:r>
                        <a:rPr sz="1725" b="1">
                          <a:solidFill>
                            <a:srgbClr val="29333F"/>
                          </a:solidFill>
                        </a:rPr>
                        <a:t>CNN-PT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0.1078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0.0119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0.1669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0.0191</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0.2578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0.0320</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CNN-Common</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0.1343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0.0109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0.1775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0.0194</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0.3335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0.0484</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CNN-NIH</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0.1109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0.0116</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0.1512</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0.0198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0.3283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0.0545</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SwAV-PT</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0.1435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0.0157</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0.1902</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0.0249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0.3058</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0.0421</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SwAV-CLS</a:t>
                      </a:r>
                    </a:p>
                  </a:txBody>
                  <a:tcPr marL="91440" marR="91440" marT="45720" marB="45720">
                    <a:lnL w="6668">
                      <a:solidFill>
                        <a:srgbClr val="D8E1EA"/>
                      </a:solidFill>
                    </a:lnL>
                    <a:lnR w="6668">
                      <a:solidFill>
                        <a:srgbClr val="D8E1EA"/>
                      </a:solidFill>
                    </a:lnR>
                    <a:lnB w="6668">
                      <a:solidFill>
                        <a:srgbClr val="D8E1EA"/>
                      </a:solidFill>
                    </a:lnB>
                    <a:solidFill>
                      <a:srgbClr val="FFFFFF"/>
                    </a:solidFill>
                  </a:tcPr>
                </a:tc>
                <a:tc>
                  <a:txBody>
                    <a:bodyPr/>
                    <a:lstStyle/>
                    <a:p>
                      <a:r>
                        <a:rPr sz="1725" b="0">
                          <a:solidFill>
                            <a:srgbClr val="29333F"/>
                          </a:solidFill>
                        </a:rPr>
                        <a:t>0.1259</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0.0133</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0.1686</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0.0175</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0.3287</a:t>
                      </a:r>
                    </a:p>
                  </a:txBody>
                  <a:tcPr marL="91440" marR="91440" marT="45720" marB="45720">
                    <a:lnR w="6668">
                      <a:solidFill>
                        <a:srgbClr val="D8E1EA"/>
                      </a:solidFill>
                    </a:lnR>
                    <a:lnB w="6668">
                      <a:solidFill>
                        <a:srgbClr val="D8E1EA"/>
                      </a:solidFill>
                    </a:lnB>
                    <a:solidFill>
                      <a:srgbClr val="FFFFFF"/>
                    </a:solidFill>
                  </a:tcPr>
                </a:tc>
                <a:tc>
                  <a:txBody>
                    <a:bodyPr/>
                    <a:lstStyle/>
                    <a:p>
                      <a:r>
                        <a:rPr sz="1725" b="0">
                          <a:solidFill>
                            <a:srgbClr val="29333F"/>
                          </a:solidFill>
                        </a:rPr>
                        <a:t>0.0446</a:t>
                      </a:r>
                    </a:p>
                  </a:txBody>
                  <a:tcPr marL="91440" marR="91440" marT="45720" marB="45720">
                    <a:lnR w="6668">
                      <a:solidFill>
                        <a:srgbClr val="D8E1EA"/>
                      </a:solidFill>
                    </a:lnR>
                    <a:lnB w="6668">
                      <a:solidFill>
                        <a:srgbClr val="D8E1EA"/>
                      </a:solidFill>
                    </a:lnB>
                    <a:solidFill>
                      <a:srgbClr val="FFFFFF"/>
                    </a:solidFill>
                  </a:tcPr>
                </a:tc>
              </a:tr>
              <a:tr h="500063">
                <a:tc>
                  <a:txBody>
                    <a:bodyPr/>
                    <a:lstStyle/>
                    <a:p>
                      <a:r>
                        <a:rPr sz="1725" b="1">
                          <a:solidFill>
                            <a:srgbClr val="29333F"/>
                          </a:solidFill>
                        </a:rPr>
                        <a:t>SwAV-SupCon</a:t>
                      </a:r>
                    </a:p>
                  </a:txBody>
                  <a:tcPr marL="91440" marR="91440" marT="45720" marB="45720">
                    <a:lnL w="6668">
                      <a:solidFill>
                        <a:srgbClr val="D8E1EA"/>
                      </a:solidFill>
                    </a:lnL>
                    <a:lnR w="6668">
                      <a:solidFill>
                        <a:srgbClr val="D8E1EA"/>
                      </a:solidFill>
                    </a:lnR>
                    <a:lnB w="6668">
                      <a:solidFill>
                        <a:srgbClr val="D8E1EA"/>
                      </a:solidFill>
                    </a:lnB>
                    <a:solidFill>
                      <a:srgbClr val="EAF1F7"/>
                    </a:solidFill>
                  </a:tcPr>
                </a:tc>
                <a:tc>
                  <a:txBody>
                    <a:bodyPr/>
                    <a:lstStyle/>
                    <a:p>
                      <a:r>
                        <a:rPr sz="1725" b="1">
                          <a:solidFill>
                            <a:srgbClr val="29333F"/>
                          </a:solidFill>
                        </a:rPr>
                        <a:t>0.1597</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0.0163</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0.2377</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0.0335</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0.4140</a:t>
                      </a:r>
                    </a:p>
                  </a:txBody>
                  <a:tcPr marL="91440" marR="91440" marT="45720" marB="45720">
                    <a:lnR w="6668">
                      <a:solidFill>
                        <a:srgbClr val="D8E1EA"/>
                      </a:solidFill>
                    </a:lnR>
                    <a:lnB w="6668">
                      <a:solidFill>
                        <a:srgbClr val="D8E1EA"/>
                      </a:solidFill>
                    </a:lnB>
                    <a:solidFill>
                      <a:srgbClr val="EAF1F7"/>
                    </a:solidFill>
                  </a:tcPr>
                </a:tc>
                <a:tc>
                  <a:txBody>
                    <a:bodyPr/>
                    <a:lstStyle/>
                    <a:p>
                      <a:r>
                        <a:rPr sz="1725" b="1">
                          <a:solidFill>
                            <a:srgbClr val="29333F"/>
                          </a:solidFill>
                        </a:rPr>
                        <a:t>0.0660</a:t>
                      </a:r>
                    </a:p>
                  </a:txBody>
                  <a:tcPr marL="91440" marR="91440" marT="45720" marB="45720">
                    <a:lnR w="6668">
                      <a:solidFill>
                        <a:srgbClr val="D8E1EA"/>
                      </a:solidFill>
                    </a:lnR>
                    <a:lnB w="6668">
                      <a:solidFill>
                        <a:srgbClr val="D8E1EA"/>
                      </a:solidFill>
                    </a:lnB>
                    <a:solidFill>
                      <a:srgbClr val="EAF1F7"/>
                    </a:solidFill>
                  </a:tcPr>
                </a:tc>
              </a:tr>
            </a:tbl>
          </a:graphicData>
        </a:graphic>
      </p:graphicFrame>
      <p:sp>
        <p:nvSpPr>
          <p:cNvPr id="176" name="Loss value">
            <a:extLst xmlns:a="http://schemas.openxmlformats.org/drawingml/2006/main">
              <a:ext uri="{FF2B5EF4-FFF2-40B4-BE49-F238E27FC236}">
                <a16:creationId xmlns:a16="http://schemas.microsoft.com/office/drawing/2014/main" id="{F63E8546-0A51-4E20-A26A-C27F7D605992}"/>
              </a:ext>
            </a:extLst>
          </p:cNvPr>
          <p:cNvSpPr>
            <a:spLocks xmlns:a="http://schemas.openxmlformats.org/drawingml/2006/main" noGrp="1"/>
          </p:cNvSpPr>
          <p:nvPr/>
        </p:nvSpPr>
        <p:spPr>
          <a:xfrm xmlns:a="http://schemas.openxmlformats.org/drawingml/2006/main">
            <a:off x="685800" y="55911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2545"/>
                </a:solidFill>
              </a:defRPr>
            </a:defPPr>
          </a:lstStyle>
          <a:p xmlns:a="http://schemas.openxmlformats.org/drawingml/2006/main">
            <a:pPr>
              <a:defRPr sz="3300" b="1">
                <a:solidFill>
                  <a:srgbClr val="0B2545"/>
                </a:solidFill>
              </a:defRPr>
            </a:pPr>
            <a:r>
              <a:rPr sz="3300" b="1">
                <a:solidFill>
                  <a:srgbClr val="0B2545"/>
                </a:solidFill>
              </a:rPr>
              <a:t>83.4%–91.9%</a:t>
            </a:r>
          </a:p>
        </p:txBody>
      </p:sp>
      <p:sp>
        <p:nvSpPr>
          <p:cNvPr id="177" name="Loss description">
            <a:extLst xmlns:a="http://schemas.openxmlformats.org/drawingml/2006/main">
              <a:ext uri="{FF2B5EF4-FFF2-40B4-BE49-F238E27FC236}">
                <a16:creationId xmlns:a16="http://schemas.microsoft.com/office/drawing/2014/main" id="{351AF876-5DF8-47ED-BA1A-3916439ADC0B}"/>
              </a:ext>
            </a:extLst>
          </p:cNvPr>
          <p:cNvSpPr>
            <a:spLocks xmlns:a="http://schemas.openxmlformats.org/drawingml/2006/main" noGrp="1"/>
          </p:cNvSpPr>
          <p:nvPr/>
        </p:nvSpPr>
        <p:spPr>
          <a:xfrm xmlns:a="http://schemas.openxmlformats.org/drawingml/2006/main">
            <a:off x="5105400" y="5600700"/>
            <a:ext cx="6400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a:solidFill>
                  <a:srgbClr val="29333F"/>
                </a:solidFill>
              </a:defRPr>
            </a:defPPr>
          </a:lstStyle>
          <a:p xmlns:a="http://schemas.openxmlformats.org/drawingml/2006/main">
            <a:pPr>
              <a:defRPr sz="1950">
                <a:solidFill>
                  <a:srgbClr val="29333F"/>
                </a:solidFill>
              </a:defRPr>
            </a:pPr>
            <a:r>
              <a:rPr sz="1950">
                <a:solidFill>
                  <a:srgbClr val="29333F"/>
                </a:solidFill>
              </a:rPr>
              <a:t>Relative P@10 reduction across all 18 pairs.</a:t>
            </a:r>
          </a:p>
          <a:p xmlns:a="http://schemas.openxmlformats.org/drawingml/2006/main">
            <a:pPr>
              <a:defRPr sz="1950">
                <a:solidFill>
                  <a:srgbClr val="29333F"/>
                </a:solidFill>
              </a:defRPr>
            </a:pPr>
            <a:r>
              <a:rPr sz="1950">
                <a:solidFill>
                  <a:srgbClr val="29333F"/>
                </a:solidFill>
              </a:rPr>
              <a:t>Every decline survives Holm correction.</a:t>
            </a:r>
          </a:p>
        </p:txBody>
      </p:sp>
    </p:spTree>
    <p:extLst>
      <p:ext uri="{BB962C8B-B14F-4D97-AF65-F5344CB8AC3E}">
        <p14:creationId xmlns:p14="http://schemas.microsoft.com/office/powerpoint/2010/main" val="2089114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Contrastive versus classification adaptation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DB7BEEEC-A170-5376-2B6E-CB54687B0CB1}" type="slidenum">
              <a:rPr sz="1800" b="1">
                <a:solidFill>
                  <a:schemeClr val="accent1"/>
                </a:solidFill>
              </a:rPr>
              <a:t>10</a:t>
            </a:fld>
            <a:endParaRPr sz="1800" b="1"/>
          </a:p>
        </p:txBody>
      </p:sp>
      <p:sp>
        <p:nvSpPr>
          <p:cNvPr id="175" name="Comparison setup">
            <a:extLst xmlns:a="http://schemas.openxmlformats.org/drawingml/2006/main">
              <a:ext uri="{FF2B5EF4-FFF2-40B4-BE49-F238E27FC236}">
                <a16:creationId xmlns:a16="http://schemas.microsoft.com/office/drawing/2014/main" id="{90ADC214-EA4E-42DA-A166-30A5F8EC6952}"/>
              </a:ext>
            </a:extLst>
          </p:cNvPr>
          <p:cNvSpPr>
            <a:spLocks xmlns:a="http://schemas.openxmlformats.org/drawingml/2006/main" noGrp="1"/>
          </p:cNvSpPr>
          <p:nvPr/>
        </p:nvSpPr>
        <p:spPr>
          <a:xfrm xmlns:a="http://schemas.openxmlformats.org/drawingml/2006/main">
            <a:off x="685800" y="12573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566377"/>
                </a:solidFill>
              </a:defRPr>
            </a:defPPr>
          </a:lstStyle>
          <a:p xmlns:a="http://schemas.openxmlformats.org/drawingml/2006/main">
            <a:pPr>
              <a:defRPr sz="2025">
                <a:solidFill>
                  <a:srgbClr val="566377"/>
                </a:solidFill>
              </a:defRPr>
            </a:pPr>
            <a:r>
              <a:rPr sz="2025">
                <a:solidFill>
                  <a:srgbClr val="566377"/>
                </a:solidFill>
              </a:rPr>
              <a:t>Same SwAV initialization, NIH partitions and ResNet-50 backbone</a:t>
            </a:r>
          </a:p>
        </p:txBody>
      </p:sp>
      <p:graphicFrame>
        <p:nvGraphicFramePr>
          <p:cNvPr id="176" name="Chart">
            <a:extLst xmlns:a="http://schemas.openxmlformats.org/drawingml/2006/main">
              <a:ext uri="{FF2B5EF4-FFF2-40B4-BE49-F238E27FC236}">
                <a16:creationId xmlns:a16="http://schemas.microsoft.com/office/drawing/2014/main" id="{AC2D700F-8909-439B-BF60-16E34ECD0C7B}"/>
              </a:ext>
            </a:extLst>
          </p:cNvPr>
          <p:cNvGraphicFramePr/>
          <p:nvPr/>
        </p:nvGraphicFramePr>
        <p:xfrm>
          <a:off xmlns:a="http://schemas.openxmlformats.org/drawingml/2006/main" x="542925" y="1838325"/>
          <a:ext xmlns:a="http://schemas.openxmlformats.org/drawingml/2006/main" cx="7581900" cy="4048125"/>
        </p:xfrm>
        <a:graphic xmlns:a="http://schemas.openxmlformats.org/drawingml/2006/main">
          <a:graphicData uri="http://schemas.openxmlformats.org/drawingml/2006/chart">
            <c:chart xmlns:r="http://schemas.openxmlformats.org/officeDocument/2006/relationships" xmlns:c="http://schemas.openxmlformats.org/drawingml/2006/chart" r:id="Rf88152aac8e944ad"/>
          </a:graphicData>
        </a:graphic>
      </p:graphicFrame>
      <p:sp>
        <p:nvSpPr>
          <p:cNvPr id="177" name="Significant count">
            <a:extLst xmlns:a="http://schemas.openxmlformats.org/drawingml/2006/main">
              <a:ext uri="{FF2B5EF4-FFF2-40B4-BE49-F238E27FC236}">
                <a16:creationId xmlns:a16="http://schemas.microsoft.com/office/drawing/2014/main" id="{B7C331B6-898B-40C6-AB04-2CA18C9DBB8B}"/>
              </a:ext>
            </a:extLst>
          </p:cNvPr>
          <p:cNvSpPr>
            <a:spLocks xmlns:a="http://schemas.openxmlformats.org/drawingml/2006/main" noGrp="1"/>
          </p:cNvSpPr>
          <p:nvPr/>
        </p:nvSpPr>
        <p:spPr>
          <a:xfrm xmlns:a="http://schemas.openxmlformats.org/drawingml/2006/main">
            <a:off x="8572500" y="2085975"/>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0B2545"/>
                </a:solidFill>
              </a:defRPr>
            </a:defPPr>
          </a:lstStyle>
          <a:p xmlns:a="http://schemas.openxmlformats.org/drawingml/2006/main">
            <a:pPr>
              <a:defRPr sz="4950" b="1">
                <a:solidFill>
                  <a:srgbClr val="0B2545"/>
                </a:solidFill>
              </a:defRPr>
            </a:pPr>
            <a:r>
              <a:rPr sz="4950" b="1">
                <a:solidFill>
                  <a:srgbClr val="0B2545"/>
                </a:solidFill>
              </a:rPr>
              <a:t>10/12</a:t>
            </a:r>
          </a:p>
        </p:txBody>
      </p:sp>
      <p:sp>
        <p:nvSpPr>
          <p:cNvPr id="178" name="Significance statement">
            <a:extLst xmlns:a="http://schemas.openxmlformats.org/drawingml/2006/main">
              <a:ext uri="{FF2B5EF4-FFF2-40B4-BE49-F238E27FC236}">
                <a16:creationId xmlns:a16="http://schemas.microsoft.com/office/drawing/2014/main" id="{BAD59BAE-FDE1-453E-94C3-C99844C0EE78}"/>
              </a:ext>
            </a:extLst>
          </p:cNvPr>
          <p:cNvSpPr>
            <a:spLocks xmlns:a="http://schemas.openxmlformats.org/drawingml/2006/main" noGrp="1"/>
          </p:cNvSpPr>
          <p:nvPr/>
        </p:nvSpPr>
        <p:spPr>
          <a:xfrm xmlns:a="http://schemas.openxmlformats.org/drawingml/2006/main">
            <a:off x="8572500" y="3095625"/>
            <a:ext cx="2905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SupCon advantages</a:t>
            </a:r>
          </a:p>
          <a:p xmlns:a="http://schemas.openxmlformats.org/drawingml/2006/main">
            <a:pPr>
              <a:defRPr sz="2025">
                <a:solidFill>
                  <a:srgbClr val="29333F"/>
                </a:solidFill>
              </a:defRPr>
            </a:pPr>
            <a:r>
              <a:rPr sz="2025">
                <a:solidFill>
                  <a:srgbClr val="29333F"/>
                </a:solidFill>
              </a:rPr>
              <a:t>survive global correction</a:t>
            </a:r>
          </a:p>
          <a:p xmlns:a="http://schemas.openxmlformats.org/drawingml/2006/main">
            <a:pPr>
              <a:defRPr sz="2025">
                <a:solidFill>
                  <a:srgbClr val="29333F"/>
                </a:solidFill>
              </a:defRPr>
            </a:pPr>
            <a:r>
              <a:rPr sz="2025">
                <a:solidFill>
                  <a:srgbClr val="29333F"/>
                </a:solidFill>
              </a:rPr>
              <a:t>across all prevalence levels.</a:t>
            </a:r>
          </a:p>
        </p:txBody>
      </p:sp>
      <p:sp>
        <p:nvSpPr>
          <p:cNvPr id="179" name="Evidence note">
            <a:extLst xmlns:a="http://schemas.openxmlformats.org/drawingml/2006/main">
              <a:ext uri="{FF2B5EF4-FFF2-40B4-BE49-F238E27FC236}">
                <a16:creationId xmlns:a16="http://schemas.microsoft.com/office/drawing/2014/main" id="{D35A9F1C-3C97-4EB3-A0CE-C69488159A1E}"/>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Exceptions: cardiomegaly at 0.5% and 1%. The chart shows the 0.5% endpoint.</a:t>
            </a:r>
          </a:p>
        </p:txBody>
      </p:sp>
    </p:spTree>
    <p:extLst>
      <p:ext uri="{BB962C8B-B14F-4D97-AF65-F5344CB8AC3E}">
        <p14:creationId xmlns:p14="http://schemas.microsoft.com/office/powerpoint/2010/main" val="20891140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Above random, with low absolute precision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0394428-F1DC-E5F6-DB0C-7DE31F3D8A23}" type="slidenum">
              <a:rPr sz="1800" b="1">
                <a:solidFill>
                  <a:schemeClr val="accent1"/>
                </a:solidFill>
              </a:rPr>
              <a:t>11</a:t>
            </a:fld>
            <a:endParaRPr sz="1800" b="1"/>
          </a:p>
        </p:txBody>
      </p:sp>
      <p:sp>
        <p:nvSpPr>
          <p:cNvPr id="175" name="Setting">
            <a:extLst xmlns:a="http://schemas.openxmlformats.org/drawingml/2006/main">
              <a:ext uri="{FF2B5EF4-FFF2-40B4-BE49-F238E27FC236}">
                <a16:creationId xmlns:a16="http://schemas.microsoft.com/office/drawing/2014/main" id="{BBFC900C-8B88-423C-AB13-7A8DE8C819CB}"/>
              </a:ext>
            </a:extLst>
          </p:cNvPr>
          <p:cNvSpPr>
            <a:spLocks xmlns:a="http://schemas.openxmlformats.org/drawingml/2006/main" noGrp="1"/>
          </p:cNvSpPr>
          <p:nvPr/>
        </p:nvSpPr>
        <p:spPr>
          <a:xfrm xmlns:a="http://schemas.openxmlformats.org/drawingml/2006/main">
            <a:off x="685800" y="13239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566377"/>
                </a:solidFill>
              </a:defRPr>
            </a:defPPr>
          </a:lstStyle>
          <a:p xmlns:a="http://schemas.openxmlformats.org/drawingml/2006/main">
            <a:pPr>
              <a:defRPr sz="2100">
                <a:solidFill>
                  <a:srgbClr val="566377"/>
                </a:solidFill>
              </a:defRPr>
            </a:pPr>
            <a:r>
              <a:rPr sz="2100">
                <a:solidFill>
                  <a:srgbClr val="566377"/>
                </a:solidFill>
              </a:rPr>
              <a:t>Leading model at 0.5% prevalence: SwAV-SupCon</a:t>
            </a:r>
          </a:p>
        </p:txBody>
      </p:sp>
      <p:sp>
        <p:nvSpPr>
          <p:cNvPr id="176" name="Pathology 0">
            <a:extLst xmlns:a="http://schemas.openxmlformats.org/drawingml/2006/main">
              <a:ext uri="{FF2B5EF4-FFF2-40B4-BE49-F238E27FC236}">
                <a16:creationId xmlns:a16="http://schemas.microsoft.com/office/drawing/2014/main" id="{8A134E3C-DD65-4843-870B-86A914BDB12D}"/>
              </a:ext>
            </a:extLst>
          </p:cNvPr>
          <p:cNvSpPr>
            <a:spLocks xmlns:a="http://schemas.openxmlformats.org/drawingml/2006/main" noGrp="1"/>
          </p:cNvSpPr>
          <p:nvPr/>
        </p:nvSpPr>
        <p:spPr>
          <a:xfrm xmlns:a="http://schemas.openxmlformats.org/drawingml/2006/main">
            <a:off x="6858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Cardiomegaly</a:t>
            </a:r>
          </a:p>
        </p:txBody>
      </p:sp>
      <p:sp>
        <p:nvSpPr>
          <p:cNvPr id="177" name="Enrichment 0">
            <a:extLst xmlns:a="http://schemas.openxmlformats.org/drawingml/2006/main">
              <a:ext uri="{FF2B5EF4-FFF2-40B4-BE49-F238E27FC236}">
                <a16:creationId xmlns:a16="http://schemas.microsoft.com/office/drawing/2014/main" id="{08C305BB-13D8-45C9-9EE7-87C13C0EF6A4}"/>
              </a:ext>
            </a:extLst>
          </p:cNvPr>
          <p:cNvSpPr>
            <a:spLocks xmlns:a="http://schemas.openxmlformats.org/drawingml/2006/main" noGrp="1"/>
          </p:cNvSpPr>
          <p:nvPr/>
        </p:nvSpPr>
        <p:spPr>
          <a:xfrm xmlns:a="http://schemas.openxmlformats.org/drawingml/2006/main">
            <a:off x="6858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3.26×</a:t>
            </a:r>
          </a:p>
        </p:txBody>
      </p:sp>
      <p:sp>
        <p:nvSpPr>
          <p:cNvPr id="178" name="Enrichment label 0">
            <a:extLst xmlns:a="http://schemas.openxmlformats.org/drawingml/2006/main">
              <a:ext uri="{FF2B5EF4-FFF2-40B4-BE49-F238E27FC236}">
                <a16:creationId xmlns:a16="http://schemas.microsoft.com/office/drawing/2014/main" id="{28B1550A-B99E-4AF7-B1E4-F1B0C27C798D}"/>
              </a:ext>
            </a:extLst>
          </p:cNvPr>
          <p:cNvSpPr>
            <a:spLocks xmlns:a="http://schemas.openxmlformats.org/drawingml/2006/main" noGrp="1"/>
          </p:cNvSpPr>
          <p:nvPr/>
        </p:nvSpPr>
        <p:spPr>
          <a:xfrm xmlns:a="http://schemas.openxmlformats.org/drawingml/2006/main">
            <a:off x="6858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79" name="Precision 0">
            <a:extLst xmlns:a="http://schemas.openxmlformats.org/drawingml/2006/main">
              <a:ext uri="{FF2B5EF4-FFF2-40B4-BE49-F238E27FC236}">
                <a16:creationId xmlns:a16="http://schemas.microsoft.com/office/drawing/2014/main" id="{14776C3C-553F-4E2F-8057-5254E30BACAE}"/>
              </a:ext>
            </a:extLst>
          </p:cNvPr>
          <p:cNvSpPr>
            <a:spLocks xmlns:a="http://schemas.openxmlformats.org/drawingml/2006/main" noGrp="1"/>
          </p:cNvSpPr>
          <p:nvPr/>
        </p:nvSpPr>
        <p:spPr>
          <a:xfrm xmlns:a="http://schemas.openxmlformats.org/drawingml/2006/main">
            <a:off x="6858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0.0163</a:t>
            </a:r>
          </a:p>
        </p:txBody>
      </p:sp>
      <p:sp>
        <p:nvSpPr>
          <p:cNvPr id="180" name="Pathology 1">
            <a:extLst xmlns:a="http://schemas.openxmlformats.org/drawingml/2006/main">
              <a:ext uri="{FF2B5EF4-FFF2-40B4-BE49-F238E27FC236}">
                <a16:creationId xmlns:a16="http://schemas.microsoft.com/office/drawing/2014/main" id="{78B86F14-A253-4A0C-AF1F-98C28F8D98AA}"/>
              </a:ext>
            </a:extLst>
          </p:cNvPr>
          <p:cNvSpPr>
            <a:spLocks xmlns:a="http://schemas.openxmlformats.org/drawingml/2006/main" noGrp="1"/>
          </p:cNvSpPr>
          <p:nvPr/>
        </p:nvSpPr>
        <p:spPr>
          <a:xfrm xmlns:a="http://schemas.openxmlformats.org/drawingml/2006/main">
            <a:off x="45339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Emphysema</a:t>
            </a:r>
          </a:p>
        </p:txBody>
      </p:sp>
      <p:sp>
        <p:nvSpPr>
          <p:cNvPr id="181" name="Enrichment 1">
            <a:extLst xmlns:a="http://schemas.openxmlformats.org/drawingml/2006/main">
              <a:ext uri="{FF2B5EF4-FFF2-40B4-BE49-F238E27FC236}">
                <a16:creationId xmlns:a16="http://schemas.microsoft.com/office/drawing/2014/main" id="{C1633619-2565-4AAC-8099-EBFE70FE6770}"/>
              </a:ext>
            </a:extLst>
          </p:cNvPr>
          <p:cNvSpPr>
            <a:spLocks xmlns:a="http://schemas.openxmlformats.org/drawingml/2006/main" noGrp="1"/>
          </p:cNvSpPr>
          <p:nvPr/>
        </p:nvSpPr>
        <p:spPr>
          <a:xfrm xmlns:a="http://schemas.openxmlformats.org/drawingml/2006/main">
            <a:off x="45339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6.70×</a:t>
            </a:r>
          </a:p>
        </p:txBody>
      </p:sp>
      <p:sp>
        <p:nvSpPr>
          <p:cNvPr id="182" name="Enrichment label 1">
            <a:extLst xmlns:a="http://schemas.openxmlformats.org/drawingml/2006/main">
              <a:ext uri="{FF2B5EF4-FFF2-40B4-BE49-F238E27FC236}">
                <a16:creationId xmlns:a16="http://schemas.microsoft.com/office/drawing/2014/main" id="{2F1110B9-196F-4A87-8BEA-12284A18586B}"/>
              </a:ext>
            </a:extLst>
          </p:cNvPr>
          <p:cNvSpPr>
            <a:spLocks xmlns:a="http://schemas.openxmlformats.org/drawingml/2006/main" noGrp="1"/>
          </p:cNvSpPr>
          <p:nvPr/>
        </p:nvSpPr>
        <p:spPr>
          <a:xfrm xmlns:a="http://schemas.openxmlformats.org/drawingml/2006/main">
            <a:off x="45339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83" name="Precision 1">
            <a:extLst xmlns:a="http://schemas.openxmlformats.org/drawingml/2006/main">
              <a:ext uri="{FF2B5EF4-FFF2-40B4-BE49-F238E27FC236}">
                <a16:creationId xmlns:a16="http://schemas.microsoft.com/office/drawing/2014/main" id="{E979B30D-AB40-4D6C-8751-5786693D741C}"/>
              </a:ext>
            </a:extLst>
          </p:cNvPr>
          <p:cNvSpPr>
            <a:spLocks xmlns:a="http://schemas.openxmlformats.org/drawingml/2006/main" noGrp="1"/>
          </p:cNvSpPr>
          <p:nvPr/>
        </p:nvSpPr>
        <p:spPr>
          <a:xfrm xmlns:a="http://schemas.openxmlformats.org/drawingml/2006/main">
            <a:off x="45339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0.0335</a:t>
            </a:r>
          </a:p>
        </p:txBody>
      </p:sp>
      <p:sp>
        <p:nvSpPr>
          <p:cNvPr id="184" name="Pathology 2">
            <a:extLst xmlns:a="http://schemas.openxmlformats.org/drawingml/2006/main">
              <a:ext uri="{FF2B5EF4-FFF2-40B4-BE49-F238E27FC236}">
                <a16:creationId xmlns:a16="http://schemas.microsoft.com/office/drawing/2014/main" id="{446083C2-D3FE-4AB5-8A6A-9BB3A404A18E}"/>
              </a:ext>
            </a:extLst>
          </p:cNvPr>
          <p:cNvSpPr>
            <a:spLocks xmlns:a="http://schemas.openxmlformats.org/drawingml/2006/main" noGrp="1"/>
          </p:cNvSpPr>
          <p:nvPr/>
        </p:nvSpPr>
        <p:spPr>
          <a:xfrm xmlns:a="http://schemas.openxmlformats.org/drawingml/2006/main">
            <a:off x="8382000" y="2247900"/>
            <a:ext cx="3124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B2545"/>
                </a:solidFill>
              </a:defRPr>
            </a:defPPr>
          </a:lstStyle>
          <a:p xmlns:a="http://schemas.openxmlformats.org/drawingml/2006/main">
            <a:pPr>
              <a:defRPr sz="2325" b="1">
                <a:solidFill>
                  <a:srgbClr val="0B2545"/>
                </a:solidFill>
              </a:defRPr>
            </a:pPr>
            <a:r>
              <a:rPr sz="2325" b="1">
                <a:solidFill>
                  <a:srgbClr val="0B2545"/>
                </a:solidFill>
              </a:rPr>
              <a:t>Pneumothorax</a:t>
            </a:r>
          </a:p>
        </p:txBody>
      </p:sp>
      <p:sp>
        <p:nvSpPr>
          <p:cNvPr id="185" name="Enrichment 2">
            <a:extLst xmlns:a="http://schemas.openxmlformats.org/drawingml/2006/main">
              <a:ext uri="{FF2B5EF4-FFF2-40B4-BE49-F238E27FC236}">
                <a16:creationId xmlns:a16="http://schemas.microsoft.com/office/drawing/2014/main" id="{F1FA2CA6-4872-49B5-ACBE-3605F4251033}"/>
              </a:ext>
            </a:extLst>
          </p:cNvPr>
          <p:cNvSpPr>
            <a:spLocks xmlns:a="http://schemas.openxmlformats.org/drawingml/2006/main" noGrp="1"/>
          </p:cNvSpPr>
          <p:nvPr/>
        </p:nvSpPr>
        <p:spPr>
          <a:xfrm xmlns:a="http://schemas.openxmlformats.org/drawingml/2006/main">
            <a:off x="8382000" y="3028950"/>
            <a:ext cx="3124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326A99"/>
                </a:solidFill>
              </a:defRPr>
            </a:defPPr>
          </a:lstStyle>
          <a:p xmlns:a="http://schemas.openxmlformats.org/drawingml/2006/main">
            <a:pPr>
              <a:defRPr sz="4800" b="1">
                <a:solidFill>
                  <a:srgbClr val="326A99"/>
                </a:solidFill>
              </a:defRPr>
            </a:pPr>
            <a:r>
              <a:rPr sz="4800" b="1">
                <a:solidFill>
                  <a:srgbClr val="326A99"/>
                </a:solidFill>
              </a:rPr>
              <a:t>13.20×</a:t>
            </a:r>
          </a:p>
        </p:txBody>
      </p:sp>
      <p:sp>
        <p:nvSpPr>
          <p:cNvPr id="186" name="Enrichment label 2">
            <a:extLst xmlns:a="http://schemas.openxmlformats.org/drawingml/2006/main">
              <a:ext uri="{FF2B5EF4-FFF2-40B4-BE49-F238E27FC236}">
                <a16:creationId xmlns:a16="http://schemas.microsoft.com/office/drawing/2014/main" id="{2E1F000F-2289-46C0-A149-B15044E3D7CD}"/>
              </a:ext>
            </a:extLst>
          </p:cNvPr>
          <p:cNvSpPr>
            <a:spLocks xmlns:a="http://schemas.openxmlformats.org/drawingml/2006/main" noGrp="1"/>
          </p:cNvSpPr>
          <p:nvPr/>
        </p:nvSpPr>
        <p:spPr>
          <a:xfrm xmlns:a="http://schemas.openxmlformats.org/drawingml/2006/main">
            <a:off x="8382000" y="4029075"/>
            <a:ext cx="312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Random-ranking enrichment</a:t>
            </a:r>
          </a:p>
        </p:txBody>
      </p:sp>
      <p:sp>
        <p:nvSpPr>
          <p:cNvPr id="187" name="Precision 2">
            <a:extLst xmlns:a="http://schemas.openxmlformats.org/drawingml/2006/main">
              <a:ext uri="{FF2B5EF4-FFF2-40B4-BE49-F238E27FC236}">
                <a16:creationId xmlns:a16="http://schemas.microsoft.com/office/drawing/2014/main" id="{8F9B325A-E4BF-4E9B-B585-8162423DED1D}"/>
              </a:ext>
            </a:extLst>
          </p:cNvPr>
          <p:cNvSpPr>
            <a:spLocks xmlns:a="http://schemas.openxmlformats.org/drawingml/2006/main" noGrp="1"/>
          </p:cNvSpPr>
          <p:nvPr/>
        </p:nvSpPr>
        <p:spPr>
          <a:xfrm xmlns:a="http://schemas.openxmlformats.org/drawingml/2006/main">
            <a:off x="8382000" y="4838700"/>
            <a:ext cx="3124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Precision@10 = 0.0660</a:t>
            </a:r>
          </a:p>
        </p:txBody>
      </p:sp>
      <p:sp>
        <p:nvSpPr>
          <p:cNvPr id="188" name="Evidence note">
            <a:extLst xmlns:a="http://schemas.openxmlformats.org/drawingml/2006/main">
              <a:ext uri="{FF2B5EF4-FFF2-40B4-BE49-F238E27FC236}">
                <a16:creationId xmlns:a16="http://schemas.microsoft.com/office/drawing/2014/main" id="{E727DB8A-FAB0-4E18-B6D9-DFA60D1EBC9B}"/>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Random-ranking P@10 = 0.005. Enrichment alone does not establish clinical usefulness.</a:t>
            </a:r>
          </a:p>
        </p:txBody>
      </p:sp>
    </p:spTree>
    <p:extLst>
      <p:ext uri="{BB962C8B-B14F-4D97-AF65-F5344CB8AC3E}">
        <p14:creationId xmlns:p14="http://schemas.microsoft.com/office/powerpoint/2010/main" val="2089114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Absolute loss needs endpoint context</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4DB16885-0D3F-A391-B669-3211DB3B26E8}" type="slidenum">
              <a:rPr sz="1800" b="1">
                <a:solidFill>
                  <a:schemeClr val="accent1"/>
                </a:solidFill>
              </a:rPr>
              <a:t>12</a:t>
            </a:fld>
            <a:endParaRPr sz="1800" b="1"/>
          </a:p>
        </p:txBody>
      </p:sp>
      <p:sp>
        <p:nvSpPr>
          <p:cNvPr id="175" name="Example">
            <a:extLst xmlns:a="http://schemas.openxmlformats.org/drawingml/2006/main">
              <a:ext uri="{FF2B5EF4-FFF2-40B4-BE49-F238E27FC236}">
                <a16:creationId xmlns:a16="http://schemas.microsoft.com/office/drawing/2014/main" id="{CA8B748B-AC2A-418C-AFC2-BEFC4394C4A3}"/>
              </a:ext>
            </a:extLst>
          </p:cNvPr>
          <p:cNvSpPr>
            <a:spLocks xmlns:a="http://schemas.openxmlformats.org/drawingml/2006/main" noGrp="1"/>
          </p:cNvSpPr>
          <p:nvPr/>
        </p:nvSpPr>
        <p:spPr>
          <a:xfrm xmlns:a="http://schemas.openxmlformats.org/drawingml/2006/main">
            <a:off x="685800" y="12858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a:solidFill>
                  <a:srgbClr val="566377"/>
                </a:solidFill>
              </a:defRPr>
            </a:defPPr>
          </a:lstStyle>
          <a:p xmlns:a="http://schemas.openxmlformats.org/drawingml/2006/main">
            <a:pPr>
              <a:defRPr sz="2175">
                <a:solidFill>
                  <a:srgbClr val="566377"/>
                </a:solidFill>
              </a:defRPr>
            </a:pPr>
            <a:r>
              <a:rPr sz="2175">
                <a:solidFill>
                  <a:srgbClr val="566377"/>
                </a:solidFill>
              </a:rPr>
              <a:t>Pneumothorax example</a:t>
            </a:r>
          </a:p>
        </p:txBody>
      </p:sp>
      <p:graphicFrame>
        <p:nvGraphicFramePr>
          <p:cNvPr id="176" name="Chart">
            <a:extLst xmlns:a="http://schemas.openxmlformats.org/drawingml/2006/main">
              <a:ext uri="{FF2B5EF4-FFF2-40B4-BE49-F238E27FC236}">
                <a16:creationId xmlns:a16="http://schemas.microsoft.com/office/drawing/2014/main" id="{9F0EE192-ED61-4418-84A9-9E99DACEF7FD}"/>
              </a:ext>
            </a:extLst>
          </p:cNvPr>
          <p:cNvGraphicFramePr/>
          <p:nvPr/>
        </p:nvGraphicFramePr>
        <p:xfrm>
          <a:off xmlns:a="http://schemas.openxmlformats.org/drawingml/2006/main" x="552450" y="1933575"/>
          <a:ext xmlns:a="http://schemas.openxmlformats.org/drawingml/2006/main" cx="7543800" cy="3952875"/>
        </p:xfrm>
        <a:graphic xmlns:a="http://schemas.openxmlformats.org/drawingml/2006/main">
          <a:graphicData uri="http://schemas.openxmlformats.org/drawingml/2006/chart">
            <c:chart xmlns:r="http://schemas.openxmlformats.org/officeDocument/2006/relationships" xmlns:c="http://schemas.openxmlformats.org/drawingml/2006/chart" r:id="Rd2cb1917477a408b"/>
          </a:graphicData>
        </a:graphic>
      </p:graphicFrame>
      <p:sp>
        <p:nvSpPr>
          <p:cNvPr id="177" name="Loss heading">
            <a:extLst xmlns:a="http://schemas.openxmlformats.org/drawingml/2006/main">
              <a:ext uri="{FF2B5EF4-FFF2-40B4-BE49-F238E27FC236}">
                <a16:creationId xmlns:a16="http://schemas.microsoft.com/office/drawing/2014/main" id="{2685E045-0EE0-4F0E-8A32-38516B9D60C3}"/>
              </a:ext>
            </a:extLst>
          </p:cNvPr>
          <p:cNvSpPr>
            <a:spLocks xmlns:a="http://schemas.openxmlformats.org/drawingml/2006/main" noGrp="1"/>
          </p:cNvSpPr>
          <p:nvPr/>
        </p:nvSpPr>
        <p:spPr>
          <a:xfrm xmlns:a="http://schemas.openxmlformats.org/drawingml/2006/main">
            <a:off x="8572500" y="2076450"/>
            <a:ext cx="295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2545"/>
                </a:solidFill>
              </a:defRPr>
            </a:defPPr>
          </a:lstStyle>
          <a:p xmlns:a="http://schemas.openxmlformats.org/drawingml/2006/main">
            <a:pPr>
              <a:defRPr sz="2025" b="1">
                <a:solidFill>
                  <a:srgbClr val="0B2545"/>
                </a:solidFill>
              </a:defRPr>
            </a:pPr>
            <a:r>
              <a:rPr sz="2025" b="1">
                <a:solidFill>
                  <a:srgbClr val="0B2545"/>
                </a:solidFill>
              </a:rPr>
              <a:t>Absolute P@10 loss</a:t>
            </a:r>
          </a:p>
        </p:txBody>
      </p:sp>
      <p:sp>
        <p:nvSpPr>
          <p:cNvPr id="178" name="Cls loss">
            <a:extLst xmlns:a="http://schemas.openxmlformats.org/drawingml/2006/main">
              <a:ext uri="{FF2B5EF4-FFF2-40B4-BE49-F238E27FC236}">
                <a16:creationId xmlns:a16="http://schemas.microsoft.com/office/drawing/2014/main" id="{F8B6EE36-BED4-4CAE-AAAC-494A0E1817EB}"/>
              </a:ext>
            </a:extLst>
          </p:cNvPr>
          <p:cNvSpPr>
            <a:spLocks xmlns:a="http://schemas.openxmlformats.org/drawingml/2006/main" noGrp="1"/>
          </p:cNvSpPr>
          <p:nvPr/>
        </p:nvSpPr>
        <p:spPr>
          <a:xfrm xmlns:a="http://schemas.openxmlformats.org/drawingml/2006/main">
            <a:off x="8572500" y="276225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SwAV-CLS</a:t>
            </a:r>
          </a:p>
          <a:p xmlns:a="http://schemas.openxmlformats.org/drawingml/2006/main">
            <a:pPr>
              <a:defRPr sz="2250">
                <a:solidFill>
                  <a:srgbClr val="29333F"/>
                </a:solidFill>
              </a:defRPr>
            </a:pPr>
            <a:r>
              <a:rPr sz="2250">
                <a:solidFill>
                  <a:srgbClr val="29333F"/>
                </a:solidFill>
              </a:rPr>
              <a:t>0.2841</a:t>
            </a:r>
          </a:p>
        </p:txBody>
      </p:sp>
      <p:sp>
        <p:nvSpPr>
          <p:cNvPr id="179" name="Supcon loss">
            <a:extLst xmlns:a="http://schemas.openxmlformats.org/drawingml/2006/main">
              <a:ext uri="{FF2B5EF4-FFF2-40B4-BE49-F238E27FC236}">
                <a16:creationId xmlns:a16="http://schemas.microsoft.com/office/drawing/2014/main" id="{1DB3A302-A95D-45D4-ADA1-399B76C18D01}"/>
              </a:ext>
            </a:extLst>
          </p:cNvPr>
          <p:cNvSpPr>
            <a:spLocks xmlns:a="http://schemas.openxmlformats.org/drawingml/2006/main" noGrp="1"/>
          </p:cNvSpPr>
          <p:nvPr/>
        </p:nvSpPr>
        <p:spPr>
          <a:xfrm xmlns:a="http://schemas.openxmlformats.org/drawingml/2006/main">
            <a:off x="8572500" y="3981450"/>
            <a:ext cx="2952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B2545"/>
                </a:solidFill>
              </a:defRPr>
            </a:defPPr>
          </a:lstStyle>
          <a:p xmlns:a="http://schemas.openxmlformats.org/drawingml/2006/main">
            <a:pPr>
              <a:defRPr sz="2250" b="1">
                <a:solidFill>
                  <a:srgbClr val="0B2545"/>
                </a:solidFill>
              </a:defRPr>
            </a:pPr>
            <a:r>
              <a:rPr sz="2250" b="1">
                <a:solidFill>
                  <a:srgbClr val="0B2545"/>
                </a:solidFill>
              </a:rPr>
              <a:t>SwAV-SupCon</a:t>
            </a:r>
          </a:p>
          <a:p xmlns:a="http://schemas.openxmlformats.org/drawingml/2006/main">
            <a:pPr>
              <a:defRPr sz="2250" b="1">
                <a:solidFill>
                  <a:srgbClr val="0B2545"/>
                </a:solidFill>
              </a:defRPr>
            </a:pPr>
            <a:r>
              <a:rPr sz="2250" b="1">
                <a:solidFill>
                  <a:srgbClr val="0B2545"/>
                </a:solidFill>
              </a:rPr>
              <a:t>0.3480</a:t>
            </a:r>
          </a:p>
        </p:txBody>
      </p:sp>
      <p:sp>
        <p:nvSpPr>
          <p:cNvPr id="180" name="Evidence note">
            <a:extLst xmlns:a="http://schemas.openxmlformats.org/drawingml/2006/main">
              <a:ext uri="{FF2B5EF4-FFF2-40B4-BE49-F238E27FC236}">
                <a16:creationId xmlns:a16="http://schemas.microsoft.com/office/drawing/2014/main" id="{9780E4D9-4214-4501-8923-636EE3FF5764}"/>
              </a:ext>
            </a:extLst>
          </p:cNvPr>
          <p:cNvSpPr>
            <a:spLocks xmlns:a="http://schemas.openxmlformats.org/drawingml/2006/main" noGrp="1"/>
          </p:cNvSpPr>
          <p:nvPr/>
        </p:nvSpPr>
        <p:spPr>
          <a:xfrm xmlns:a="http://schemas.openxmlformats.org/drawingml/2006/main">
            <a:off x="685800" y="6276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a:solidFill>
                  <a:srgbClr val="566377"/>
                </a:solidFill>
              </a:defRPr>
            </a:defPPr>
          </a:lstStyle>
          <a:p xmlns:a="http://schemas.openxmlformats.org/drawingml/2006/main">
            <a:pPr>
              <a:defRPr sz="1575">
                <a:solidFill>
                  <a:srgbClr val="566377"/>
                </a:solidFill>
              </a:defRPr>
            </a:pPr>
            <a:r>
              <a:rPr sz="1575">
                <a:solidFill>
                  <a:srgbClr val="566377"/>
                </a:solidFill>
              </a:rPr>
              <a:t>SupCon loses more in absolute terms while retaining higher precision at both endpoints.</a:t>
            </a:r>
          </a:p>
        </p:txBody>
      </p:sp>
    </p:spTree>
    <p:extLst>
      <p:ext uri="{BB962C8B-B14F-4D97-AF65-F5344CB8AC3E}">
        <p14:creationId xmlns:p14="http://schemas.microsoft.com/office/powerpoint/2010/main" val="2089114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Limits on interpretation</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2DD23107-4986-8758-3A93-3D74F35908CC}" type="slidenum">
              <a:rPr sz="1800" b="1">
                <a:solidFill>
                  <a:schemeClr val="accent1"/>
                </a:solidFill>
              </a:rPr>
              <a:t>13</a:t>
            </a:fld>
            <a:endParaRPr sz="1800" b="1"/>
          </a:p>
        </p:txBody>
      </p:sp>
      <p:sp>
        <p:nvSpPr>
          <p:cNvPr id="175" name="Limit heading 0">
            <a:extLst xmlns:a="http://schemas.openxmlformats.org/drawingml/2006/main">
              <a:ext uri="{FF2B5EF4-FFF2-40B4-BE49-F238E27FC236}">
                <a16:creationId xmlns:a16="http://schemas.microsoft.com/office/drawing/2014/main" id="{82798A85-2796-40E5-84DD-D734FF415766}"/>
              </a:ext>
            </a:extLst>
          </p:cNvPr>
          <p:cNvSpPr>
            <a:spLocks xmlns:a="http://schemas.openxmlformats.org/drawingml/2006/main" noGrp="1"/>
          </p:cNvSpPr>
          <p:nvPr/>
        </p:nvSpPr>
        <p:spPr>
          <a:xfrm xmlns:a="http://schemas.openxmlformats.org/drawingml/2006/main">
            <a:off x="685800" y="14097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Training uncertainty</a:t>
            </a:r>
          </a:p>
        </p:txBody>
      </p:sp>
      <p:sp>
        <p:nvSpPr>
          <p:cNvPr id="176" name="Limit text 0">
            <a:extLst xmlns:a="http://schemas.openxmlformats.org/drawingml/2006/main">
              <a:ext uri="{FF2B5EF4-FFF2-40B4-BE49-F238E27FC236}">
                <a16:creationId xmlns:a16="http://schemas.microsoft.com/office/drawing/2014/main" id="{FF1ACAC2-19F0-41F6-8198-24B6B2AED11E}"/>
              </a:ext>
            </a:extLst>
          </p:cNvPr>
          <p:cNvSpPr>
            <a:spLocks xmlns:a="http://schemas.openxmlformats.org/drawingml/2006/main" noGrp="1"/>
          </p:cNvSpPr>
          <p:nvPr/>
        </p:nvSpPr>
        <p:spPr>
          <a:xfrm xmlns:a="http://schemas.openxmlformats.org/drawingml/2006/main">
            <a:off x="4324350" y="14097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One fitted checkpoint per learned condition. Five gallery seeds do not estimate retraining variability.</a:t>
            </a:r>
          </a:p>
        </p:txBody>
      </p:sp>
      <p:sp>
        <p:nvSpPr>
          <p:cNvPr id="177" name="Limit heading 1">
            <a:extLst xmlns:a="http://schemas.openxmlformats.org/drawingml/2006/main">
              <a:ext uri="{FF2B5EF4-FFF2-40B4-BE49-F238E27FC236}">
                <a16:creationId xmlns:a16="http://schemas.microsoft.com/office/drawing/2014/main" id="{F56CA7BE-8B52-47C2-A614-39DAC334BF8B}"/>
              </a:ext>
            </a:extLst>
          </p:cNvPr>
          <p:cNvSpPr>
            <a:spLocks xmlns:a="http://schemas.openxmlformats.org/drawingml/2006/main" noGrp="1"/>
          </p:cNvSpPr>
          <p:nvPr/>
        </p:nvSpPr>
        <p:spPr>
          <a:xfrm xmlns:a="http://schemas.openxmlformats.org/drawingml/2006/main">
            <a:off x="685800" y="26670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Source confounding</a:t>
            </a:r>
          </a:p>
        </p:txBody>
      </p:sp>
      <p:sp>
        <p:nvSpPr>
          <p:cNvPr id="178" name="Limit text 1">
            <a:extLst xmlns:a="http://schemas.openxmlformats.org/drawingml/2006/main">
              <a:ext uri="{FF2B5EF4-FFF2-40B4-BE49-F238E27FC236}">
                <a16:creationId xmlns:a16="http://schemas.microsoft.com/office/drawing/2014/main" id="{67DB4D08-7F88-4B76-9DB7-28C353E9A586}"/>
              </a:ext>
            </a:extLst>
          </p:cNvPr>
          <p:cNvSpPr>
            <a:spLocks xmlns:a="http://schemas.openxmlformats.org/drawingml/2006/main" noGrp="1"/>
          </p:cNvSpPr>
          <p:nvPr/>
        </p:nvSpPr>
        <p:spPr>
          <a:xfrm xmlns:a="http://schemas.openxmlformats.org/drawingml/2006/main">
            <a:off x="4324350" y="26670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SIIM supplies pneumothorax queries and NIH supplies relevant images. Source and retrieval role remain aligned.</a:t>
            </a:r>
          </a:p>
        </p:txBody>
      </p:sp>
      <p:sp>
        <p:nvSpPr>
          <p:cNvPr id="179" name="Limit heading 2">
            <a:extLst xmlns:a="http://schemas.openxmlformats.org/drawingml/2006/main">
              <a:ext uri="{FF2B5EF4-FFF2-40B4-BE49-F238E27FC236}">
                <a16:creationId xmlns:a16="http://schemas.microsoft.com/office/drawing/2014/main" id="{4BE8A2A2-65E4-404D-80A2-35842E4AB9C6}"/>
              </a:ext>
            </a:extLst>
          </p:cNvPr>
          <p:cNvSpPr>
            <a:spLocks xmlns:a="http://schemas.openxmlformats.org/drawingml/2006/main" noGrp="1"/>
          </p:cNvSpPr>
          <p:nvPr/>
        </p:nvSpPr>
        <p:spPr>
          <a:xfrm xmlns:a="http://schemas.openxmlformats.org/drawingml/2006/main">
            <a:off x="685800" y="39243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Labels and zero-shot scope</a:t>
            </a:r>
          </a:p>
        </p:txBody>
      </p:sp>
      <p:sp>
        <p:nvSpPr>
          <p:cNvPr id="180" name="Limit text 2">
            <a:extLst xmlns:a="http://schemas.openxmlformats.org/drawingml/2006/main">
              <a:ext uri="{FF2B5EF4-FFF2-40B4-BE49-F238E27FC236}">
                <a16:creationId xmlns:a16="http://schemas.microsoft.com/office/drawing/2014/main" id="{D8E3930C-B68E-41DC-83E9-6F83FBA941BD}"/>
              </a:ext>
            </a:extLst>
          </p:cNvPr>
          <p:cNvSpPr>
            <a:spLocks xmlns:a="http://schemas.openxmlformats.org/drawingml/2006/main" noGrp="1"/>
          </p:cNvSpPr>
          <p:nvPr/>
        </p:nvSpPr>
        <p:spPr>
          <a:xfrm xmlns:a="http://schemas.openxmlformats.org/drawingml/2006/main">
            <a:off x="4324350" y="39243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Target labels are absent from available fine-tuning annotations. Unrecorded target findings may still be present.</a:t>
            </a:r>
          </a:p>
        </p:txBody>
      </p:sp>
      <p:sp>
        <p:nvSpPr>
          <p:cNvPr id="181" name="Limit heading 3">
            <a:extLst xmlns:a="http://schemas.openxmlformats.org/drawingml/2006/main">
              <a:ext uri="{FF2B5EF4-FFF2-40B4-BE49-F238E27FC236}">
                <a16:creationId xmlns:a16="http://schemas.microsoft.com/office/drawing/2014/main" id="{8142B9B4-D482-4FEE-A934-1D7B6DE0396E}"/>
              </a:ext>
            </a:extLst>
          </p:cNvPr>
          <p:cNvSpPr>
            <a:spLocks xmlns:a="http://schemas.openxmlformats.org/drawingml/2006/main" noGrp="1"/>
          </p:cNvSpPr>
          <p:nvPr/>
        </p:nvSpPr>
        <p:spPr>
          <a:xfrm xmlns:a="http://schemas.openxmlformats.org/drawingml/2006/main">
            <a:off x="685800" y="5181600"/>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Clinical relevance</a:t>
            </a:r>
          </a:p>
        </p:txBody>
      </p:sp>
      <p:sp>
        <p:nvSpPr>
          <p:cNvPr id="182" name="Limit text 3">
            <a:extLst xmlns:a="http://schemas.openxmlformats.org/drawingml/2006/main">
              <a:ext uri="{FF2B5EF4-FFF2-40B4-BE49-F238E27FC236}">
                <a16:creationId xmlns:a16="http://schemas.microsoft.com/office/drawing/2014/main" id="{71C2917A-5BB8-4669-91AF-3B02D15F43BB}"/>
              </a:ext>
            </a:extLst>
          </p:cNvPr>
          <p:cNvSpPr>
            <a:spLocks xmlns:a="http://schemas.openxmlformats.org/drawingml/2006/main" noGrp="1"/>
          </p:cNvSpPr>
          <p:nvPr/>
        </p:nvSpPr>
        <p:spPr>
          <a:xfrm xmlns:a="http://schemas.openxmlformats.org/drawingml/2006/main">
            <a:off x="4324350" y="5181600"/>
            <a:ext cx="71818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a:solidFill>
                  <a:srgbClr val="29333F"/>
                </a:solidFill>
              </a:defRPr>
            </a:defPPr>
          </a:lstStyle>
          <a:p xmlns:a="http://schemas.openxmlformats.org/drawingml/2006/main">
            <a:pPr>
              <a:defRPr sz="2100">
                <a:solidFill>
                  <a:srgbClr val="29333F"/>
                </a:solidFill>
              </a:defRPr>
            </a:pPr>
            <a:r>
              <a:rPr sz="2100">
                <a:solidFill>
                  <a:srgbClr val="29333F"/>
                </a:solidFill>
              </a:rPr>
              <a:t>Binary recorded labels define relevance. No radiologist evaluated clinical similarity or diagnostic benefit.</a:t>
            </a:r>
          </a:p>
        </p:txBody>
      </p:sp>
    </p:spTree>
    <p:extLst>
      <p:ext uri="{BB962C8B-B14F-4D97-AF65-F5344CB8AC3E}">
        <p14:creationId xmlns:p14="http://schemas.microsoft.com/office/powerpoint/2010/main" val="20891140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Conclusions and next experiments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327921A4-25C4-3DB4-06B1-32693CEE2241}" type="slidenum">
              <a:rPr sz="1800" b="1">
                <a:solidFill>
                  <a:schemeClr val="accent1"/>
                </a:solidFill>
              </a:rPr>
              <a:t>14</a:t>
            </a:fld>
            <a:endParaRPr sz="1800" b="1"/>
          </a:p>
        </p:txBody>
      </p:sp>
      <p:sp>
        <p:nvSpPr>
          <p:cNvPr id="175" name="Main conclusion">
            <a:extLst xmlns:a="http://schemas.openxmlformats.org/drawingml/2006/main">
              <a:ext uri="{FF2B5EF4-FFF2-40B4-BE49-F238E27FC236}">
                <a16:creationId xmlns:a16="http://schemas.microsoft.com/office/drawing/2014/main" id="{B75BF928-773F-4F3E-83F9-7CF716904403}"/>
              </a:ext>
            </a:extLst>
          </p:cNvPr>
          <p:cNvSpPr>
            <a:spLocks xmlns:a="http://schemas.openxmlformats.org/drawingml/2006/main" noGrp="1"/>
          </p:cNvSpPr>
          <p:nvPr/>
        </p:nvSpPr>
        <p:spPr>
          <a:xfrm xmlns:a="http://schemas.openxmlformats.org/drawingml/2006/main">
            <a:off x="685800" y="1466850"/>
            <a:ext cx="108204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B2545"/>
                </a:solidFill>
              </a:defRPr>
            </a:defPPr>
          </a:lstStyle>
          <a:p xmlns:a="http://schemas.openxmlformats.org/drawingml/2006/main">
            <a:pPr>
              <a:defRPr sz="3300" b="1">
                <a:solidFill>
                  <a:srgbClr val="0B2545"/>
                </a:solidFill>
              </a:defRPr>
            </a:pPr>
            <a:r>
              <a:rPr sz="3300" b="1">
                <a:solidFill>
                  <a:srgbClr val="0B2545"/>
                </a:solidFill>
              </a:rPr>
              <a:t>Gallery prevalence belongs in</a:t>
            </a:r>
          </a:p>
          <a:p xmlns:a="http://schemas.openxmlformats.org/drawingml/2006/main">
            <a:pPr>
              <a:defRPr sz="3300" b="1">
                <a:solidFill>
                  <a:srgbClr val="0B2545"/>
                </a:solidFill>
              </a:defRPr>
            </a:pPr>
            <a:r>
              <a:rPr sz="3300" b="1">
                <a:solidFill>
                  <a:srgbClr val="0B2545"/>
                </a:solidFill>
              </a:rPr>
              <a:t>the retrieval benchmark.</a:t>
            </a:r>
          </a:p>
        </p:txBody>
      </p:sp>
      <p:sp>
        <p:nvSpPr>
          <p:cNvPr id="176" name="Conclusion evidence">
            <a:extLst xmlns:a="http://schemas.openxmlformats.org/drawingml/2006/main">
              <a:ext uri="{FF2B5EF4-FFF2-40B4-BE49-F238E27FC236}">
                <a16:creationId xmlns:a16="http://schemas.microsoft.com/office/drawing/2014/main" id="{64B758C1-B0DD-41CF-A551-61567D758C06}"/>
              </a:ext>
            </a:extLst>
          </p:cNvPr>
          <p:cNvSpPr>
            <a:spLocks xmlns:a="http://schemas.openxmlformats.org/drawingml/2006/main" noGrp="1"/>
          </p:cNvSpPr>
          <p:nvPr/>
        </p:nvSpPr>
        <p:spPr>
          <a:xfrm xmlns:a="http://schemas.openxmlformats.org/drawingml/2006/main">
            <a:off x="685800" y="28765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Precision and ranking quality decline across every evaluated</a:t>
            </a:r>
          </a:p>
          <a:p xmlns:a="http://schemas.openxmlformats.org/drawingml/2006/main">
            <a:pPr>
              <a:defRPr sz="2250">
                <a:solidFill>
                  <a:srgbClr val="29333F"/>
                </a:solidFill>
              </a:defRPr>
            </a:pPr>
            <a:r>
              <a:rPr sz="2250">
                <a:solidFill>
                  <a:srgbClr val="29333F"/>
                </a:solidFill>
              </a:rPr>
              <a:t>model–pathology pair as the target share falls.</a:t>
            </a:r>
          </a:p>
        </p:txBody>
      </p:sp>
      <p:sp>
        <p:nvSpPr>
          <p:cNvPr id="177" name="Adaptation conclusion">
            <a:extLst xmlns:a="http://schemas.openxmlformats.org/drawingml/2006/main">
              <a:ext uri="{FF2B5EF4-FFF2-40B4-BE49-F238E27FC236}">
                <a16:creationId xmlns:a16="http://schemas.microsoft.com/office/drawing/2014/main" id="{3BA8262A-1BB4-4065-8572-62FE564E1BD9}"/>
              </a:ext>
            </a:extLst>
          </p:cNvPr>
          <p:cNvSpPr>
            <a:spLocks xmlns:a="http://schemas.openxmlformats.org/drawingml/2006/main" noGrp="1"/>
          </p:cNvSpPr>
          <p:nvPr/>
        </p:nvSpPr>
        <p:spPr>
          <a:xfrm xmlns:a="http://schemas.openxmlformats.org/drawingml/2006/main">
            <a:off x="685800" y="40005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9333F"/>
                </a:solidFill>
              </a:defRPr>
            </a:defPPr>
          </a:lstStyle>
          <a:p xmlns:a="http://schemas.openxmlformats.org/drawingml/2006/main">
            <a:pPr>
              <a:defRPr sz="2250">
                <a:solidFill>
                  <a:srgbClr val="29333F"/>
                </a:solidFill>
              </a:defRPr>
            </a:pPr>
            <a:r>
              <a:rPr sz="2250">
                <a:solidFill>
                  <a:srgbClr val="29333F"/>
                </a:solidFill>
              </a:rPr>
              <a:t>Contrastive adaptation leads in this study, with a significant</a:t>
            </a:r>
          </a:p>
          <a:p xmlns:a="http://schemas.openxmlformats.org/drawingml/2006/main">
            <a:pPr>
              <a:defRPr sz="2250">
                <a:solidFill>
                  <a:srgbClr val="29333F"/>
                </a:solidFill>
              </a:defRPr>
            </a:pPr>
            <a:r>
              <a:rPr sz="2250">
                <a:solidFill>
                  <a:srgbClr val="29333F"/>
                </a:solidFill>
              </a:rPr>
              <a:t>advantage over SwAV-CLS in 10 of 12 conditions.</a:t>
            </a:r>
          </a:p>
        </p:txBody>
      </p:sp>
      <p:sp>
        <p:nvSpPr>
          <p:cNvPr id="178" name="Next work label">
            <a:extLst xmlns:a="http://schemas.openxmlformats.org/drawingml/2006/main">
              <a:ext uri="{FF2B5EF4-FFF2-40B4-BE49-F238E27FC236}">
                <a16:creationId xmlns:a16="http://schemas.microsoft.com/office/drawing/2014/main" id="{4477875F-569C-4D22-B828-6E648E57329E}"/>
              </a:ext>
            </a:extLst>
          </p:cNvPr>
          <p:cNvSpPr>
            <a:spLocks xmlns:a="http://schemas.openxmlformats.org/drawingml/2006/main" noGrp="1"/>
          </p:cNvSpPr>
          <p:nvPr/>
        </p:nvSpPr>
        <p:spPr>
          <a:xfrm xmlns:a="http://schemas.openxmlformats.org/drawingml/2006/main">
            <a:off x="685800" y="53816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B2545"/>
                </a:solidFill>
              </a:defRPr>
            </a:defPPr>
          </a:lstStyle>
          <a:p xmlns:a="http://schemas.openxmlformats.org/drawingml/2006/main">
            <a:pPr>
              <a:defRPr sz="2175" b="1">
                <a:solidFill>
                  <a:srgbClr val="0B2545"/>
                </a:solidFill>
              </a:defRPr>
            </a:pPr>
            <a:r>
              <a:rPr sz="2175" b="1">
                <a:solidFill>
                  <a:srgbClr val="0B2545"/>
                </a:solidFill>
              </a:rPr>
              <a:t>Next experiments</a:t>
            </a:r>
          </a:p>
        </p:txBody>
      </p:sp>
      <p:sp>
        <p:nvSpPr>
          <p:cNvPr id="179" name="Next work text">
            <a:extLst xmlns:a="http://schemas.openxmlformats.org/drawingml/2006/main">
              <a:ext uri="{FF2B5EF4-FFF2-40B4-BE49-F238E27FC236}">
                <a16:creationId xmlns:a16="http://schemas.microsoft.com/office/drawing/2014/main" id="{D713F069-BFBD-4560-A650-25FC324CB20D}"/>
              </a:ext>
            </a:extLst>
          </p:cNvPr>
          <p:cNvSpPr>
            <a:spLocks xmlns:a="http://schemas.openxmlformats.org/drawingml/2006/main" noGrp="1"/>
          </p:cNvSpPr>
          <p:nvPr/>
        </p:nvSpPr>
        <p:spPr>
          <a:xfrm xmlns:a="http://schemas.openxmlformats.org/drawingml/2006/main">
            <a:off x="3933825" y="5362575"/>
            <a:ext cx="7572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a:solidFill>
                  <a:srgbClr val="29333F"/>
                </a:solidFill>
              </a:defRPr>
            </a:defPPr>
          </a:lstStyle>
          <a:p xmlns:a="http://schemas.openxmlformats.org/drawingml/2006/main">
            <a:pPr>
              <a:defRPr sz="2025">
                <a:solidFill>
                  <a:srgbClr val="29333F"/>
                </a:solidFill>
              </a:defRPr>
            </a:pPr>
            <a:r>
              <a:rPr sz="2025">
                <a:solidFill>
                  <a:srgbClr val="29333F"/>
                </a:solidFill>
              </a:rPr>
              <a:t>Independent training runs, stronger source controls,</a:t>
            </a:r>
          </a:p>
          <a:p xmlns:a="http://schemas.openxmlformats.org/drawingml/2006/main">
            <a:pPr>
              <a:defRPr sz="2025">
                <a:solidFill>
                  <a:srgbClr val="29333F"/>
                </a:solidFill>
              </a:defRPr>
            </a:pPr>
            <a:r>
              <a:rPr sz="2025">
                <a:solidFill>
                  <a:srgbClr val="29333F"/>
                </a:solidFill>
              </a:rPr>
              <a:t>lower relevant-case counts and clinician-assessed relevance.</a:t>
            </a:r>
          </a:p>
        </p:txBody>
      </p:sp>
    </p:spTree>
    <p:extLst>
      <p:ext uri="{BB962C8B-B14F-4D97-AF65-F5344CB8AC3E}">
        <p14:creationId xmlns:p14="http://schemas.microsoft.com/office/powerpoint/2010/main" val="20891140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1">
            <a:extLst xmlns:a="http://schemas.openxmlformats.org/drawingml/2006/main">
              <a:ext uri="{FF2B5EF4-FFF2-40B4-BE49-F238E27FC236}">
                <a16:creationId xmlns:a16="http://schemas.microsoft.com/office/drawing/2014/main" id="{A0DD12F5-0487-4559-BD41-D63E50BBBDCC}"/>
              </a:ext>
            </a:extLst>
          </p:cNvPr>
          <p:cNvSpPr>
            <a:spLocks xmlns:a="http://schemas.openxmlformats.org/drawingml/2006/main" noGrp="1"/>
          </p:cNvSpPr>
          <p:nvPr>
            <p:ph type="title" idx="104" hasCustomPrompt="1"/>
          </p:nvPr>
        </p:nvSpPr>
        <p:spPr>
          <a:xfrm xmlns:a="http://schemas.openxmlformats.org/drawingml/2006/main">
            <a:off x="619125" y="38100"/>
            <a:ext cx="1038225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l">
              <a:defRPr sz="3450">
                <a:solidFill>
                  <a:srgbClr val="FFFFFF"/>
                </a:solidFill>
              </a:defRPr>
            </a:defPPr>
          </a:lstStyle>
          <a:p xmlns:a="http://schemas.openxmlformats.org/drawingml/2006/main">
            <a:pPr marL="0" indent="0" algn="l">
              <a:buNone/>
              <a:defRPr sz="3450">
                <a:solidFill>
                  <a:srgbClr val="FFFFFF"/>
                </a:solidFill>
              </a:defRPr>
            </a:pPr>
            <a:r>
              <a:rPr sz="3450" b="0">
                <a:solidFill>
                  <a:srgbClr val="FFFFFF"/>
                </a:solidFill>
                <a:latin typeface="Roboto"/>
                <a:ea typeface="Roboto"/>
                <a:cs typeface="Roboto"/>
              </a:rPr>
              <a:t>Selected references</a:t>
            </a:r>
            <a:endParaRPr sz="3600"/>
          </a:p>
        </p:txBody>
      </p:sp>
      <p:sp>
        <p:nvSpPr>
          <p:cNvPr id="174" name="Slide Number">
            <a:extLst xmlns:a="http://schemas.openxmlformats.org/drawingml/2006/main">
              <a:ext uri="{FF2B5EF4-FFF2-40B4-BE49-F238E27FC236}">
                <a16:creationId xmlns:a16="http://schemas.microsoft.com/office/drawing/2014/main" id="{C86DF777-B9FC-4004-9CE8-5C0DD6796CD6}"/>
              </a:ext>
            </a:extLst>
          </p:cNvPr>
          <p:cNvSpPr>
            <a:spLocks xmlns:a="http://schemas.openxmlformats.org/drawingml/2006/main" noGrp="1"/>
          </p:cNvSpPr>
          <p:nvPr>
            <p:ph type="sldNum" idx="12"/>
          </p:nvPr>
        </p:nvSpPr>
        <p:spPr>
          <a:xfrm xmlns:a="http://schemas.openxmlformats.org/drawingml/2006/main">
            <a:off x="11177800" y="219500"/>
            <a:ext cx="557000" cy="557000"/>
          </a:xfrm>
          <a:prstGeom xmlns:a="http://schemas.openxmlformats.org/drawingml/2006/main" prst="ellipse">
            <a:avLst/>
          </a:prstGeom>
          <a:solidFill xmlns:a="http://schemas.openxmlformats.org/drawingml/2006/main">
            <a:schemeClr val="bg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accent1"/>
                </a:solidFill>
              </a:defRPr>
            </a:lvl1pPr>
          </a:lstStyle>
          <a:p xmlns:a="http://schemas.openxmlformats.org/drawingml/2006/main">
            <a:pPr algn="ctr">
              <a:buNone/>
            </a:pPr>
            <a:fld id="{EA83FA91-883A-0168-8075-96CEB9DCA3C2}" type="slidenum">
              <a:rPr sz="1800" b="1">
                <a:solidFill>
                  <a:schemeClr val="accent1"/>
                </a:solidFill>
              </a:rPr>
              <a:t>15</a:t>
            </a:fld>
            <a:endParaRPr sz="1800" b="1"/>
          </a:p>
        </p:txBody>
      </p:sp>
      <p:sp>
        <p:nvSpPr>
          <p:cNvPr id="175" name="Reference author 0">
            <a:extLst xmlns:a="http://schemas.openxmlformats.org/drawingml/2006/main">
              <a:ext uri="{FF2B5EF4-FFF2-40B4-BE49-F238E27FC236}">
                <a16:creationId xmlns:a16="http://schemas.microsoft.com/office/drawing/2014/main" id="{B52477AD-8768-4D7C-A958-4FB03AF3A43D}"/>
              </a:ext>
            </a:extLst>
          </p:cNvPr>
          <p:cNvSpPr>
            <a:spLocks xmlns:a="http://schemas.openxmlformats.org/drawingml/2006/main" noGrp="1"/>
          </p:cNvSpPr>
          <p:nvPr/>
        </p:nvSpPr>
        <p:spPr>
          <a:xfrm xmlns:a="http://schemas.openxmlformats.org/drawingml/2006/main">
            <a:off x="685800" y="14001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 Denner et al.</a:t>
            </a:r>
          </a:p>
        </p:txBody>
      </p:sp>
      <p:sp>
        <p:nvSpPr>
          <p:cNvPr id="176" name="Reference title 0">
            <a:extLst xmlns:a="http://schemas.openxmlformats.org/drawingml/2006/main">
              <a:ext uri="{FF2B5EF4-FFF2-40B4-BE49-F238E27FC236}">
                <a16:creationId xmlns:a16="http://schemas.microsoft.com/office/drawing/2014/main" id="{BBD0C54F-90AF-44D4-A177-1D82CAE45ABA}"/>
              </a:ext>
            </a:extLst>
          </p:cNvPr>
          <p:cNvSpPr>
            <a:spLocks xmlns:a="http://schemas.openxmlformats.org/drawingml/2006/main" noGrp="1"/>
          </p:cNvSpPr>
          <p:nvPr/>
        </p:nvSpPr>
        <p:spPr>
          <a:xfrm xmlns:a="http://schemas.openxmlformats.org/drawingml/2006/main">
            <a:off x="3476625" y="14001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Leveraging foundation models for content-based image retrieval in radiology.</a:t>
            </a:r>
          </a:p>
          <a:p xmlns:a="http://schemas.openxmlformats.org/drawingml/2006/main">
            <a:pPr>
              <a:defRPr sz="1800">
                <a:solidFill>
                  <a:srgbClr val="29333F"/>
                </a:solidFill>
              </a:defRPr>
            </a:pPr>
            <a:r>
              <a:rPr sz="1800">
                <a:solidFill>
                  <a:srgbClr val="29333F"/>
                </a:solidFill>
              </a:rPr>
              <a:t>Computers in Biology and Medicine, 2025.</a:t>
            </a:r>
          </a:p>
        </p:txBody>
      </p:sp>
      <p:sp>
        <p:nvSpPr>
          <p:cNvPr id="177" name="Reference author 1">
            <a:extLst xmlns:a="http://schemas.openxmlformats.org/drawingml/2006/main">
              <a:ext uri="{FF2B5EF4-FFF2-40B4-BE49-F238E27FC236}">
                <a16:creationId xmlns:a16="http://schemas.microsoft.com/office/drawing/2014/main" id="{600FA966-8B3F-402C-82B1-E0C05639AE24}"/>
              </a:ext>
            </a:extLst>
          </p:cNvPr>
          <p:cNvSpPr>
            <a:spLocks xmlns:a="http://schemas.openxmlformats.org/drawingml/2006/main" noGrp="1"/>
          </p:cNvSpPr>
          <p:nvPr/>
        </p:nvSpPr>
        <p:spPr>
          <a:xfrm xmlns:a="http://schemas.openxmlformats.org/drawingml/2006/main">
            <a:off x="685800" y="24288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[9] Wang et al.</a:t>
            </a:r>
          </a:p>
        </p:txBody>
      </p:sp>
      <p:sp>
        <p:nvSpPr>
          <p:cNvPr id="178" name="Reference title 1">
            <a:extLst xmlns:a="http://schemas.openxmlformats.org/drawingml/2006/main">
              <a:ext uri="{FF2B5EF4-FFF2-40B4-BE49-F238E27FC236}">
                <a16:creationId xmlns:a16="http://schemas.microsoft.com/office/drawing/2014/main" id="{3F33B9AF-5692-4ABF-B027-DDAF60950107}"/>
              </a:ext>
            </a:extLst>
          </p:cNvPr>
          <p:cNvSpPr>
            <a:spLocks xmlns:a="http://schemas.openxmlformats.org/drawingml/2006/main" noGrp="1"/>
          </p:cNvSpPr>
          <p:nvPr/>
        </p:nvSpPr>
        <p:spPr>
          <a:xfrm xmlns:a="http://schemas.openxmlformats.org/drawingml/2006/main">
            <a:off x="3476625" y="24288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ChestX-ray8: Hospital-scale chest X-ray database and benchmarks.</a:t>
            </a:r>
          </a:p>
          <a:p xmlns:a="http://schemas.openxmlformats.org/drawingml/2006/main">
            <a:pPr>
              <a:defRPr sz="1800">
                <a:solidFill>
                  <a:srgbClr val="29333F"/>
                </a:solidFill>
              </a:defRPr>
            </a:pPr>
            <a:r>
              <a:rPr sz="1800">
                <a:solidFill>
                  <a:srgbClr val="29333F"/>
                </a:solidFill>
              </a:rPr>
              <a:t>CVPR, 2017.</a:t>
            </a:r>
          </a:p>
        </p:txBody>
      </p:sp>
      <p:sp>
        <p:nvSpPr>
          <p:cNvPr id="179" name="Reference author 2">
            <a:extLst xmlns:a="http://schemas.openxmlformats.org/drawingml/2006/main">
              <a:ext uri="{FF2B5EF4-FFF2-40B4-BE49-F238E27FC236}">
                <a16:creationId xmlns:a16="http://schemas.microsoft.com/office/drawing/2014/main" id="{5540A325-1F74-43FD-9B0A-F8254CF9D634}"/>
              </a:ext>
            </a:extLst>
          </p:cNvPr>
          <p:cNvSpPr>
            <a:spLocks xmlns:a="http://schemas.openxmlformats.org/drawingml/2006/main" noGrp="1"/>
          </p:cNvSpPr>
          <p:nvPr/>
        </p:nvSpPr>
        <p:spPr>
          <a:xfrm xmlns:a="http://schemas.openxmlformats.org/drawingml/2006/main">
            <a:off x="685800" y="34575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[10] He et al.</a:t>
            </a:r>
          </a:p>
        </p:txBody>
      </p:sp>
      <p:sp>
        <p:nvSpPr>
          <p:cNvPr id="180" name="Reference title 2">
            <a:extLst xmlns:a="http://schemas.openxmlformats.org/drawingml/2006/main">
              <a:ext uri="{FF2B5EF4-FFF2-40B4-BE49-F238E27FC236}">
                <a16:creationId xmlns:a16="http://schemas.microsoft.com/office/drawing/2014/main" id="{4949A091-38C5-4C28-B494-C136AFE22A8C}"/>
              </a:ext>
            </a:extLst>
          </p:cNvPr>
          <p:cNvSpPr>
            <a:spLocks xmlns:a="http://schemas.openxmlformats.org/drawingml/2006/main" noGrp="1"/>
          </p:cNvSpPr>
          <p:nvPr/>
        </p:nvSpPr>
        <p:spPr>
          <a:xfrm xmlns:a="http://schemas.openxmlformats.org/drawingml/2006/main">
            <a:off x="3476625" y="34575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Deep residual learning for image recognition.</a:t>
            </a:r>
          </a:p>
          <a:p xmlns:a="http://schemas.openxmlformats.org/drawingml/2006/main">
            <a:pPr>
              <a:defRPr sz="1800">
                <a:solidFill>
                  <a:srgbClr val="29333F"/>
                </a:solidFill>
              </a:defRPr>
            </a:pPr>
            <a:r>
              <a:rPr sz="1800">
                <a:solidFill>
                  <a:srgbClr val="29333F"/>
                </a:solidFill>
              </a:rPr>
              <a:t>CVPR, 2016.</a:t>
            </a:r>
          </a:p>
        </p:txBody>
      </p:sp>
      <p:sp>
        <p:nvSpPr>
          <p:cNvPr id="181" name="Reference author 3">
            <a:extLst xmlns:a="http://schemas.openxmlformats.org/drawingml/2006/main">
              <a:ext uri="{FF2B5EF4-FFF2-40B4-BE49-F238E27FC236}">
                <a16:creationId xmlns:a16="http://schemas.microsoft.com/office/drawing/2014/main" id="{C54E9800-C503-4904-AB99-CCCC80E97A87}"/>
              </a:ext>
            </a:extLst>
          </p:cNvPr>
          <p:cNvSpPr>
            <a:spLocks xmlns:a="http://schemas.openxmlformats.org/drawingml/2006/main" noGrp="1"/>
          </p:cNvSpPr>
          <p:nvPr/>
        </p:nvSpPr>
        <p:spPr>
          <a:xfrm xmlns:a="http://schemas.openxmlformats.org/drawingml/2006/main">
            <a:off x="685800" y="44862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[11] Caron et al.</a:t>
            </a:r>
          </a:p>
        </p:txBody>
      </p:sp>
      <p:sp>
        <p:nvSpPr>
          <p:cNvPr id="182" name="Reference title 3">
            <a:extLst xmlns:a="http://schemas.openxmlformats.org/drawingml/2006/main">
              <a:ext uri="{FF2B5EF4-FFF2-40B4-BE49-F238E27FC236}">
                <a16:creationId xmlns:a16="http://schemas.microsoft.com/office/drawing/2014/main" id="{55247264-C766-4F60-BD09-18E67C91DA56}"/>
              </a:ext>
            </a:extLst>
          </p:cNvPr>
          <p:cNvSpPr>
            <a:spLocks xmlns:a="http://schemas.openxmlformats.org/drawingml/2006/main" noGrp="1"/>
          </p:cNvSpPr>
          <p:nvPr/>
        </p:nvSpPr>
        <p:spPr>
          <a:xfrm xmlns:a="http://schemas.openxmlformats.org/drawingml/2006/main">
            <a:off x="3476625" y="44862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Unsupervised learning of visual features by contrasting cluster assignments.</a:t>
            </a:r>
          </a:p>
          <a:p xmlns:a="http://schemas.openxmlformats.org/drawingml/2006/main">
            <a:pPr>
              <a:defRPr sz="1800">
                <a:solidFill>
                  <a:srgbClr val="29333F"/>
                </a:solidFill>
              </a:defRPr>
            </a:pPr>
            <a:r>
              <a:rPr sz="1800">
                <a:solidFill>
                  <a:srgbClr val="29333F"/>
                </a:solidFill>
              </a:rPr>
              <a:t>NeurIPS, 2020.</a:t>
            </a:r>
          </a:p>
        </p:txBody>
      </p:sp>
      <p:sp>
        <p:nvSpPr>
          <p:cNvPr id="183" name="Reference author 4">
            <a:extLst xmlns:a="http://schemas.openxmlformats.org/drawingml/2006/main">
              <a:ext uri="{FF2B5EF4-FFF2-40B4-BE49-F238E27FC236}">
                <a16:creationId xmlns:a16="http://schemas.microsoft.com/office/drawing/2014/main" id="{7904D5E1-4067-407D-A36B-54DEC4B77731}"/>
              </a:ext>
            </a:extLst>
          </p:cNvPr>
          <p:cNvSpPr>
            <a:spLocks xmlns:a="http://schemas.openxmlformats.org/drawingml/2006/main" noGrp="1"/>
          </p:cNvSpPr>
          <p:nvPr/>
        </p:nvSpPr>
        <p:spPr>
          <a:xfrm xmlns:a="http://schemas.openxmlformats.org/drawingml/2006/main">
            <a:off x="685800" y="55149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0B2545"/>
                </a:solidFill>
              </a:defRPr>
            </a:defPPr>
          </a:lstStyle>
          <a:p xmlns:a="http://schemas.openxmlformats.org/drawingml/2006/main">
            <a:pPr>
              <a:defRPr sz="1875" b="1">
                <a:solidFill>
                  <a:srgbClr val="0B2545"/>
                </a:solidFill>
              </a:defRPr>
            </a:pPr>
            <a:r>
              <a:rPr sz="1875" b="1">
                <a:solidFill>
                  <a:srgbClr val="0B2545"/>
                </a:solidFill>
              </a:rPr>
              <a:t>[12] Khosla et al.</a:t>
            </a:r>
          </a:p>
        </p:txBody>
      </p:sp>
      <p:sp>
        <p:nvSpPr>
          <p:cNvPr id="184" name="Reference title 4">
            <a:extLst xmlns:a="http://schemas.openxmlformats.org/drawingml/2006/main">
              <a:ext uri="{FF2B5EF4-FFF2-40B4-BE49-F238E27FC236}">
                <a16:creationId xmlns:a16="http://schemas.microsoft.com/office/drawing/2014/main" id="{166E5868-7067-4DE8-88BE-1340A85F5E0F}"/>
              </a:ext>
            </a:extLst>
          </p:cNvPr>
          <p:cNvSpPr>
            <a:spLocks xmlns:a="http://schemas.openxmlformats.org/drawingml/2006/main" noGrp="1"/>
          </p:cNvSpPr>
          <p:nvPr/>
        </p:nvSpPr>
        <p:spPr>
          <a:xfrm xmlns:a="http://schemas.openxmlformats.org/drawingml/2006/main">
            <a:off x="3476625" y="5514975"/>
            <a:ext cx="80295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a:solidFill>
                  <a:srgbClr val="29333F"/>
                </a:solidFill>
              </a:defRPr>
            </a:defPPr>
          </a:lstStyle>
          <a:p xmlns:a="http://schemas.openxmlformats.org/drawingml/2006/main">
            <a:pPr>
              <a:defRPr sz="1800">
                <a:solidFill>
                  <a:srgbClr val="29333F"/>
                </a:solidFill>
              </a:defRPr>
            </a:pPr>
            <a:r>
              <a:rPr sz="1800">
                <a:solidFill>
                  <a:srgbClr val="29333F"/>
                </a:solidFill>
              </a:rPr>
              <a:t>Supervised contrastive learning.</a:t>
            </a:r>
          </a:p>
          <a:p xmlns:a="http://schemas.openxmlformats.org/drawingml/2006/main">
            <a:pPr>
              <a:defRPr sz="1800">
                <a:solidFill>
                  <a:srgbClr val="29333F"/>
                </a:solidFill>
              </a:defRPr>
            </a:pPr>
            <a:r>
              <a:rPr sz="1800">
                <a:solidFill>
                  <a:srgbClr val="29333F"/>
                </a:solidFill>
              </a:rPr>
              <a:t>NeurIPS, 2020.</a:t>
            </a:r>
          </a:p>
        </p:txBody>
      </p:sp>
    </p:spTree>
    <p:extLst>
      <p:ext uri="{BB962C8B-B14F-4D97-AF65-F5344CB8AC3E}">
        <p14:creationId xmlns:p14="http://schemas.microsoft.com/office/powerpoint/2010/main" val="20891140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70" name="Title">
            <a:extLst xmlns:a="http://schemas.openxmlformats.org/drawingml/2006/main">
              <a:ext uri="{FF2B5EF4-FFF2-40B4-BE49-F238E27FC236}">
                <a16:creationId xmlns:a16="http://schemas.microsoft.com/office/drawing/2014/main" id="{F8699A6B-76EB-484C-9131-916BDC3E29A5}"/>
              </a:ext>
            </a:extLst>
          </p:cNvPr>
          <p:cNvSpPr>
            <a:spLocks xmlns:a="http://schemas.openxmlformats.org/drawingml/2006/main" noGrp="1"/>
          </p:cNvSpPr>
          <p:nvPr>
            <p:ph type="title" idx="109"/>
          </p:nvPr>
        </p:nvSpPr>
        <p:spPr/>
        <p:txBody>
          <a:bodyPr xmlns:a="http://schemas.openxmlformats.org/drawingml/2006/main"/>
          <a:lstStyle xmlns:a="http://schemas.openxmlformats.org/drawingml/2006/main"/>
          <a:p xmlns:a="http://schemas.openxmlformats.org/drawingml/2006/main">
            <a:r>
              <a:t>Thank You</a:t>
            </a:r>
          </a:p>
        </p:txBody>
      </p:sp>
      <p:sp>
        <p:nvSpPr>
          <p:cNvPr id="171" name="Questions">
            <a:extLst xmlns:a="http://schemas.openxmlformats.org/drawingml/2006/main">
              <a:ext uri="{FF2B5EF4-FFF2-40B4-BE49-F238E27FC236}">
                <a16:creationId xmlns:a16="http://schemas.microsoft.com/office/drawing/2014/main" id="{F6AC737D-A28E-4A2D-AD5E-A6A75E532B8E}"/>
              </a:ext>
            </a:extLst>
          </p:cNvPr>
          <p:cNvSpPr>
            <a:spLocks xmlns:a="http://schemas.openxmlformats.org/drawingml/2006/main" noGrp="1"/>
          </p:cNvSpPr>
          <p:nvPr>
            <p:ph type="body" idx="110"/>
          </p:nvPr>
        </p:nvSpPr>
        <p:spPr/>
        <p:txBody>
          <a:bodyPr xmlns:a="http://schemas.openxmlformats.org/drawingml/2006/main"/>
          <a:lstStyle xmlns:a="http://schemas.openxmlformats.org/drawingml/2006/main"/>
          <a:p xmlns:a="http://schemas.openxmlformats.org/drawingml/2006/main">
            <a:r>
              <a:t>Questions and discussion</a:t>
            </a:r>
          </a:p>
        </p:txBody>
      </p:sp>
      <p:sp>
        <p:nvSpPr>
          <p:cNvPr id="172" name="Contact">
            <a:extLst xmlns:a="http://schemas.openxmlformats.org/drawingml/2006/main">
              <a:ext uri="{FF2B5EF4-FFF2-40B4-BE49-F238E27FC236}">
                <a16:creationId xmlns:a16="http://schemas.microsoft.com/office/drawing/2014/main" id="{0F63B1A1-0E11-4669-AEF1-5020A3A658D6}"/>
              </a:ext>
            </a:extLst>
          </p:cNvPr>
          <p:cNvSpPr>
            <a:spLocks xmlns:a="http://schemas.openxmlformats.org/drawingml/2006/main" noGrp="1"/>
          </p:cNvSpPr>
          <p:nvPr>
            <p:ph type="body" idx="111"/>
          </p:nvPr>
        </p:nvSpPr>
        <p:spPr>
          <a:xfrm xmlns:a="http://schemas.openxmlformats.org/drawingml/2006/main">
            <a:off x="5010150" y="3857625"/>
            <a:ext cx="6477000" cy="1143000"/>
          </a:xfrm>
        </p:spPr>
        <p:txBody>
          <a:bodyPr xmlns:a="http://schemas.openxmlformats.org/drawingml/2006/main"/>
          <a:lstStyle xmlns:a="http://schemas.openxmlformats.org/drawingml/2006/main">
            <a:defPPr>
              <a:defRPr sz="1725">
                <a:solidFill>
                  <a:srgbClr val="566377"/>
                </a:solidFill>
              </a:defRPr>
            </a:defPPr>
          </a:lstStyle>
          <a:p xmlns:a="http://schemas.openxmlformats.org/drawingml/2006/main">
            <a:pPr>
              <a:defRPr sz="1725">
                <a:solidFill>
                  <a:srgbClr val="566377"/>
                </a:solidFill>
              </a:defRPr>
            </a:pPr>
            <a:r>
              <a:rPr sz="1725">
                <a:solidFill>
                  <a:srgbClr val="566377"/>
                </a:solidFill>
              </a:rPr>
              <a:t>Ofei Obuobisah Bekoe</a:t>
            </a:r>
          </a:p>
          <a:p xmlns:a="http://schemas.openxmlformats.org/drawingml/2006/main">
            <a:pPr>
              <a:defRPr sz="1725">
                <a:solidFill>
                  <a:srgbClr val="566377"/>
                </a:solidFill>
              </a:defRPr>
            </a:pPr>
            <a:r>
              <a:rPr sz="1725">
                <a:solidFill>
                  <a:srgbClr val="566377"/>
                </a:solidFill>
              </a:rPr>
              <a:t>ce-pobekoe1423@st.umat.edu.gh</a:t>
            </a:r>
          </a:p>
          <a:p xmlns:a="http://schemas.openxmlformats.org/drawingml/2006/main">
            <a:pPr>
              <a:defRPr sz="1725">
                <a:solidFill>
                  <a:srgbClr val="566377"/>
                </a:solidFill>
              </a:defRPr>
            </a:pPr>
            <a:r>
              <a:rPr sz="1725">
                <a:solidFill>
                  <a:srgbClr val="566377"/>
                </a:solidFill>
              </a:rPr>
              <a:t>University of Mines and Technology, Ghana</a:t>
            </a:r>
          </a:p>
        </p:txBody>
      </p:sp>
      <p:sp>
        <p:nvSpPr>
          <p:cNvPr id="173" name="Slide Number">
            <a:extLst xmlns:a="http://schemas.openxmlformats.org/drawingml/2006/main">
              <a:ext uri="{FF2B5EF4-FFF2-40B4-BE49-F238E27FC236}">
                <a16:creationId xmlns:a16="http://schemas.microsoft.com/office/drawing/2014/main" id="{955F3375-208E-4EE3-9605-AC70FF90A6AA}"/>
              </a:ext>
            </a:extLst>
          </p:cNvPr>
          <p:cNvSpPr>
            <a:spLocks xmlns:a="http://schemas.openxmlformats.org/drawingml/2006/main" noGrp="1"/>
          </p:cNvSpPr>
          <p:nvPr>
            <p:ph type="sldNum" idx="12"/>
          </p:nvPr>
        </p:nvSpPr>
        <p:spPr>
          <a:xfrm xmlns:a="http://schemas.openxmlformats.org/drawingml/2006/main">
            <a:off x="11220520" y="5932240"/>
            <a:ext cx="560000" cy="5600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wrap="none" lIns="0" tIns="0" rIns="0" bIns="0" anchor="ctr">
            <a:noAutofit/>
          </a:bodyPr>
          <a:lstStyle xmlns:a="http://schemas.openxmlformats.org/drawingml/2006/main">
            <a:lvl1pPr marL="0" indent="0" algn="ctr">
              <a:buNone/>
              <a:defRPr sz="1800" b="1">
                <a:solidFill>
                  <a:schemeClr val="bg1"/>
                </a:solidFill>
              </a:defRPr>
            </a:lvl1pPr>
          </a:lstStyle>
          <a:p xmlns:a="http://schemas.openxmlformats.org/drawingml/2006/main">
            <a:pPr algn="ctr">
              <a:buNone/>
            </a:pPr>
            <a:fld id="{DC9C7607-4BA3-B4DC-A00F-2E67A9FCFF7E}" type="slidenum">
              <a:rPr sz="1800" b="1">
                <a:solidFill>
                  <a:schemeClr val="bg1"/>
                </a:solidFill>
              </a:rPr>
              <a:t>16</a:t>
            </a:fld>
            <a:endParaRPr sz="1800" b="1"/>
          </a:p>
        </p:txBody>
      </p:sp>
    </p:spTree>
    <p:extLst>
      <p:ext uri="{BB962C8B-B14F-4D97-AF65-F5344CB8AC3E}">
        <p14:creationId xmlns:p14="http://schemas.microsoft.com/office/powerpoint/2010/main" val="102572927"/>
      </p:ext>
    </p:extLst>
  </p:cSld>
</p:sld>
</file>

<file path=ppt/theme/theme1.xml><?xml version="1.0" encoding="utf-8"?>
<a:theme xmlns:a="http://schemas.openxmlformats.org/drawingml/2006/main" name="ICAST 2026">
  <a:themeElements>
    <a:clrScheme name="ICAST 2026 Navy">
      <a:dk1>
        <a:srgbClr val="333333"/>
      </a:dk1>
      <a:lt1>
        <a:srgbClr val="FFFFFF"/>
      </a:lt1>
      <a:dk2>
        <a:srgbClr val="0B2545"/>
      </a:dk2>
      <a:lt2>
        <a:srgbClr val="E8EEF6"/>
      </a:lt2>
      <a:accent1>
        <a:srgbClr val="0B2545"/>
      </a:accent1>
      <a:accent2>
        <a:srgbClr val="13315C"/>
      </a:accent2>
      <a:accent3>
        <a:srgbClr val="1D4E89"/>
      </a:accent3>
      <a:accent4>
        <a:srgbClr val="FAFAFA"/>
      </a:accent4>
      <a:accent5>
        <a:srgbClr val="6B7280"/>
      </a:accent5>
      <a:accent6>
        <a:srgbClr val="F4B400"/>
      </a:accent6>
      <a:hlink>
        <a:srgbClr val="1D4E89"/>
      </a:hlink>
      <a:folHlink>
        <a:srgbClr val="13315C"/>
      </a:folHlink>
    </a:clrScheme>
    <a:fontScheme name="ICAST 2026">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ICAST 2026 Nav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2026-10-18T11:58:24.4290000Z</dcterms:created>
  <dcterms:modified xsi:type="dcterms:W3CDTF">2026-10-18T11:58:24.4290000Z</dcterms:modified>
</coreProperties>
</file>