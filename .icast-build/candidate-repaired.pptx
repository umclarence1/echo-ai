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0e3757f3f442ec" /><Relationship Type="http://schemas.openxmlformats.org/officeDocument/2006/relationships/extended-properties" Target="/docProps/app.xml" Id="R04e8aae68df14640" /><Relationship Type="http://schemas.openxmlformats.org/officeDocument/2006/relationships/officeDocument" Target="/ppt/presentation.xml" Id="R5d297370e15b4343"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2e7d79b534ed48e9"/>
  </p:sldMasterIdLst>
  <p:notesMasterIdLst>
    <p:notesMasterId xmlns:r="http://schemas.openxmlformats.org/officeDocument/2006/relationships" r:id="R76a0c61865f442f8"/>
  </p:notesMasterIdLst>
  <p:sldIdLst>
    <p:sldId xmlns:r="http://schemas.openxmlformats.org/officeDocument/2006/relationships" id="256" r:id="R152b23b6d84c40dc"/>
    <p:sldId xmlns:r="http://schemas.openxmlformats.org/officeDocument/2006/relationships" id="257" r:id="R3bf91dd8a1a64113"/>
    <p:sldId xmlns:r="http://schemas.openxmlformats.org/officeDocument/2006/relationships" id="258" r:id="R8d067a59694d4df3"/>
    <p:sldId xmlns:r="http://schemas.openxmlformats.org/officeDocument/2006/relationships" id="259" r:id="R06f1c2c023e94dc0"/>
    <p:sldId xmlns:r="http://schemas.openxmlformats.org/officeDocument/2006/relationships" id="260" r:id="Re1c7b31449cd422e"/>
    <p:sldId xmlns:r="http://schemas.openxmlformats.org/officeDocument/2006/relationships" id="261" r:id="Rb4ec05cd667d42e7"/>
    <p:sldId xmlns:r="http://schemas.openxmlformats.org/officeDocument/2006/relationships" id="262" r:id="Rd1c43956d1c64765"/>
    <p:sldId xmlns:r="http://schemas.openxmlformats.org/officeDocument/2006/relationships" id="263" r:id="R1113bf48a6cc476d"/>
    <p:sldId xmlns:r="http://schemas.openxmlformats.org/officeDocument/2006/relationships" id="264" r:id="R3107f585587d4993"/>
    <p:sldId xmlns:r="http://schemas.openxmlformats.org/officeDocument/2006/relationships" id="265" r:id="R1ecccb50962d4fcf"/>
    <p:sldId xmlns:r="http://schemas.openxmlformats.org/officeDocument/2006/relationships" id="266" r:id="Rf80326fd69ca4a0f"/>
    <p:sldId xmlns:r="http://schemas.openxmlformats.org/officeDocument/2006/relationships" id="267" r:id="R410740fd126e4224"/>
  </p:sldIdLst>
  <p:sldSz cx="12192000" cy="6858000"/>
  <p:notesSz cx="6858000" cy="9144000"/>
  <p:embeddedFontLst>
    <p:embeddedFont>
      <p:font typeface="Roboto"/>
      <p:regular xmlns:r="http://schemas.openxmlformats.org/officeDocument/2006/relationships" r:id="Rc3ef28a1a7f248f6"/>
      <p:bold xmlns:r="http://schemas.openxmlformats.org/officeDocument/2006/relationships" r:id="Rac75aff50c5e45a0"/>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a22162643bc4422" /><Relationship Type="http://schemas.openxmlformats.org/officeDocument/2006/relationships/slideMaster" Target="/ppt/slideMasters/slideMaster1.xml" Id="R2e7d79b534ed48e9" /><Relationship Type="http://schemas.openxmlformats.org/officeDocument/2006/relationships/notesMaster" Target="/ppt/notesMasters/notesMaster1.xml" Id="R76a0c61865f442f8" /><Relationship Type="http://schemas.openxmlformats.org/officeDocument/2006/relationships/presProps" Target="/ppt/presProps.xml" Id="R40931c6d07664994" /><Relationship Type="http://schemas.openxmlformats.org/officeDocument/2006/relationships/viewProps" Target="/ppt/viewProps.xml" Id="R1c9ac52e9d2a4600" /><Relationship Type="http://schemas.openxmlformats.org/officeDocument/2006/relationships/tableStyles" Target="/ppt/tableStyles.xml" Id="R39e234b5d77242b4" /><Relationship Type="http://schemas.openxmlformats.org/officeDocument/2006/relationships/font" Target="/ppt/fonts/font.dat" Id="Rc3ef28a1a7f248f6" /><Relationship Type="http://schemas.openxmlformats.org/officeDocument/2006/relationships/font" Target="/ppt/fonts/font2.dat" Id="Rac75aff50c5e45a0" /><Relationship Type="http://schemas.openxmlformats.org/officeDocument/2006/relationships/slide" Target="/ppt/slides/slide1.xml" Id="R152b23b6d84c40dc" /><Relationship Type="http://schemas.openxmlformats.org/officeDocument/2006/relationships/slide" Target="/ppt/slides/slide2.xml" Id="R3bf91dd8a1a64113" /><Relationship Type="http://schemas.openxmlformats.org/officeDocument/2006/relationships/slide" Target="/ppt/slides/slide3.xml" Id="R8d067a59694d4df3" /><Relationship Type="http://schemas.openxmlformats.org/officeDocument/2006/relationships/slide" Target="/ppt/slides/slide4.xml" Id="R06f1c2c023e94dc0" /><Relationship Type="http://schemas.openxmlformats.org/officeDocument/2006/relationships/slide" Target="/ppt/slides/slide5.xml" Id="Re1c7b31449cd422e" /><Relationship Type="http://schemas.openxmlformats.org/officeDocument/2006/relationships/slide" Target="/ppt/slides/slide6.xml" Id="Rb4ec05cd667d42e7" /><Relationship Type="http://schemas.openxmlformats.org/officeDocument/2006/relationships/slide" Target="/ppt/slides/slide7.xml" Id="Rd1c43956d1c64765" /><Relationship Type="http://schemas.openxmlformats.org/officeDocument/2006/relationships/slide" Target="/ppt/slides/slide8.xml" Id="R1113bf48a6cc476d" /><Relationship Type="http://schemas.openxmlformats.org/officeDocument/2006/relationships/slide" Target="/ppt/slides/slide9.xml" Id="R3107f585587d4993" /><Relationship Type="http://schemas.openxmlformats.org/officeDocument/2006/relationships/slide" Target="/ppt/slides/slide10.xml" Id="R1ecccb50962d4fcf" /><Relationship Type="http://schemas.openxmlformats.org/officeDocument/2006/relationships/slide" Target="/ppt/slides/slide11.xml" Id="Rf80326fd69ca4a0f" /><Relationship Type="http://schemas.openxmlformats.org/officeDocument/2006/relationships/slide" Target="/ppt/slides/slide12.xml" Id="R410740fd126e42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93ff0ff55948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bdcce38f5c440c" /><Relationship Type="http://schemas.openxmlformats.org/officeDocument/2006/relationships/notesMaster" Target="/ppt/notesMasters/notesMaster1.xml" Id="R042edaa239ff42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90b2d0769c4969" /><Relationship Type="http://schemas.openxmlformats.org/officeDocument/2006/relationships/notesMaster" Target="/ppt/notesMasters/notesMaster1.xml" Id="R5aadc14264414d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44e412675c426d" /><Relationship Type="http://schemas.openxmlformats.org/officeDocument/2006/relationships/notesMaster" Target="/ppt/notesMasters/notesMaster1.xml" Id="R134a253565bd4b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199a0109db44d2" /><Relationship Type="http://schemas.openxmlformats.org/officeDocument/2006/relationships/notesMaster" Target="/ppt/notesMasters/notesMaster1.xml" Id="R6d5c54f2f5e246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45380b7697462e" /><Relationship Type="http://schemas.openxmlformats.org/officeDocument/2006/relationships/notesMaster" Target="/ppt/notesMasters/notesMaster1.xml" Id="Rea982fdc325a49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a3e4a594734ddb" /><Relationship Type="http://schemas.openxmlformats.org/officeDocument/2006/relationships/notesMaster" Target="/ppt/notesMasters/notesMaster1.xml" Id="R69660ff690b7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4559f0e1b044c8" /><Relationship Type="http://schemas.openxmlformats.org/officeDocument/2006/relationships/notesMaster" Target="/ppt/notesMasters/notesMaster1.xml" Id="R92533ff101604c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4fa90826304501" /><Relationship Type="http://schemas.openxmlformats.org/officeDocument/2006/relationships/notesMaster" Target="/ppt/notesMasters/notesMaster1.xml" Id="Rbbd68b9d623b47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92bcfee91b48fa" /><Relationship Type="http://schemas.openxmlformats.org/officeDocument/2006/relationships/notesMaster" Target="/ppt/notesMasters/notesMaster1.xml" Id="R47c0e83064e04b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4e9da8a41a4416" /><Relationship Type="http://schemas.openxmlformats.org/officeDocument/2006/relationships/notesMaster" Target="/ppt/notesMasters/notesMaster1.xml" Id="Rde697734083c42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f718b6c4f542b2" /><Relationship Type="http://schemas.openxmlformats.org/officeDocument/2006/relationships/notesMaster" Target="/ppt/notesMasters/notesMaster1.xml" Id="R7a118fbf751d44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0e21ce63b84727" /><Relationship Type="http://schemas.openxmlformats.org/officeDocument/2006/relationships/notesMaster" Target="/ppt/notesMasters/notesMaster1.xml" Id="R3f765e0b788545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study asks how chest X-ray retrieval changes when relevant cases become rare in a fixed-size gallery. The author list follows the manuscript. Presenter and presenter contact follow the supplied conference template.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talk covers the motivation and related work, study objectives, controlled evaluation protocol, findings, and limitations with future work.</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manipulated quantity is gallery prevalence: the proportion of gallery images carrying the target pathology. Gallery size, fitted model, query set, and retrieval depth remain fixed. This isolates prevalence at evaluation time rather than changing training-set balance.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motivates the protocol rather than providing directly comparable metric values. Denner et al. [1] compared representations and varied indexed support while keeping classes balanced. SISH [2] and volumetric retrieval [4] examine rare or imbalanced settings. The reviewed work did not isolate a controlled multi-level prevalence reduction while holding queries and representations fixed. This is a narrative, non-systematic review.</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secondary question compares classification and supervised contrastive fine-tuning from the same SwAV initialization. Held out means the three target labels were absent from available fine-tuning annotations, not verified clinical absence in every training image.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Figure 2 from the supplied manuscript. Three target pathologies: cardiomegaly, emphysema and pneumothorax. Each has 200 fixed queries. Every gallery contains 20,000 images with 1,000, 400, 200 or 100 relevant cases. Three non-target pathology distractors each contribute 400 images. Five seeds per target and prevalence yield 60 galleries. All six models use the same manifests. Tuberculosis was excluded as a target after a source-bias audit but remained a 2% distractor.</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CNN-PT: supervised ImageNet ResNet-50 without adaptation. CNN-Common: three-class normal/pneumonia/COVID-19 classification. CNN-NIH: NIH multi-label classification. SwAV-PT: self-supervised ImageNet ResNet-50 without adaptation. SwAV-CLS: NIH multi-label classification from SwAV. SwAV-SupCon: weighted multi-label supervised contrastive learning from SwAV. The projection head is discarded for retrieval. Common-class adaptation used 4,545 balanced images and an 80:20 source-class-stratified split. NIH adaptation used 48,280 training and 12,266 validation images after target-patient exclusions, with 10,620 background images. Training used PyTorch 2.10.0+cu128 and two Tesla T4 GPUs. The five gallery seeds are not independent training runs. Paired query tests use Holm correction, with 72 planned model comparisons.</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Endpoint values come from manuscript Table 2. The chart shows SwAV-SupCon, the highest mean model at every pathology-prevalence condition. All 18 included model-pathology pairs declined significantly for both metrics, Holm-adjusted p ≤ 2.30 × 10^-26. Across all models, absolute P@10 loss ranged from 0.0959 to 0.3480. The larger absolute loss for a stronger model does not establish poorer rare-case retrieval: SwAV-SupCon remained highest at both endpoints. The chart presents means across five gallery samples without uncertainty bars. Seed variation measures gallery sampling, not retraining. Pneumothorax uses SIIM queries and an NIH relevant gallery and is a cross-source condition.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SwAV-SupCon ranked first in mean P@10 in all 12 conditions. Its advantage over SwAV-CLS survived global correction in 10 of 12 planned comparisons. The exceptions were cardiomegaly at 0.5% and 1%. At 0.5%, SupCon versus CLS P@10: cardiomegaly 0.0163 versus 0.0133 (adjusted p &gt; 0.99), emphysema 0.0335 versus 0.0175 (p = 5.34 × 10^-7), pneumothorax 0.0660 versus 0.0446 (p = 3.17 × 10^-6). Enrichment factors 3.26, 6.70 and 13.20 divide the leading mean by the random expectation of 0.005. Low absolute precision limits practical interpretation. Results are conditional on one fitted checkpoint per learned condition and objective-specific checkpoint selection.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limitations: every model uses ResNet-50, external labels are not exhaustive, SIIM patient uniqueness cannot be verified, and no clinician assessed relevance. Pneumothorax source is aligned with query-gallery role, so the result is not a source-controlled estimate of pathology-specific similarity. The lowest prevalence still has 100 relevant images, and larger approximate indexes were not evaluated. No study measured diagnostic benefit. Future work should test additional architectures, lower relevant-case counts and clinically assessed relevance.</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references follow the manuscript bibliography. The remaining related-work and dataset references are in the paper.</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audience and invite discussion about prevalence-aware benchmarking, representation adaptation and cross-source evaluation.</a:t>
            </a:r>
          </a:p>
          <a:p xmlns:a="http://schemas.openxmlformats.org/drawingml/2006/main">
            <a:r>
              <a:t/>
            </a:r>
          </a:p>
          <a:p xmlns:a="http://schemas.openxmlformats.org/drawingml/2006/main">
            <a:r>
              <a:t>Source: Chest_XRay_Retrieval_IEEE_Format.docx, supplied manuscript.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35007755ad41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704669de65421d" /><Relationship Type="http://schemas.openxmlformats.org/officeDocument/2006/relationships/image" Target="/ppt/media/image.png" Id="R491f299c66004ed7" /><Relationship Type="http://schemas.openxmlformats.org/officeDocument/2006/relationships/image" Target="/ppt/media/image2.png" Id="R31f8b732eaea41dc" /><Relationship Type="http://schemas.openxmlformats.org/officeDocument/2006/relationships/image" Target="/ppt/media/image3.png" Id="Rd8c5cd2f89a84b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826cf23e7f4c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71f319673843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7984e8711a48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4ba395b687426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61c9d28d1e64a30" /><Relationship Type="http://schemas.openxmlformats.org/officeDocument/2006/relationships/image" Target="/ppt/media/image3.png" Id="R8d71e9a77f944234" /><Relationship Type="http://schemas.openxmlformats.org/officeDocument/2006/relationships/image" Target="/ppt/media/image.png" Id="Rd12489f564ac433a" /><Relationship Type="http://schemas.openxmlformats.org/officeDocument/2006/relationships/image" Target="/ppt/media/image2.png" Id="R0755ea15014a42c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E6617AC9-9A20-40BC-BF88-7616529991A3}"/>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B33D314C-2B4D-4FB7-8A78-964AFA9A1DCE}"/>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9B97E041-CE1E-4CA9-93F4-8A79FE12CACB}"/>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7595653A-268A-479D-98A6-B3E710A193A5}"/>
              </a:ext>
            </a:extLst>
          </p:cNvPr>
          <p:cNvPicPr>
            <a:picLocks xmlns:a="http://schemas.openxmlformats.org/drawingml/2006/main" noChangeAspect="1"/>
          </p:cNvPicPr>
          <p:nvPr/>
        </p:nvPicPr>
        <p:blipFill>
          <a:blip xmlns:r="http://schemas.openxmlformats.org/officeDocument/2006/relationships" xmlns:a="http://schemas.openxmlformats.org/drawingml/2006/main" r:embed="R491f299c66004ed7"/>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8C7F14F0-74DC-46A4-8DD8-9A45FE9F449F}"/>
              </a:ext>
            </a:extLst>
          </p:cNvPr>
          <p:cNvPicPr>
            <a:picLocks xmlns:a="http://schemas.openxmlformats.org/drawingml/2006/main" noChangeAspect="1"/>
          </p:cNvPicPr>
          <p:nvPr/>
        </p:nvPicPr>
        <p:blipFill>
          <a:blip xmlns:r="http://schemas.openxmlformats.org/officeDocument/2006/relationships" xmlns:a="http://schemas.openxmlformats.org/drawingml/2006/main" r:embed="R31f8b732eaea41dc"/>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0EB2593F-E852-4972-A4F8-ABC0985F8FCF}"/>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0E9B2AF8-7246-4310-9168-8495E063156A}"/>
              </a:ext>
            </a:extLst>
          </p:cNvPr>
          <p:cNvPicPr>
            <a:picLocks xmlns:a="http://schemas.openxmlformats.org/drawingml/2006/main" noChangeAspect="1"/>
          </p:cNvPicPr>
          <p:nvPr/>
        </p:nvPicPr>
        <p:blipFill>
          <a:blip xmlns:r="http://schemas.openxmlformats.org/officeDocument/2006/relationships" xmlns:a="http://schemas.openxmlformats.org/drawingml/2006/main" r:embed="Rd8c5cd2f89a84bca"/>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0B13CC94-8BA5-4D0E-992E-FA986C9C3044}"/>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5E355687-F775-4E0E-A0EA-A98A9AC1E197}"/>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14350076-8CA0-4552-A213-5CA536FEEEB5}"/>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04467FE2-B15F-48FB-899B-778932060177}"/>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4274DD64-B362-43CD-863F-ACB315B91836}"/>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442513F8-5BBD-48AD-B631-8C1E8B60D824}"/>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9CFE2718-F1BC-4A5B-8A73-560CAF884895}"/>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B8198B7A-E1A8-4D7E-BFAD-ABCE6E306937}"/>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48E6D4D3-C816-4D60-9764-42D26697133A}"/>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15AB16AD-7C3A-4DDF-961A-2EAC94436003}"/>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B854CE3F-54B1-4DDA-A7A7-A6F69395A71E}"/>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70014EA2-4CE4-44E2-829F-106E443E7255}"/>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FF22BC1F-D0F6-49C0-AD3F-05A93193B21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CA753D0A-51E5-4BBE-8304-69F4414F38C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655207E7-7301-4BB4-ACC2-95973D4A374F}"/>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86D6F4C2-E713-48D2-ABA2-25369683FE68}"/>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CF7C5403-9DFA-43CC-AF61-FDB29664FAF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FB93704B-A0D3-4069-AEAB-8EDFF4483EA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42A195D6-EAF9-46F4-9DFB-A236BA5381F5}"/>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97E52268-13BD-4C8E-B5DC-2AAC8412E6D5}"/>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9A5BB461-429B-4B33-A475-41BF768E6287}"/>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002A6F98-AF1B-4E42-BCEE-7F5E57DED71E}"/>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A29D1D0B-7C3E-452E-AC76-3EF594DF73A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C588C491-2AFD-45A7-99EE-716CF6299BCF}"/>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A6B6D1CD-8014-49DB-8B47-895C28B384C4}"/>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BCDDBBDF-94BD-487A-ADA0-76DEBBBF879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7B5E1219-880C-4823-927E-FDAB4DC6AAFF}"/>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24E7D2B4-337B-4008-9251-387E957360E4}"/>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3A0DFE74-C1C0-4086-84EF-A805D6915A8F}"/>
              </a:ext>
            </a:extLst>
          </p:cNvPr>
          <p:cNvPicPr>
            <a:picLocks xmlns:a="http://schemas.openxmlformats.org/drawingml/2006/main" noChangeAspect="1"/>
          </p:cNvPicPr>
          <p:nvPr/>
        </p:nvPicPr>
        <p:blipFill>
          <a:blip xmlns:r="http://schemas.openxmlformats.org/officeDocument/2006/relationships" xmlns:a="http://schemas.openxmlformats.org/drawingml/2006/main" r:embed="R8d71e9a77f944234"/>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89152A97-932B-48EC-A205-BE9D419749B8}"/>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FF957365-AB54-4875-B156-9AE027497776}"/>
              </a:ext>
            </a:extLst>
          </p:cNvPr>
          <p:cNvPicPr>
            <a:picLocks xmlns:a="http://schemas.openxmlformats.org/drawingml/2006/main" noChangeAspect="1"/>
          </p:cNvPicPr>
          <p:nvPr/>
        </p:nvPicPr>
        <p:blipFill>
          <a:blip xmlns:r="http://schemas.openxmlformats.org/officeDocument/2006/relationships" xmlns:a="http://schemas.openxmlformats.org/drawingml/2006/main" r:embed="Rd12489f564ac433a"/>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79FEECEF-D468-42A9-B2B6-88412EF3BAF3}"/>
              </a:ext>
            </a:extLst>
          </p:cNvPr>
          <p:cNvPicPr>
            <a:picLocks xmlns:a="http://schemas.openxmlformats.org/drawingml/2006/main" noChangeAspect="1"/>
          </p:cNvPicPr>
          <p:nvPr/>
        </p:nvPicPr>
        <p:blipFill>
          <a:blip xmlns:r="http://schemas.openxmlformats.org/officeDocument/2006/relationships" xmlns:a="http://schemas.openxmlformats.org/drawingml/2006/main" r:embed="R0755ea15014a42ca"/>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09DE545B-47C4-4E6F-B4FD-A07419BE4F28}"/>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378E63DB-F2B7-4ED4-AA92-359136357F5C}"/>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67188C58-1F10-49D2-91C1-917E11D88BB6}"/>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72BCA1A0-8E2C-4119-A202-606BAAC9C5D0}"/>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1793DF41-E145-4C85-8AFC-5FA752622FBF}"/>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9a50433a8d4f55" /><Relationship Type="http://schemas.openxmlformats.org/officeDocument/2006/relationships/slideLayout" Target="/ppt/slideLayouts/slideLayout1.xml" Id="R8e328360439641f4" /><Relationship Type="http://schemas.openxmlformats.org/officeDocument/2006/relationships/slideLayout" Target="/ppt/slideLayouts/slideLayout2.xml" Id="R91daa8c292a440ca" /><Relationship Type="http://schemas.openxmlformats.org/officeDocument/2006/relationships/slideLayout" Target="/ppt/slideLayouts/slideLayout3.xml" Id="R50cba7c13de446b9" /><Relationship Type="http://schemas.openxmlformats.org/officeDocument/2006/relationships/slideLayout" Target="/ppt/slideLayouts/slideLayout4.xml" Id="R67fcc113cccc42b8" /><Relationship Type="http://schemas.openxmlformats.org/officeDocument/2006/relationships/slideLayout" Target="/ppt/slideLayouts/slideLayout5.xml" Id="Rea774e3521f24313" /><Relationship Type="http://schemas.openxmlformats.org/officeDocument/2006/relationships/slideLayout" Target="/ppt/slideLayouts/slideLayout6.xml" Id="R73a12abd07e24e63" /><Relationship Type="http://schemas.openxmlformats.org/officeDocument/2006/relationships/slideLayout" Target="/ppt/slideLayouts/slideLayout7.xml" Id="R43cfc8bb81524398"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BFD20095-6FDF-4BC9-8CCA-744473614086}"/>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328360439641f4"/>
    <p:sldLayoutId xmlns:r="http://schemas.openxmlformats.org/officeDocument/2006/relationships" id="2147483650" r:id="R91daa8c292a440ca"/>
    <p:sldLayoutId xmlns:r="http://schemas.openxmlformats.org/officeDocument/2006/relationships" id="2147483651" r:id="R50cba7c13de446b9"/>
    <p:sldLayoutId xmlns:r="http://schemas.openxmlformats.org/officeDocument/2006/relationships" id="2147483652" r:id="R67fcc113cccc42b8"/>
    <p:sldLayoutId xmlns:r="http://schemas.openxmlformats.org/officeDocument/2006/relationships" id="2147483653" r:id="Rea774e3521f24313"/>
    <p:sldLayoutId xmlns:r="http://schemas.openxmlformats.org/officeDocument/2006/relationships" id="2147483654" r:id="R73a12abd07e24e63"/>
    <p:sldLayoutId xmlns:r="http://schemas.openxmlformats.org/officeDocument/2006/relationships" id="2147483655" r:id="R43cfc8bb8152439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bd6c163e35f54572" /><Relationship Type="http://schemas.openxmlformats.org/officeDocument/2006/relationships/notesSlide" Target="/ppt/notesSlides/notesSlide1.xml" Id="R7bb5014cfc744e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128cf82b294a4a" /><Relationship Type="http://schemas.openxmlformats.org/officeDocument/2006/relationships/notesSlide" Target="/ppt/notesSlides/notesSlide2.xml" Id="R18701e804de845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414b80cbb73a4043" /><Relationship Type="http://schemas.openxmlformats.org/officeDocument/2006/relationships/notesSlide" Target="/ppt/notesSlides/notesSlide3.xml" Id="R7dab85ae62e64a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57ffb334f4b24562" /><Relationship Type="http://schemas.openxmlformats.org/officeDocument/2006/relationships/notesSlide" Target="/ppt/notesSlides/notesSlide4.xml" Id="Rf7a8fa96a29d4d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d1036932284489" /><Relationship Type="http://schemas.openxmlformats.org/officeDocument/2006/relationships/image" Target="/ppt/media/image4.png" Id="Rcf940117bbbe4f13" /><Relationship Type="http://schemas.openxmlformats.org/officeDocument/2006/relationships/image" Target="/ppt/media/image5.png" Id="R516265460f3344cb" /><Relationship Type="http://schemas.openxmlformats.org/officeDocument/2006/relationships/image" Target="/ppt/media/image6.png" Id="R92ef59e3b38641b3" /><Relationship Type="http://schemas.openxmlformats.org/officeDocument/2006/relationships/notesSlide" Target="/ppt/notesSlides/notesSlide5.xml" Id="Raecdb2844c434b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020658d7549144ce" /><Relationship Type="http://schemas.openxmlformats.org/officeDocument/2006/relationships/notesSlide" Target="/ppt/notesSlides/notesSlide6.xml" Id="R47156448b13942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11118e8b5641a9" /><Relationship Type="http://schemas.openxmlformats.org/officeDocument/2006/relationships/notesSlide" Target="/ppt/notesSlides/notesSlide7.xml" Id="Rbdf2317631474a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687f73ae284ac6" /><Relationship Type="http://schemas.openxmlformats.org/officeDocument/2006/relationships/chart" Target="/ppt/slides/charts/chart1.xml" Id="R27e363ed84c4469d" /><Relationship Type="http://schemas.openxmlformats.org/officeDocument/2006/relationships/notesSlide" Target="/ppt/notesSlides/notesSlide8.xml" Id="R6458ae368c2544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d1777933fa4f75" /><Relationship Type="http://schemas.openxmlformats.org/officeDocument/2006/relationships/image" Target="/ppt/media/image7.png" Id="Rb02f2536e7e44585" /><Relationship Type="http://schemas.openxmlformats.org/officeDocument/2006/relationships/image" Target="/ppt/media/image8.png" Id="R4c021c090f7b42d3" /><Relationship Type="http://schemas.openxmlformats.org/officeDocument/2006/relationships/image" Target="/ppt/media/image9.png" Id="Ra7cb4087b2184939" /><Relationship Type="http://schemas.openxmlformats.org/officeDocument/2006/relationships/notesSlide" Target="/ppt/notesSlides/notesSlide9.xml" Id="R9e9d1ef5858241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c1e84e50ad0c4fc8" /><Relationship Type="http://schemas.openxmlformats.org/officeDocument/2006/relationships/notesSlide" Target="/ppt/notesSlides/notesSlide10.xml" Id="Ra60dda61dcce4a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f5ad1270d36a4d27" /><Relationship Type="http://schemas.openxmlformats.org/officeDocument/2006/relationships/notesSlide" Target="/ppt/notesSlides/notesSlide11.xml" Id="R90f5f08964af48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51a03335b6a4b73" /><Relationship Type="http://schemas.openxmlformats.org/officeDocument/2006/relationships/notesSlide" Target="/ppt/notesSlides/notesSlide12.xml" Id="R41b1eafc66e5433e"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a:solidFill>
                  <a:srgbClr val="0B2545"/>
                </a:solidFill>
                <a:latin typeface="Roboto"/>
                <a:ea typeface="Roboto"/>
                <a:cs typeface="Roboto"/>
              </a:rPr>
              <a:t>SwAV-SupCon Precision@10</a:t>
            </a:r>
          </a:p>
        </c:rich>
      </c:tx>
      <c:overlay val="0"/>
      <c:txPr>
        <a:bodyPr xmlns:a="http://schemas.openxmlformats.org/drawingml/2006/main" anchorCtr="1"/>
        <a:lstStyle xmlns:a="http://schemas.openxmlformats.org/drawingml/2006/main"/>
        <a:p xmlns:a="http://schemas.openxmlformats.org/drawingml/2006/main">
          <a:pPr>
            <a:defRPr sz="1725">
              <a:solidFill>
                <a:srgbClr val="0B2545"/>
              </a:solidFill>
              <a:latin typeface="Roboto"/>
              <a:ea typeface="Roboto"/>
              <a:cs typeface="Roboto"/>
            </a:defRPr>
          </a:pPr>
        </a:p>
      </c:txPr>
    </c:title>
    <c:plotArea>
      <c:barChart>
        <c:barDir val="col"/>
        <c:grouping val="clustered"/>
        <c:varyColors val="0"/>
        <c:ser>
          <c:idx val="0"/>
          <c:order val="0"/>
          <c:tx>
            <c:v>5% prevalence</c:v>
          </c:tx>
          <c:spPr>
            <a:solidFill xmlns:a="http://schemas.openxmlformats.org/drawingml/2006/main">
              <a:srgbClr val="0B2545"/>
            </a:solidFill>
          </c:spPr>
          <c:invertIfNegative val="0"/>
          <c:cat>
            <c:strLit>
              <c:ptCount val="3"/>
              <c:pt idx="0">
                <c:v>Cardiomegaly</c:v>
              </c:pt>
              <c:pt idx="1">
                <c:v>Emphysema</c:v>
              </c:pt>
              <c:pt idx="2">
                <c:v>Pneumothorax</c:v>
              </c:pt>
            </c:strLit>
          </c:cat>
          <c:val>
            <c:numLit>
              <c:formatCode>0.00</c:formatCode>
              <c:ptCount val="3"/>
              <c:pt idx="0">
                <c:v>0.1597</c:v>
              </c:pt>
              <c:pt idx="1">
                <c:v>0.2377</c:v>
              </c:pt>
              <c:pt idx="2">
                <c:v>0.414</c:v>
              </c:pt>
            </c:numLit>
          </c:val>
        </c:ser>
        <c:ser>
          <c:idx val="1"/>
          <c:order val="1"/>
          <c:tx>
            <c:v>0.5% prevalence</c:v>
          </c:tx>
          <c:spPr>
            <a:solidFill xmlns:a="http://schemas.openxmlformats.org/drawingml/2006/main">
              <a:srgbClr val="547FA9"/>
            </a:solidFill>
          </c:spPr>
          <c:invertIfNegative val="0"/>
          <c:cat>
            <c:strLit>
              <c:ptCount val="3"/>
              <c:pt idx="0">
                <c:v>Cardiomegaly</c:v>
              </c:pt>
              <c:pt idx="1">
                <c:v>Emphysema</c:v>
              </c:pt>
              <c:pt idx="2">
                <c:v>Pneumothorax</c:v>
              </c:pt>
            </c:strLit>
          </c:cat>
          <c:val>
            <c:numLit>
              <c:formatCode>0.00</c:formatCode>
              <c:ptCount val="3"/>
              <c:pt idx="0">
                <c:v>0.0163</c:v>
              </c:pt>
              <c:pt idx="1">
                <c:v>0.0335</c:v>
              </c:pt>
              <c:pt idx="2">
                <c:v>0.066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275">
                  <a:latin typeface="Roboto"/>
                  <a:ea typeface="Roboto"/>
                  <a:cs typeface="Robot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Roboto"/>
                <a:ea typeface="Roboto"/>
                <a:cs typeface="Roboto"/>
              </a:defRPr>
            </a:pPr>
          </a:p>
        </c:txPr>
        <c:crossAx val="48672768"/>
      </c:catAx>
      <c:valAx>
        <c:axId val="48672768"/>
        <c:scaling>
          <c:orientation val="minMax"/>
          <c:max val="0.45"/>
          <c:min val="0"/>
        </c:scaling>
        <c:delete val="0"/>
        <c:axPos val="l"/>
        <c:majorGridlines>
          <c:spPr>
            <a:ln xmlns:a="http://schemas.openxmlformats.org/drawingml/2006/main" w="9525">
              <a:solidFill>
                <a:srgbClr val="D8DF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Roboto"/>
                <a:ea typeface="Roboto"/>
                <a:cs typeface="Roboto"/>
              </a:defRPr>
            </a:pPr>
          </a:p>
        </c:txPr>
        <c:crossAx val="48650112"/>
        <c:crossBetween val="between"/>
        <c:majorUnit val="0.1"/>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Roboto"/>
              <a:ea typeface="Roboto"/>
              <a:cs typeface="Roboto"/>
            </a:defRPr>
          </a:pPr>
        </a:p>
      </c:txPr>
    </c:legend>
    <c:plotVisOnly val="1"/>
  </c:chart>
  <c:spPr>
    <a:solidFill xmlns:a="http://schemas.openxmlformats.org/drawingml/2006/main">
      <a:srgbClr val="FAFAFA"/>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71DFE9E2-E620-4125-8E7F-A9E4D0F6D11D}"/>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Chest X-Ray Image Retrieval Under Declining Target-Pathology Prevalence</a:t>
            </a:r>
          </a:p>
        </p:txBody>
      </p:sp>
      <p:sp>
        <p:nvSpPr>
          <p:cNvPr id="146" name="Authors">
            <a:extLst xmlns:a="http://schemas.openxmlformats.org/drawingml/2006/main">
              <a:ext uri="{FF2B5EF4-FFF2-40B4-BE49-F238E27FC236}">
                <a16:creationId xmlns:a16="http://schemas.microsoft.com/office/drawing/2014/main" id="{DBACA027-C226-46D4-8FAB-595BC5B95573}"/>
              </a:ext>
            </a:extLst>
          </p:cNvPr>
          <p:cNvSpPr>
            <a:spLocks xmlns:a="http://schemas.openxmlformats.org/drawingml/2006/main" noGrp="1"/>
          </p:cNvSpPr>
          <p:nvPr>
            <p:ph type="body" idx="110"/>
          </p:nvPr>
        </p:nvSpPr>
        <p:spPr>
          <a:xfrm xmlns:a="http://schemas.openxmlformats.org/drawingml/2006/main">
            <a:off x="819150" y="3438525"/>
            <a:ext cx="10553700" cy="657225"/>
          </a:xfrm>
        </p:spPr>
        <p:txBody>
          <a:bodyPr xmlns:a="http://schemas.openxmlformats.org/drawingml/2006/main"/>
          <a:lstStyle xmlns:a="http://schemas.openxmlformats.org/drawingml/2006/main">
            <a:defPPr>
              <a:defRPr sz="1575"/>
            </a:defPPr>
          </a:lstStyle>
          <a:p xmlns:a="http://schemas.openxmlformats.org/drawingml/2006/main">
            <a:pPr>
              <a:buNone/>
              <a:defRPr sz="1575"/>
            </a:pPr>
            <a:r>
              <a:rPr sz="1575"/>
              <a:t>Obed Appiah, Ezekiel Mensah Martey, Emmanuel Asante, Ernest Kwame Ampomah,</a:t>
            </a:r>
          </a:p>
          <a:p xmlns:a="http://schemas.openxmlformats.org/drawingml/2006/main">
            <a:pPr>
              <a:buNone/>
              <a:defRPr sz="1575"/>
            </a:pPr>
            <a:r>
              <a:rPr sz="1575"/>
              <a:t>Ofei Obuobisah Bekoe, Henry Cobbinah, Boateng Kwedwo Amponsah, Grace Tsomemanya Tulasi</a:t>
            </a:r>
          </a:p>
        </p:txBody>
      </p:sp>
      <p:sp>
        <p:nvSpPr>
          <p:cNvPr id="147" name="Affiliation">
            <a:extLst xmlns:a="http://schemas.openxmlformats.org/drawingml/2006/main">
              <a:ext uri="{FF2B5EF4-FFF2-40B4-BE49-F238E27FC236}">
                <a16:creationId xmlns:a16="http://schemas.microsoft.com/office/drawing/2014/main" id="{9233BC89-DCA1-4E1D-9A56-355648DF85CD}"/>
              </a:ext>
            </a:extLst>
          </p:cNvPr>
          <p:cNvSpPr>
            <a:spLocks xmlns:a="http://schemas.openxmlformats.org/drawingml/2006/main" noGrp="1"/>
          </p:cNvSpPr>
          <p:nvPr>
            <p:ph type="body" idx="111"/>
          </p:nvPr>
        </p:nvSpPr>
        <p:spPr>
          <a:xfrm xmlns:a="http://schemas.openxmlformats.org/drawingml/2006/main">
            <a:off x="762000" y="4171950"/>
            <a:ext cx="10668000" cy="514350"/>
          </a:xfrm>
        </p:spPr>
        <p:txBody>
          <a:bodyPr xmlns:a="http://schemas.openxmlformats.org/drawingml/2006/main">
            <a:normAutofit fontScale="100000" lnSpcReduction="10000"/>
          </a:bodyPr>
          <a:lstStyle xmlns:a="http://schemas.openxmlformats.org/drawingml/2006/main">
            <a:defPPr>
              <a:defRPr sz="1500"/>
            </a:defPPr>
          </a:lstStyle>
          <a:p xmlns:a="http://schemas.openxmlformats.org/drawingml/2006/main">
            <a:pPr>
              <a:buNone/>
              <a:defRPr sz="1500"/>
            </a:pPr>
            <a:r>
              <a:rPr sz="1500"/>
              <a:t>University of Energy and Natural Resources, Ghana</a:t>
            </a:r>
          </a:p>
          <a:p xmlns:a="http://schemas.openxmlformats.org/drawingml/2006/main">
            <a:pPr>
              <a:buNone/>
              <a:defRPr sz="1500"/>
            </a:pPr>
            <a:r>
              <a:rPr sz="1500"/>
              <a:t>University of Mines and Technology, Tarkwa, Ghana</a:t>
            </a:r>
          </a:p>
        </p:txBody>
      </p:sp>
      <p:sp>
        <p:nvSpPr>
          <p:cNvPr id="148" name="Paper details">
            <a:extLst xmlns:a="http://schemas.openxmlformats.org/drawingml/2006/main">
              <a:ext uri="{FF2B5EF4-FFF2-40B4-BE49-F238E27FC236}">
                <a16:creationId xmlns:a16="http://schemas.microsoft.com/office/drawing/2014/main" id="{5A3200C4-C84E-4BAD-8792-031E554C36D9}"/>
              </a:ext>
            </a:extLst>
          </p:cNvPr>
          <p:cNvSpPr>
            <a:spLocks xmlns:a="http://schemas.openxmlformats.org/drawingml/2006/main" noGrp="1"/>
          </p:cNvSpPr>
          <p:nvPr>
            <p:ph type="body" idx="112"/>
          </p:nvPr>
        </p:nvSpPr>
        <p:spPr>
          <a:xfrm xmlns:a="http://schemas.openxmlformats.org/drawingml/2006/main">
            <a:off x="762000" y="4791075"/>
            <a:ext cx="10668000" cy="285750"/>
          </a:xfrm>
        </p:spPr>
        <p:txBody>
          <a:bodyPr xmlns:a="http://schemas.openxmlformats.org/drawingml/2006/main"/>
          <a:lstStyle xmlns:a="http://schemas.openxmlformats.org/drawingml/2006/main">
            <a:defPPr>
              <a:defRPr sz="1350"/>
            </a:defPPr>
          </a:lstStyle>
          <a:p xmlns:a="http://schemas.openxmlformats.org/drawingml/2006/main">
            <a:pPr>
              <a:buNone/>
              <a:defRPr sz="1350"/>
            </a:pPr>
            <a:r>
              <a:rPr sz="1350"/>
              <a:t>Presenter: Ofei Obuobisah Bekoe   ·   ce-pobekoe1423@st.umat.edu.gh</a:t>
            </a:r>
          </a:p>
        </p:txBody>
      </p:sp>
    </p:spTree>
    <p:extLst>
      <p:ext uri="{BB962C8B-B14F-4D97-AF65-F5344CB8AC3E}">
        <p14:creationId xmlns:p14="http://schemas.microsoft.com/office/powerpoint/2010/main" val="19027926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9" name="Title">
            <a:extLst xmlns:a="http://schemas.openxmlformats.org/drawingml/2006/main">
              <a:ext uri="{FF2B5EF4-FFF2-40B4-BE49-F238E27FC236}">
                <a16:creationId xmlns:a16="http://schemas.microsoft.com/office/drawing/2014/main" id="{2C2302F8-F6E6-4654-8B6D-BE7EC63A7F70}"/>
              </a:ext>
            </a:extLst>
          </p:cNvPr>
          <p:cNvSpPr>
            <a:spLocks xmlns:a="http://schemas.openxmlformats.org/drawingml/2006/main" noGrp="1"/>
          </p:cNvSpPr>
          <p:nvPr>
            <p:ph type="title" idx="104"/>
          </p:nvPr>
        </p:nvSpPr>
        <p:spPr/>
        <p:txBody>
          <a:bodyPr xmlns:a="http://schemas.openxmlformats.org/drawingml/2006/main"/>
          <a:lstStyle xmlns:a="http://schemas.openxmlformats.org/drawingml/2006/main"/>
          <a:p xmlns:a="http://schemas.openxmlformats.org/drawingml/2006/main">
            <a:r>
              <a:t>Outline</a:t>
            </a:r>
          </a:p>
        </p:txBody>
      </p:sp>
      <p:sp>
        <p:nvSpPr>
          <p:cNvPr id="150" name="Outline line 1">
            <a:extLst xmlns:a="http://schemas.openxmlformats.org/drawingml/2006/main">
              <a:ext uri="{FF2B5EF4-FFF2-40B4-BE49-F238E27FC236}">
                <a16:creationId xmlns:a16="http://schemas.microsoft.com/office/drawing/2014/main" id="{6CF8CB9A-484F-4ACC-A8C2-E631277B00D3}"/>
              </a:ext>
            </a:extLst>
          </p:cNvPr>
          <p:cNvSpPr>
            <a:spLocks xmlns:a="http://schemas.openxmlformats.org/drawingml/2006/main" noGrp="1"/>
          </p:cNvSpPr>
          <p:nvPr/>
        </p:nvSpPr>
        <p:spPr>
          <a:xfrm xmlns:a="http://schemas.openxmlformats.org/drawingml/2006/main">
            <a:off x="4632960" y="1691640"/>
            <a:ext cx="1143000" cy="0"/>
          </a:xfrm>
          <a:prstGeom xmlns:a="http://schemas.openxmlformats.org/drawingml/2006/main" prst="line">
            <a:avLst/>
          </a:prstGeom>
          <a:ln xmlns:a="http://schemas.openxmlformats.org/drawingml/2006/main" w="57150">
            <a:solidFill>
              <a:schemeClr val="accent1"/>
            </a:solidFill>
          </a:ln>
        </p:spPr>
      </p:sp>
      <p:sp>
        <p:nvSpPr>
          <p:cNvPr id="151" name="Outline number 1">
            <a:extLst xmlns:a="http://schemas.openxmlformats.org/drawingml/2006/main">
              <a:ext uri="{FF2B5EF4-FFF2-40B4-BE49-F238E27FC236}">
                <a16:creationId xmlns:a16="http://schemas.microsoft.com/office/drawing/2014/main" id="{B8E061AE-CFB0-4C4D-914F-148F17EBE6D3}"/>
              </a:ext>
            </a:extLst>
          </p:cNvPr>
          <p:cNvSpPr>
            <a:spLocks xmlns:a="http://schemas.openxmlformats.org/drawingml/2006/main" noGrp="1"/>
          </p:cNvSpPr>
          <p:nvPr/>
        </p:nvSpPr>
        <p:spPr>
          <a:xfrm xmlns:a="http://schemas.openxmlformats.org/drawingml/2006/main">
            <a:off x="4120896" y="143560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1</a:t>
            </a:r>
          </a:p>
        </p:txBody>
      </p:sp>
      <p:sp>
        <p:nvSpPr>
          <p:cNvPr id="152" name="Outline item 1">
            <a:extLst xmlns:a="http://schemas.openxmlformats.org/drawingml/2006/main">
              <a:ext uri="{FF2B5EF4-FFF2-40B4-BE49-F238E27FC236}">
                <a16:creationId xmlns:a16="http://schemas.microsoft.com/office/drawing/2014/main" id="{BC7841A1-79E2-49E0-BAA4-5DB4542F39DF}"/>
              </a:ext>
            </a:extLst>
          </p:cNvPr>
          <p:cNvSpPr>
            <a:spLocks xmlns:a="http://schemas.openxmlformats.org/drawingml/2006/main" noGrp="1"/>
          </p:cNvSpPr>
          <p:nvPr/>
        </p:nvSpPr>
        <p:spPr>
          <a:xfrm xmlns:a="http://schemas.openxmlformats.org/drawingml/2006/main">
            <a:off x="371856" y="132588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Problem and prior work</a:t>
            </a:r>
          </a:p>
        </p:txBody>
      </p:sp>
      <p:sp>
        <p:nvSpPr>
          <p:cNvPr id="153" name="Outline line 2">
            <a:extLst xmlns:a="http://schemas.openxmlformats.org/drawingml/2006/main">
              <a:ext uri="{FF2B5EF4-FFF2-40B4-BE49-F238E27FC236}">
                <a16:creationId xmlns:a16="http://schemas.microsoft.com/office/drawing/2014/main" id="{9F321DD6-0BDB-42B2-ACF0-CFFF98E867B2}"/>
              </a:ext>
            </a:extLst>
          </p:cNvPr>
          <p:cNvSpPr>
            <a:spLocks xmlns:a="http://schemas.openxmlformats.org/drawingml/2006/main" noGrp="1"/>
          </p:cNvSpPr>
          <p:nvPr/>
        </p:nvSpPr>
        <p:spPr>
          <a:xfrm xmlns:a="http://schemas.openxmlformats.org/drawingml/2006/main">
            <a:off x="4632960" y="3246120"/>
            <a:ext cx="1143000" cy="0"/>
          </a:xfrm>
          <a:prstGeom xmlns:a="http://schemas.openxmlformats.org/drawingml/2006/main" prst="line">
            <a:avLst/>
          </a:prstGeom>
          <a:ln xmlns:a="http://schemas.openxmlformats.org/drawingml/2006/main" w="57150">
            <a:solidFill>
              <a:schemeClr val="accent1"/>
            </a:solidFill>
          </a:ln>
        </p:spPr>
      </p:sp>
      <p:sp>
        <p:nvSpPr>
          <p:cNvPr id="154" name="Outline number 2">
            <a:extLst xmlns:a="http://schemas.openxmlformats.org/drawingml/2006/main">
              <a:ext uri="{FF2B5EF4-FFF2-40B4-BE49-F238E27FC236}">
                <a16:creationId xmlns:a16="http://schemas.microsoft.com/office/drawing/2014/main" id="{29CB8B95-3A5E-43A5-8517-052DBA5F29C0}"/>
              </a:ext>
            </a:extLst>
          </p:cNvPr>
          <p:cNvSpPr>
            <a:spLocks xmlns:a="http://schemas.openxmlformats.org/drawingml/2006/main" noGrp="1"/>
          </p:cNvSpPr>
          <p:nvPr/>
        </p:nvSpPr>
        <p:spPr>
          <a:xfrm xmlns:a="http://schemas.openxmlformats.org/drawingml/2006/main">
            <a:off x="4120896" y="299008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2</a:t>
            </a:r>
          </a:p>
        </p:txBody>
      </p:sp>
      <p:sp>
        <p:nvSpPr>
          <p:cNvPr id="155" name="Outline item 2">
            <a:extLst xmlns:a="http://schemas.openxmlformats.org/drawingml/2006/main">
              <a:ext uri="{FF2B5EF4-FFF2-40B4-BE49-F238E27FC236}">
                <a16:creationId xmlns:a16="http://schemas.microsoft.com/office/drawing/2014/main" id="{11E21260-36EA-4157-AAF0-40CD053ED961}"/>
              </a:ext>
            </a:extLst>
          </p:cNvPr>
          <p:cNvSpPr>
            <a:spLocks xmlns:a="http://schemas.openxmlformats.org/drawingml/2006/main" noGrp="1"/>
          </p:cNvSpPr>
          <p:nvPr/>
        </p:nvSpPr>
        <p:spPr>
          <a:xfrm xmlns:a="http://schemas.openxmlformats.org/drawingml/2006/main">
            <a:off x="371856" y="288036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Study objectives</a:t>
            </a:r>
          </a:p>
        </p:txBody>
      </p:sp>
      <p:sp>
        <p:nvSpPr>
          <p:cNvPr id="156" name="Outline line 3">
            <a:extLst xmlns:a="http://schemas.openxmlformats.org/drawingml/2006/main">
              <a:ext uri="{FF2B5EF4-FFF2-40B4-BE49-F238E27FC236}">
                <a16:creationId xmlns:a16="http://schemas.microsoft.com/office/drawing/2014/main" id="{08F8D7F6-61E1-4202-9576-7CFCE518E3FD}"/>
              </a:ext>
            </a:extLst>
          </p:cNvPr>
          <p:cNvSpPr>
            <a:spLocks xmlns:a="http://schemas.openxmlformats.org/drawingml/2006/main" noGrp="1"/>
          </p:cNvSpPr>
          <p:nvPr/>
        </p:nvSpPr>
        <p:spPr>
          <a:xfrm xmlns:a="http://schemas.openxmlformats.org/drawingml/2006/main">
            <a:off x="4632960" y="4800600"/>
            <a:ext cx="1143000" cy="0"/>
          </a:xfrm>
          <a:prstGeom xmlns:a="http://schemas.openxmlformats.org/drawingml/2006/main" prst="line">
            <a:avLst/>
          </a:prstGeom>
          <a:ln xmlns:a="http://schemas.openxmlformats.org/drawingml/2006/main" w="57150">
            <a:solidFill>
              <a:schemeClr val="accent1"/>
            </a:solidFill>
          </a:ln>
        </p:spPr>
      </p:sp>
      <p:sp>
        <p:nvSpPr>
          <p:cNvPr id="157" name="Outline number 3">
            <a:extLst xmlns:a="http://schemas.openxmlformats.org/drawingml/2006/main">
              <a:ext uri="{FF2B5EF4-FFF2-40B4-BE49-F238E27FC236}">
                <a16:creationId xmlns:a16="http://schemas.microsoft.com/office/drawing/2014/main" id="{014A9F0F-EBA3-4C26-9046-5BC6164C1209}"/>
              </a:ext>
            </a:extLst>
          </p:cNvPr>
          <p:cNvSpPr>
            <a:spLocks xmlns:a="http://schemas.openxmlformats.org/drawingml/2006/main" noGrp="1"/>
          </p:cNvSpPr>
          <p:nvPr/>
        </p:nvSpPr>
        <p:spPr>
          <a:xfrm xmlns:a="http://schemas.openxmlformats.org/drawingml/2006/main">
            <a:off x="4120896" y="454456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3</a:t>
            </a:r>
          </a:p>
        </p:txBody>
      </p:sp>
      <p:sp>
        <p:nvSpPr>
          <p:cNvPr id="158" name="Outline item 3">
            <a:extLst xmlns:a="http://schemas.openxmlformats.org/drawingml/2006/main">
              <a:ext uri="{FF2B5EF4-FFF2-40B4-BE49-F238E27FC236}">
                <a16:creationId xmlns:a16="http://schemas.microsoft.com/office/drawing/2014/main" id="{060404B1-0EB9-4212-B2E4-8FB69599CDFC}"/>
              </a:ext>
            </a:extLst>
          </p:cNvPr>
          <p:cNvSpPr>
            <a:spLocks xmlns:a="http://schemas.openxmlformats.org/drawingml/2006/main" noGrp="1"/>
          </p:cNvSpPr>
          <p:nvPr/>
        </p:nvSpPr>
        <p:spPr>
          <a:xfrm xmlns:a="http://schemas.openxmlformats.org/drawingml/2006/main">
            <a:off x="371856" y="443484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2200" b="1">
                <a:solidFill>
                  <a:schemeClr val="accent1"/>
                </a:solidFill>
              </a:rPr>
              <a:t>Evaluation protocol</a:t>
            </a:r>
          </a:p>
        </p:txBody>
      </p:sp>
      <p:sp>
        <p:nvSpPr>
          <p:cNvPr id="159" name="Outline line 4">
            <a:extLst xmlns:a="http://schemas.openxmlformats.org/drawingml/2006/main">
              <a:ext uri="{FF2B5EF4-FFF2-40B4-BE49-F238E27FC236}">
                <a16:creationId xmlns:a16="http://schemas.microsoft.com/office/drawing/2014/main" id="{17BB6D87-00FB-4036-8927-E3BDFBF4966B}"/>
              </a:ext>
            </a:extLst>
          </p:cNvPr>
          <p:cNvSpPr>
            <a:spLocks xmlns:a="http://schemas.openxmlformats.org/drawingml/2006/main" noGrp="1"/>
          </p:cNvSpPr>
          <p:nvPr/>
        </p:nvSpPr>
        <p:spPr>
          <a:xfrm xmlns:a="http://schemas.openxmlformats.org/drawingml/2006/main">
            <a:off x="6416040" y="2468880"/>
            <a:ext cx="1143000" cy="0"/>
          </a:xfrm>
          <a:prstGeom xmlns:a="http://schemas.openxmlformats.org/drawingml/2006/main" prst="line">
            <a:avLst/>
          </a:prstGeom>
          <a:ln xmlns:a="http://schemas.openxmlformats.org/drawingml/2006/main" w="57150">
            <a:solidFill>
              <a:schemeClr val="accent1"/>
            </a:solidFill>
          </a:ln>
        </p:spPr>
      </p:sp>
      <p:sp>
        <p:nvSpPr>
          <p:cNvPr id="160" name="Outline number 4">
            <a:extLst xmlns:a="http://schemas.openxmlformats.org/drawingml/2006/main">
              <a:ext uri="{FF2B5EF4-FFF2-40B4-BE49-F238E27FC236}">
                <a16:creationId xmlns:a16="http://schemas.microsoft.com/office/drawing/2014/main" id="{8319B009-4DE6-485C-A1B0-18C3BF2E8160}"/>
              </a:ext>
            </a:extLst>
          </p:cNvPr>
          <p:cNvSpPr>
            <a:spLocks xmlns:a="http://schemas.openxmlformats.org/drawingml/2006/main" noGrp="1"/>
          </p:cNvSpPr>
          <p:nvPr/>
        </p:nvSpPr>
        <p:spPr>
          <a:xfrm xmlns:a="http://schemas.openxmlformats.org/drawingml/2006/main">
            <a:off x="7559040" y="221284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4</a:t>
            </a:r>
          </a:p>
        </p:txBody>
      </p:sp>
      <p:sp>
        <p:nvSpPr>
          <p:cNvPr id="161" name="Outline item 4">
            <a:extLst xmlns:a="http://schemas.openxmlformats.org/drawingml/2006/main">
              <a:ext uri="{FF2B5EF4-FFF2-40B4-BE49-F238E27FC236}">
                <a16:creationId xmlns:a16="http://schemas.microsoft.com/office/drawing/2014/main" id="{EC5453FA-A0DB-4BBD-BC7C-3B838062DF1C}"/>
              </a:ext>
            </a:extLst>
          </p:cNvPr>
          <p:cNvSpPr>
            <a:spLocks xmlns:a="http://schemas.openxmlformats.org/drawingml/2006/main" noGrp="1"/>
          </p:cNvSpPr>
          <p:nvPr/>
        </p:nvSpPr>
        <p:spPr>
          <a:xfrm xmlns:a="http://schemas.openxmlformats.org/drawingml/2006/main">
            <a:off x="8253984" y="21031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Experiments and results</a:t>
            </a:r>
          </a:p>
        </p:txBody>
      </p:sp>
      <p:sp>
        <p:nvSpPr>
          <p:cNvPr id="162" name="Outline line 5">
            <a:extLst xmlns:a="http://schemas.openxmlformats.org/drawingml/2006/main">
              <a:ext uri="{FF2B5EF4-FFF2-40B4-BE49-F238E27FC236}">
                <a16:creationId xmlns:a16="http://schemas.microsoft.com/office/drawing/2014/main" id="{8D6911F0-74E3-4E19-95E2-E3538DB79AC3}"/>
              </a:ext>
            </a:extLst>
          </p:cNvPr>
          <p:cNvSpPr>
            <a:spLocks xmlns:a="http://schemas.openxmlformats.org/drawingml/2006/main" noGrp="1"/>
          </p:cNvSpPr>
          <p:nvPr/>
        </p:nvSpPr>
        <p:spPr>
          <a:xfrm xmlns:a="http://schemas.openxmlformats.org/drawingml/2006/main">
            <a:off x="6416040" y="4023360"/>
            <a:ext cx="1143000" cy="0"/>
          </a:xfrm>
          <a:prstGeom xmlns:a="http://schemas.openxmlformats.org/drawingml/2006/main" prst="line">
            <a:avLst/>
          </a:prstGeom>
          <a:ln xmlns:a="http://schemas.openxmlformats.org/drawingml/2006/main" w="57150">
            <a:solidFill>
              <a:schemeClr val="accent1"/>
            </a:solidFill>
          </a:ln>
        </p:spPr>
      </p:sp>
      <p:sp>
        <p:nvSpPr>
          <p:cNvPr id="163" name="Outline number 5">
            <a:extLst xmlns:a="http://schemas.openxmlformats.org/drawingml/2006/main">
              <a:ext uri="{FF2B5EF4-FFF2-40B4-BE49-F238E27FC236}">
                <a16:creationId xmlns:a16="http://schemas.microsoft.com/office/drawing/2014/main" id="{79C0A85F-A8F2-44F3-92C6-7982B4F0BCDE}"/>
              </a:ext>
            </a:extLst>
          </p:cNvPr>
          <p:cNvSpPr>
            <a:spLocks xmlns:a="http://schemas.openxmlformats.org/drawingml/2006/main" noGrp="1"/>
          </p:cNvSpPr>
          <p:nvPr/>
        </p:nvSpPr>
        <p:spPr>
          <a:xfrm xmlns:a="http://schemas.openxmlformats.org/drawingml/2006/main">
            <a:off x="7559040" y="376732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5</a:t>
            </a:r>
          </a:p>
        </p:txBody>
      </p:sp>
      <p:sp>
        <p:nvSpPr>
          <p:cNvPr id="164" name="Outline item 5">
            <a:extLst xmlns:a="http://schemas.openxmlformats.org/drawingml/2006/main">
              <a:ext uri="{FF2B5EF4-FFF2-40B4-BE49-F238E27FC236}">
                <a16:creationId xmlns:a16="http://schemas.microsoft.com/office/drawing/2014/main" id="{41764198-01DE-4B20-868C-2430CCD8A2A2}"/>
              </a:ext>
            </a:extLst>
          </p:cNvPr>
          <p:cNvSpPr>
            <a:spLocks xmlns:a="http://schemas.openxmlformats.org/drawingml/2006/main" noGrp="1"/>
          </p:cNvSpPr>
          <p:nvPr/>
        </p:nvSpPr>
        <p:spPr>
          <a:xfrm xmlns:a="http://schemas.openxmlformats.org/drawingml/2006/main">
            <a:off x="8253984" y="365760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Conclusion and future work</a:t>
            </a:r>
          </a:p>
        </p:txBody>
      </p:sp>
      <p:sp>
        <p:nvSpPr>
          <p:cNvPr id="165" name="Slide Number">
            <a:extLst xmlns:a="http://schemas.openxmlformats.org/drawingml/2006/main">
              <a:ext uri="{FF2B5EF4-FFF2-40B4-BE49-F238E27FC236}">
                <a16:creationId xmlns:a16="http://schemas.microsoft.com/office/drawing/2014/main" id="{5363E39B-0575-463F-AFCA-68E9744ED0BE}"/>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2</a:t>
            </a:fld>
            <a:endParaRPr sz="1800" b="1"/>
          </a:p>
        </p:txBody>
      </p:sp>
    </p:spTree>
    <p:extLst>
      <p:ext uri="{BB962C8B-B14F-4D97-AF65-F5344CB8AC3E}">
        <p14:creationId xmlns:p14="http://schemas.microsoft.com/office/powerpoint/2010/main" val="199593522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6" name="Section number">
            <a:extLst xmlns:a="http://schemas.openxmlformats.org/drawingml/2006/main">
              <a:ext uri="{FF2B5EF4-FFF2-40B4-BE49-F238E27FC236}">
                <a16:creationId xmlns:a16="http://schemas.microsoft.com/office/drawing/2014/main" id="{5AF2FF14-4F6E-4509-BA86-07E6F8E37795}"/>
              </a:ext>
            </a:extLst>
          </p:cNvPr>
          <p:cNvSpPr>
            <a:spLocks xmlns:a="http://schemas.openxmlformats.org/drawingml/2006/main" noGrp="1"/>
          </p:cNvSpPr>
          <p:nvPr>
            <p:ph type="body" idx="107"/>
          </p:nvPr>
        </p:nvSpPr>
        <p:spPr/>
        <p:txBody>
          <a:bodyPr xmlns:a="http://schemas.openxmlformats.org/drawingml/2006/main"/>
          <a:lstStyle xmlns:a="http://schemas.openxmlformats.org/drawingml/2006/main"/>
          <a:p xmlns:a="http://schemas.openxmlformats.org/drawingml/2006/main">
            <a:r>
              <a:t>01</a:t>
            </a:r>
          </a:p>
        </p:txBody>
      </p:sp>
      <p:sp>
        <p:nvSpPr>
          <p:cNvPr id="167" name="Section title">
            <a:extLst xmlns:a="http://schemas.openxmlformats.org/drawingml/2006/main">
              <a:ext uri="{FF2B5EF4-FFF2-40B4-BE49-F238E27FC236}">
                <a16:creationId xmlns:a16="http://schemas.microsoft.com/office/drawing/2014/main" id="{A410C435-9804-44DA-BA5C-CD76DB52107C}"/>
              </a:ext>
            </a:extLst>
          </p:cNvPr>
          <p:cNvSpPr>
            <a:spLocks xmlns:a="http://schemas.openxmlformats.org/drawingml/2006/main" noGrp="1"/>
          </p:cNvSpPr>
          <p:nvPr>
            <p:ph type="title" idx="108"/>
          </p:nvPr>
        </p:nvSpPr>
        <p:spPr/>
        <p:txBody>
          <a:bodyPr xmlns:a="http://schemas.openxmlformats.org/drawingml/2006/main"/>
          <a:lstStyle xmlns:a="http://schemas.openxmlformats.org/drawingml/2006/main">
            <a:defPPr>
              <a:defRPr sz="4125"/>
            </a:defPPr>
          </a:lstStyle>
          <a:p xmlns:a="http://schemas.openxmlformats.org/drawingml/2006/main">
            <a:pPr>
              <a:buNone/>
              <a:defRPr sz="4125"/>
            </a:pPr>
            <a:r>
              <a:rPr sz="4125"/>
              <a:t>The study question</a:t>
            </a:r>
          </a:p>
        </p:txBody>
      </p:sp>
      <p:sp>
        <p:nvSpPr>
          <p:cNvPr id="168" name="Section summary">
            <a:extLst xmlns:a="http://schemas.openxmlformats.org/drawingml/2006/main">
              <a:ext uri="{FF2B5EF4-FFF2-40B4-BE49-F238E27FC236}">
                <a16:creationId xmlns:a16="http://schemas.microsoft.com/office/drawing/2014/main" id="{297D96B9-1062-4AFC-9A11-F37679D08051}"/>
              </a:ext>
            </a:extLst>
          </p:cNvPr>
          <p:cNvSpPr>
            <a:spLocks xmlns:a="http://schemas.openxmlformats.org/drawingml/2006/main" noGrp="1"/>
          </p:cNvSpPr>
          <p:nvPr>
            <p:ph type="body" idx="109"/>
          </p:nvPr>
        </p:nvSpPr>
        <p:spPr>
          <a:xfrm xmlns:a="http://schemas.openxmlformats.org/drawingml/2006/main">
            <a:off x="5010150" y="3571875"/>
            <a:ext cx="6477000" cy="990600"/>
          </a:xfrm>
        </p:spPr>
        <p:txBody>
          <a:bodyPr xmlns:a="http://schemas.openxmlformats.org/drawingml/2006/main"/>
          <a:lstStyle xmlns:a="http://schemas.openxmlformats.org/drawingml/2006/main">
            <a:defPPr>
              <a:defRPr sz="2175"/>
            </a:defPPr>
          </a:lstStyle>
          <a:p xmlns:a="http://schemas.openxmlformats.org/drawingml/2006/main">
            <a:pPr>
              <a:buNone/>
              <a:defRPr sz="2175"/>
            </a:pPr>
            <a:r>
              <a:rPr sz="2175"/>
              <a:t>How does retrieval quality change</a:t>
            </a:r>
          </a:p>
          <a:p xmlns:a="http://schemas.openxmlformats.org/drawingml/2006/main">
            <a:pPr>
              <a:buNone/>
              <a:defRPr sz="2175"/>
            </a:pPr>
            <a:r>
              <a:rPr sz="2175"/>
              <a:t>when relevant cases become rarer?</a:t>
            </a:r>
          </a:p>
        </p:txBody>
      </p:sp>
      <p:sp>
        <p:nvSpPr>
          <p:cNvPr id="169" name="Slide Number">
            <a:extLst xmlns:a="http://schemas.openxmlformats.org/drawingml/2006/main">
              <a:ext uri="{FF2B5EF4-FFF2-40B4-BE49-F238E27FC236}">
                <a16:creationId xmlns:a16="http://schemas.microsoft.com/office/drawing/2014/main" id="{1BEE28AD-A85E-4C22-AD16-F85C3F2117F6}"/>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3</a:t>
            </a:fld>
            <a:endParaRPr sz="1800" b="1"/>
          </a:p>
        </p:txBody>
      </p:sp>
    </p:spTree>
    <p:extLst>
      <p:ext uri="{BB962C8B-B14F-4D97-AF65-F5344CB8AC3E}">
        <p14:creationId xmlns:p14="http://schemas.microsoft.com/office/powerpoint/2010/main" val="1622256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CF0C5D8-56DC-470B-A74B-D8A9DAEF4BC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Background and Research Gap</a:t>
            </a:r>
            <a:endParaRPr sz="3600"/>
          </a:p>
        </p:txBody>
      </p:sp>
      <p:sp>
        <p:nvSpPr>
          <p:cNvPr id="3" name="Text 1">
            <a:extLst xmlns:a="http://schemas.openxmlformats.org/drawingml/2006/main">
              <a:ext uri="{FF2B5EF4-FFF2-40B4-BE49-F238E27FC236}">
                <a16:creationId xmlns:a16="http://schemas.microsoft.com/office/drawing/2014/main" id="{325611AC-E88F-4B82-85BA-19098B8681C7}"/>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2000">
                <a:solidFill>
                  <a:schemeClr val="tx1"/>
                </a:solidFill>
              </a:rPr>
              <a:t>Image retrieval returns similar prior cases for education and reference.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Existing work studies embeddings, rare diseases and imbalanced galleries.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Changing examples per class in a balanced index preserves prevalence.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This study fixes gallery size and reduces the target share from 5% to 0.5%.</a:t>
            </a:r>
            <a:endParaRPr sz="2000"/>
          </a:p>
        </p:txBody>
      </p:sp>
      <p:sp>
        <p:nvSpPr>
          <p:cNvPr id="174" name="Slide Number">
            <a:extLst xmlns:a="http://schemas.openxmlformats.org/drawingml/2006/main">
              <a:ext uri="{FF2B5EF4-FFF2-40B4-BE49-F238E27FC236}">
                <a16:creationId xmlns:a16="http://schemas.microsoft.com/office/drawing/2014/main" id="{504548C4-0E14-4661-98D9-5ED6B837938E}"/>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4</a:t>
            </a:fld>
            <a:endParaRPr sz="1800" b="1"/>
          </a:p>
        </p:txBody>
      </p:sp>
    </p:spTree>
    <p:extLst>
      <p:ext uri="{BB962C8B-B14F-4D97-AF65-F5344CB8AC3E}">
        <p14:creationId xmlns:p14="http://schemas.microsoft.com/office/powerpoint/2010/main" val="7540704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12B587A-F3BA-49B7-A52F-C88B7FB0B481}"/>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Objectives and Contributions</a:t>
            </a:r>
            <a:endParaRPr sz="3600"/>
          </a:p>
        </p:txBody>
      </p:sp>
      <p:sp>
        <p:nvSpPr>
          <p:cNvPr id="3" name="Card 1">
            <a:extLst xmlns:a="http://schemas.openxmlformats.org/drawingml/2006/main">
              <a:ext uri="{FF2B5EF4-FFF2-40B4-BE49-F238E27FC236}">
                <a16:creationId xmlns:a16="http://schemas.microsoft.com/office/drawing/2014/main" id="{0D64D6D0-ED9C-4FC1-BE4D-B401C22B2A60}"/>
              </a:ext>
            </a:extLst>
          </p:cNvPr>
          <p:cNvSpPr>
            <a:spLocks xmlns:a="http://schemas.openxmlformats.org/drawingml/2006/main" noGrp="1"/>
          </p:cNvSpPr>
          <p:nvPr/>
        </p:nvSpPr>
        <p:spPr>
          <a:xfrm xmlns:a="http://schemas.openxmlformats.org/drawingml/2006/main">
            <a:off x="548640"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4" name="Card icon circle 1">
            <a:extLst xmlns:a="http://schemas.openxmlformats.org/drawingml/2006/main">
              <a:ext uri="{FF2B5EF4-FFF2-40B4-BE49-F238E27FC236}">
                <a16:creationId xmlns:a16="http://schemas.microsoft.com/office/drawing/2014/main" id="{9FA6AB16-2E76-4993-8B4B-CF35B2F0D86A}"/>
              </a:ext>
            </a:extLst>
          </p:cNvPr>
          <p:cNvSpPr>
            <a:spLocks xmlns:a="http://schemas.openxmlformats.org/drawingml/2006/main" noGrp="1"/>
          </p:cNvSpPr>
          <p:nvPr/>
        </p:nvSpPr>
        <p:spPr>
          <a:xfrm xmlns:a="http://schemas.openxmlformats.org/drawingml/2006/main">
            <a:off x="868680"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5" name="Card icon 1">
            <a:extLst xmlns:a="http://schemas.openxmlformats.org/drawingml/2006/main">
              <a:ext uri="{FF2B5EF4-FFF2-40B4-BE49-F238E27FC236}">
                <a16:creationId xmlns:a16="http://schemas.microsoft.com/office/drawing/2014/main" id="{EFEF72CF-351B-4A9A-9BD0-2B8423C6FEAB}"/>
              </a:ext>
            </a:extLst>
          </p:cNvPr>
          <p:cNvPicPr>
            <a:picLocks xmlns:a="http://schemas.openxmlformats.org/drawingml/2006/main" noChangeAspect="1"/>
          </p:cNvPicPr>
          <p:nvPr/>
        </p:nvPicPr>
        <p:blipFill>
          <a:blip xmlns:r="http://schemas.openxmlformats.org/officeDocument/2006/relationships" xmlns:a="http://schemas.openxmlformats.org/drawingml/2006/main" r:embed="Rcf940117bbbe4f13"/>
          <a:stretch xmlns:a="http://schemas.openxmlformats.org/drawingml/2006/main">
            <a:fillRect l="0" t="0" r="0" b="0"/>
          </a:stretch>
        </p:blipFill>
        <p:spPr>
          <a:xfrm xmlns:a="http://schemas.openxmlformats.org/drawingml/2006/main">
            <a:off x="1051560" y="2103120"/>
            <a:ext cx="502920" cy="502920"/>
          </a:xfrm>
          <a:prstGeom xmlns:a="http://schemas.openxmlformats.org/drawingml/2006/main" prst="rect">
            <a:avLst/>
          </a:prstGeom>
        </p:spPr>
      </p:pic>
      <p:sp>
        <p:nvSpPr>
          <p:cNvPr id="6" name="Card heading 1">
            <a:extLst xmlns:a="http://schemas.openxmlformats.org/drawingml/2006/main">
              <a:ext uri="{FF2B5EF4-FFF2-40B4-BE49-F238E27FC236}">
                <a16:creationId xmlns:a16="http://schemas.microsoft.com/office/drawing/2014/main" id="{9551F762-992B-4BFB-B880-FD78F9E753E9}"/>
              </a:ext>
            </a:extLst>
          </p:cNvPr>
          <p:cNvSpPr>
            <a:spLocks xmlns:a="http://schemas.openxmlformats.org/drawingml/2006/main" noGrp="1"/>
          </p:cNvSpPr>
          <p:nvPr/>
        </p:nvSpPr>
        <p:spPr>
          <a:xfrm xmlns:a="http://schemas.openxmlformats.org/drawingml/2006/main">
            <a:off x="868680"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Objective</a:t>
            </a:r>
            <a:endParaRPr sz="2200"/>
          </a:p>
        </p:txBody>
      </p:sp>
      <p:sp>
        <p:nvSpPr>
          <p:cNvPr id="7" name="Card text 1">
            <a:extLst xmlns:a="http://schemas.openxmlformats.org/drawingml/2006/main">
              <a:ext uri="{FF2B5EF4-FFF2-40B4-BE49-F238E27FC236}">
                <a16:creationId xmlns:a16="http://schemas.microsoft.com/office/drawing/2014/main" id="{5FECA781-0D05-4320-A2BD-436E30C3BFFE}"/>
              </a:ext>
            </a:extLst>
          </p:cNvPr>
          <p:cNvSpPr>
            <a:spLocks xmlns:a="http://schemas.openxmlformats.org/drawingml/2006/main" noGrp="1"/>
          </p:cNvSpPr>
          <p:nvPr/>
        </p:nvSpPr>
        <p:spPr>
          <a:xfrm xmlns:a="http://schemas.openxmlformats.org/drawingml/2006/main">
            <a:off x="868680"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Measure retrieval loss as target prevalence decreases across three held-out pathologies.</a:t>
            </a:r>
            <a:endParaRPr sz="1600"/>
          </a:p>
        </p:txBody>
      </p:sp>
      <p:sp>
        <p:nvSpPr>
          <p:cNvPr id="8" name="Card 2">
            <a:extLst xmlns:a="http://schemas.openxmlformats.org/drawingml/2006/main">
              <a:ext uri="{FF2B5EF4-FFF2-40B4-BE49-F238E27FC236}">
                <a16:creationId xmlns:a16="http://schemas.microsoft.com/office/drawing/2014/main" id="{B7FCEAA2-3C0D-442E-B5AB-5C4306113A91}"/>
              </a:ext>
            </a:extLst>
          </p:cNvPr>
          <p:cNvSpPr>
            <a:spLocks xmlns:a="http://schemas.openxmlformats.org/drawingml/2006/main" noGrp="1"/>
          </p:cNvSpPr>
          <p:nvPr/>
        </p:nvSpPr>
        <p:spPr>
          <a:xfrm xmlns:a="http://schemas.openxmlformats.org/drawingml/2006/main">
            <a:off x="4325112"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9" name="Card icon circle 2">
            <a:extLst xmlns:a="http://schemas.openxmlformats.org/drawingml/2006/main">
              <a:ext uri="{FF2B5EF4-FFF2-40B4-BE49-F238E27FC236}">
                <a16:creationId xmlns:a16="http://schemas.microsoft.com/office/drawing/2014/main" id="{04C6AE85-3CC7-4977-A10C-8D44E95D24F9}"/>
              </a:ext>
            </a:extLst>
          </p:cNvPr>
          <p:cNvSpPr>
            <a:spLocks xmlns:a="http://schemas.openxmlformats.org/drawingml/2006/main" noGrp="1"/>
          </p:cNvSpPr>
          <p:nvPr/>
        </p:nvSpPr>
        <p:spPr>
          <a:xfrm xmlns:a="http://schemas.openxmlformats.org/drawingml/2006/main">
            <a:off x="4645152" y="1920240"/>
            <a:ext cx="868680" cy="868680"/>
          </a:xfrm>
          <a:prstGeom xmlns:a="http://schemas.openxmlformats.org/drawingml/2006/main" prst="ellipse">
            <a:avLst/>
          </a:prstGeom>
          <a:solidFill xmlns:a="http://schemas.openxmlformats.org/drawingml/2006/main">
            <a:schemeClr val="accent3"/>
          </a:solidFill>
        </p:spPr>
        <p:txBody>
          <a:bodyPr xmlns:a="http://schemas.openxmlformats.org/drawingml/2006/main"/>
          <a:lstStyle xmlns:a="http://schemas.openxmlformats.org/drawingml/2006/main"/>
          <a:p xmlns:a="http://schemas.openxmlformats.org/drawingml/2006/main">
            <a:endParaRPr/>
          </a:p>
        </p:txBody>
      </p:sp>
      <p:pic>
        <p:nvPicPr>
          <p:cNvPr id="10" name="Card icon 2">
            <a:extLst xmlns:a="http://schemas.openxmlformats.org/drawingml/2006/main">
              <a:ext uri="{FF2B5EF4-FFF2-40B4-BE49-F238E27FC236}">
                <a16:creationId xmlns:a16="http://schemas.microsoft.com/office/drawing/2014/main" id="{90AAF167-6788-4612-AC74-22B86402E377}"/>
              </a:ext>
            </a:extLst>
          </p:cNvPr>
          <p:cNvPicPr>
            <a:picLocks xmlns:a="http://schemas.openxmlformats.org/drawingml/2006/main" noChangeAspect="1"/>
          </p:cNvPicPr>
          <p:nvPr/>
        </p:nvPicPr>
        <p:blipFill>
          <a:blip xmlns:r="http://schemas.openxmlformats.org/officeDocument/2006/relationships" xmlns:a="http://schemas.openxmlformats.org/drawingml/2006/main" r:embed="R516265460f3344cb"/>
          <a:stretch xmlns:a="http://schemas.openxmlformats.org/drawingml/2006/main">
            <a:fillRect l="0" t="0" r="0" b="0"/>
          </a:stretch>
        </p:blipFill>
        <p:spPr>
          <a:xfrm xmlns:a="http://schemas.openxmlformats.org/drawingml/2006/main">
            <a:off x="4828032" y="2103120"/>
            <a:ext cx="502920" cy="502920"/>
          </a:xfrm>
          <a:prstGeom xmlns:a="http://schemas.openxmlformats.org/drawingml/2006/main" prst="rect">
            <a:avLst/>
          </a:prstGeom>
        </p:spPr>
      </p:pic>
      <p:sp>
        <p:nvSpPr>
          <p:cNvPr id="11" name="Card heading 2">
            <a:extLst xmlns:a="http://schemas.openxmlformats.org/drawingml/2006/main">
              <a:ext uri="{FF2B5EF4-FFF2-40B4-BE49-F238E27FC236}">
                <a16:creationId xmlns:a16="http://schemas.microsoft.com/office/drawing/2014/main" id="{DA92CF9D-7A2B-4CA7-92BE-A35C0149FCB4}"/>
              </a:ext>
            </a:extLst>
          </p:cNvPr>
          <p:cNvSpPr>
            <a:spLocks xmlns:a="http://schemas.openxmlformats.org/drawingml/2006/main" noGrp="1"/>
          </p:cNvSpPr>
          <p:nvPr/>
        </p:nvSpPr>
        <p:spPr>
          <a:xfrm xmlns:a="http://schemas.openxmlformats.org/drawingml/2006/main">
            <a:off x="4645152"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Contribution</a:t>
            </a:r>
            <a:endParaRPr sz="2200"/>
          </a:p>
        </p:txBody>
      </p:sp>
      <p:sp>
        <p:nvSpPr>
          <p:cNvPr id="12" name="Card text 2">
            <a:extLst xmlns:a="http://schemas.openxmlformats.org/drawingml/2006/main">
              <a:ext uri="{FF2B5EF4-FFF2-40B4-BE49-F238E27FC236}">
                <a16:creationId xmlns:a16="http://schemas.microsoft.com/office/drawing/2014/main" id="{BA6DDA77-4565-4BCD-98A7-C5B4D945E225}"/>
              </a:ext>
            </a:extLst>
          </p:cNvPr>
          <p:cNvSpPr>
            <a:spLocks xmlns:a="http://schemas.openxmlformats.org/drawingml/2006/main" noGrp="1"/>
          </p:cNvSpPr>
          <p:nvPr/>
        </p:nvSpPr>
        <p:spPr>
          <a:xfrm xmlns:a="http://schemas.openxmlformats.org/drawingml/2006/main">
            <a:off x="4645152"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Compare six ResNet-50 conditions with fixed queries, checkpoints and gallery size.</a:t>
            </a:r>
            <a:endParaRPr sz="1600"/>
          </a:p>
        </p:txBody>
      </p:sp>
      <p:sp>
        <p:nvSpPr>
          <p:cNvPr id="13" name="Card 3">
            <a:extLst xmlns:a="http://schemas.openxmlformats.org/drawingml/2006/main">
              <a:ext uri="{FF2B5EF4-FFF2-40B4-BE49-F238E27FC236}">
                <a16:creationId xmlns:a16="http://schemas.microsoft.com/office/drawing/2014/main" id="{E0FEB3AC-1DE8-47CD-AB66-C0787AE40BF6}"/>
              </a:ext>
            </a:extLst>
          </p:cNvPr>
          <p:cNvSpPr>
            <a:spLocks xmlns:a="http://schemas.openxmlformats.org/drawingml/2006/main" noGrp="1"/>
          </p:cNvSpPr>
          <p:nvPr/>
        </p:nvSpPr>
        <p:spPr>
          <a:xfrm xmlns:a="http://schemas.openxmlformats.org/drawingml/2006/main">
            <a:off x="8101584"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4" name="Card icon circle 3">
            <a:extLst xmlns:a="http://schemas.openxmlformats.org/drawingml/2006/main">
              <a:ext uri="{FF2B5EF4-FFF2-40B4-BE49-F238E27FC236}">
                <a16:creationId xmlns:a16="http://schemas.microsoft.com/office/drawing/2014/main" id="{CB98B754-8FCE-45DA-9FFB-89FD6525BE8D}"/>
              </a:ext>
            </a:extLst>
          </p:cNvPr>
          <p:cNvSpPr>
            <a:spLocks xmlns:a="http://schemas.openxmlformats.org/drawingml/2006/main" noGrp="1"/>
          </p:cNvSpPr>
          <p:nvPr/>
        </p:nvSpPr>
        <p:spPr>
          <a:xfrm xmlns:a="http://schemas.openxmlformats.org/drawingml/2006/main">
            <a:off x="8421624"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5" name="Card icon 3">
            <a:extLst xmlns:a="http://schemas.openxmlformats.org/drawingml/2006/main">
              <a:ext uri="{FF2B5EF4-FFF2-40B4-BE49-F238E27FC236}">
                <a16:creationId xmlns:a16="http://schemas.microsoft.com/office/drawing/2014/main" id="{1DA6DB6A-E76E-40ED-8280-9B2A83FBA1D1}"/>
              </a:ext>
            </a:extLst>
          </p:cNvPr>
          <p:cNvPicPr>
            <a:picLocks xmlns:a="http://schemas.openxmlformats.org/drawingml/2006/main" noChangeAspect="1"/>
          </p:cNvPicPr>
          <p:nvPr/>
        </p:nvPicPr>
        <p:blipFill>
          <a:blip xmlns:r="http://schemas.openxmlformats.org/officeDocument/2006/relationships" xmlns:a="http://schemas.openxmlformats.org/drawingml/2006/main" r:embed="R92ef59e3b38641b3"/>
          <a:stretch xmlns:a="http://schemas.openxmlformats.org/drawingml/2006/main">
            <a:fillRect l="0" t="0" r="0" b="0"/>
          </a:stretch>
        </p:blipFill>
        <p:spPr>
          <a:xfrm xmlns:a="http://schemas.openxmlformats.org/drawingml/2006/main">
            <a:off x="8604504" y="2103120"/>
            <a:ext cx="502920" cy="502920"/>
          </a:xfrm>
          <a:prstGeom xmlns:a="http://schemas.openxmlformats.org/drawingml/2006/main" prst="rect">
            <a:avLst/>
          </a:prstGeom>
        </p:spPr>
      </p:pic>
      <p:sp>
        <p:nvSpPr>
          <p:cNvPr id="16" name="Card heading 3">
            <a:extLst xmlns:a="http://schemas.openxmlformats.org/drawingml/2006/main">
              <a:ext uri="{FF2B5EF4-FFF2-40B4-BE49-F238E27FC236}">
                <a16:creationId xmlns:a16="http://schemas.microsoft.com/office/drawing/2014/main" id="{2D4080AC-7E25-4E76-A277-47A8654BABF9}"/>
              </a:ext>
            </a:extLst>
          </p:cNvPr>
          <p:cNvSpPr>
            <a:spLocks xmlns:a="http://schemas.openxmlformats.org/drawingml/2006/main" noGrp="1"/>
          </p:cNvSpPr>
          <p:nvPr/>
        </p:nvSpPr>
        <p:spPr>
          <a:xfrm xmlns:a="http://schemas.openxmlformats.org/drawingml/2006/main">
            <a:off x="8421624"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Implication</a:t>
            </a:r>
            <a:endParaRPr sz="2200"/>
          </a:p>
        </p:txBody>
      </p:sp>
      <p:sp>
        <p:nvSpPr>
          <p:cNvPr id="17" name="Card text 3">
            <a:extLst xmlns:a="http://schemas.openxmlformats.org/drawingml/2006/main">
              <a:ext uri="{FF2B5EF4-FFF2-40B4-BE49-F238E27FC236}">
                <a16:creationId xmlns:a16="http://schemas.microsoft.com/office/drawing/2014/main" id="{5366B772-6DA9-4523-8F56-1858CC30F1D4}"/>
              </a:ext>
            </a:extLst>
          </p:cNvPr>
          <p:cNvSpPr>
            <a:spLocks xmlns:a="http://schemas.openxmlformats.org/drawingml/2006/main" noGrp="1"/>
          </p:cNvSpPr>
          <p:nvPr/>
        </p:nvSpPr>
        <p:spPr>
          <a:xfrm xmlns:a="http://schemas.openxmlformats.org/drawingml/2006/main">
            <a:off x="8421624"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Report retrieval at multiple prevalence levels, alongside absolute quality and enrichment.</a:t>
            </a:r>
            <a:endParaRPr sz="1600"/>
          </a:p>
        </p:txBody>
      </p:sp>
      <p:sp>
        <p:nvSpPr>
          <p:cNvPr id="175" name="Slide Number">
            <a:extLst xmlns:a="http://schemas.openxmlformats.org/drawingml/2006/main">
              <a:ext uri="{FF2B5EF4-FFF2-40B4-BE49-F238E27FC236}">
                <a16:creationId xmlns:a16="http://schemas.microsoft.com/office/drawing/2014/main" id="{A6BAC44F-9556-42D2-80D9-10D249F0EDB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5</a:t>
            </a:fld>
            <a:endParaRPr sz="1800" b="1"/>
          </a:p>
        </p:txBody>
      </p:sp>
    </p:spTree>
    <p:extLst>
      <p:ext uri="{BB962C8B-B14F-4D97-AF65-F5344CB8AC3E}">
        <p14:creationId xmlns:p14="http://schemas.microsoft.com/office/powerpoint/2010/main" val="3895455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1EB08C46-F22A-47B2-A8E6-AF1AEB122BC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Prevalence-Controlled Evaluation</a:t>
            </a:r>
            <a:endParaRPr sz="3600"/>
          </a:p>
        </p:txBody>
      </p:sp>
      <p:sp>
        <p:nvSpPr>
          <p:cNvPr id="176" name="Slide Number">
            <a:extLst xmlns:a="http://schemas.openxmlformats.org/drawingml/2006/main">
              <a:ext uri="{FF2B5EF4-FFF2-40B4-BE49-F238E27FC236}">
                <a16:creationId xmlns:a16="http://schemas.microsoft.com/office/drawing/2014/main" id="{643B06BA-4C5B-4EE9-9F1A-81AB7A5BFCC3}"/>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6</a:t>
            </a:fld>
            <a:endParaRPr sz="1800" b="1"/>
          </a:p>
        </p:txBody>
      </p:sp>
      <p:sp>
        <p:nvSpPr>
          <p:cNvPr id="177" name="Fixed protocol">
            <a:extLst xmlns:a="http://schemas.openxmlformats.org/drawingml/2006/main">
              <a:ext uri="{FF2B5EF4-FFF2-40B4-BE49-F238E27FC236}">
                <a16:creationId xmlns:a16="http://schemas.microsoft.com/office/drawing/2014/main" id="{18A6A3D1-E3F7-46BC-8E00-F5E1225BEA3A}"/>
              </a:ext>
            </a:extLst>
          </p:cNvPr>
          <p:cNvSpPr>
            <a:spLocks xmlns:a="http://schemas.openxmlformats.org/drawingml/2006/main" noGrp="1"/>
          </p:cNvSpPr>
          <p:nvPr/>
        </p:nvSpPr>
        <p:spPr>
          <a:xfrm xmlns:a="http://schemas.openxmlformats.org/drawingml/2006/main">
            <a:off x="571500" y="1571625"/>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200 fixed queries per target</a:t>
            </a:r>
          </a:p>
          <a:p xmlns:a="http://schemas.openxmlformats.org/drawingml/2006/main">
            <a:r>
              <a:t/>
            </a:r>
          </a:p>
          <a:p xmlns:a="http://schemas.openxmlformats.org/drawingml/2006/main">
            <a:pPr>
              <a:defRPr sz="2025">
                <a:solidFill>
                  <a:srgbClr val="333333"/>
                </a:solidFill>
              </a:defRPr>
            </a:pPr>
            <a:r>
              <a:rPr sz="2025">
                <a:solidFill>
                  <a:srgbClr val="333333"/>
                </a:solidFill>
              </a:rPr>
              <a:t>20,000 images per gallery</a:t>
            </a:r>
          </a:p>
          <a:p xmlns:a="http://schemas.openxmlformats.org/drawingml/2006/main">
            <a:r>
              <a:t/>
            </a:r>
          </a:p>
          <a:p xmlns:a="http://schemas.openxmlformats.org/drawingml/2006/main">
            <a:pPr>
              <a:defRPr sz="2025">
                <a:solidFill>
                  <a:srgbClr val="333333"/>
                </a:solidFill>
              </a:defRPr>
            </a:pPr>
            <a:r>
              <a:rPr sz="2025">
                <a:solidFill>
                  <a:srgbClr val="333333"/>
                </a:solidFill>
              </a:rPr>
              <a:t>Five gallery samples per condition</a:t>
            </a:r>
          </a:p>
          <a:p xmlns:a="http://schemas.openxmlformats.org/drawingml/2006/main">
            <a:r>
              <a:t/>
            </a:r>
          </a:p>
          <a:p xmlns:a="http://schemas.openxmlformats.org/drawingml/2006/main">
            <a:pPr>
              <a:defRPr sz="2025">
                <a:solidFill>
                  <a:srgbClr val="333333"/>
                </a:solidFill>
              </a:defRPr>
            </a:pPr>
            <a:r>
              <a:rPr sz="2025">
                <a:solidFill>
                  <a:srgbClr val="333333"/>
                </a:solidFill>
              </a:rPr>
              <a:t>Same six fitted models throughout</a:t>
            </a:r>
          </a:p>
        </p:txBody>
      </p:sp>
      <p:graphicFrame>
        <p:nvGraphicFramePr>
          <p:cNvPr id="178" name="">
            <a:extLst xmlns:a="http://schemas.openxmlformats.org/drawingml/2006/main">
              <a:ext uri="{FF2B5EF4-FFF2-40B4-BE49-F238E27FC236}">
                <a16:creationId xmlns:a16="http://schemas.microsoft.com/office/drawing/2014/main" id="{D3FC594F-9F67-4459-B223-9D6C05281EB8}"/>
              </a:ext>
            </a:extLst>
          </p:cNvPr>
          <p:cNvGraphicFramePr/>
          <p:nvPr/>
        </p:nvGraphicFramePr>
        <p:xfrm>
          <a:off xmlns:a="http://schemas.openxmlformats.org/drawingml/2006/main" x="6191250" y="1524000"/>
          <a:ext xmlns:a="http://schemas.openxmlformats.org/drawingml/2006/main" cx="5334000" cy="3238500"/>
        </p:xfrm>
        <a:graphic xmlns:a="http://schemas.openxmlformats.org/drawingml/2006/main">
          <a:graphicData uri="http://schemas.openxmlformats.org/drawingml/2006/table">
            <a:tbl>
              <a:tblPr/>
              <a:tblGrid>
                <a:gridCol w="2667000"/>
                <a:gridCol w="2667000"/>
              </a:tblGrid>
              <a:tr h="647700">
                <a:tc>
                  <a:txBody>
                    <a:bodyPr/>
                    <a:lstStyle/>
                    <a:p>
                      <a:r>
                        <a:rPr sz="1875" b="1">
                          <a:solidFill>
                            <a:srgbClr val="FFFFFF"/>
                          </a:solidFill>
                        </a:rPr>
                        <a:t>Prevalence</a:t>
                      </a:r>
                    </a:p>
                  </a:txBody>
                  <a:tcPr marL="91440" marR="91440" marT="45720" marB="45720">
                    <a:lnL w="9525">
                      <a:solidFill>
                        <a:srgbClr val="CBD5E1"/>
                      </a:solidFill>
                    </a:lnL>
                    <a:lnR w="9525">
                      <a:solidFill>
                        <a:srgbClr val="CBD5E1"/>
                      </a:solidFill>
                    </a:lnR>
                    <a:lnT w="9525">
                      <a:solidFill>
                        <a:srgbClr val="CBD5E1"/>
                      </a:solidFill>
                    </a:lnT>
                    <a:lnB w="9525">
                      <a:solidFill>
                        <a:srgbClr val="CBD5E1"/>
                      </a:solidFill>
                    </a:lnB>
                    <a:solidFill>
                      <a:srgbClr val="0B2545"/>
                    </a:solidFill>
                  </a:tcPr>
                </a:tc>
                <a:tc>
                  <a:txBody>
                    <a:bodyPr/>
                    <a:lstStyle/>
                    <a:p>
                      <a:r>
                        <a:rPr sz="1875" b="1">
                          <a:solidFill>
                            <a:srgbClr val="FFFFFF"/>
                          </a:solidFill>
                        </a:rPr>
                        <a:t>Relevant images</a:t>
                      </a:r>
                    </a:p>
                  </a:txBody>
                  <a:tcPr marL="91440" marR="91440" marT="45720" marB="45720">
                    <a:lnR w="9525">
                      <a:solidFill>
                        <a:srgbClr val="CBD5E1"/>
                      </a:solidFill>
                    </a:lnR>
                    <a:lnT w="9525">
                      <a:solidFill>
                        <a:srgbClr val="CBD5E1"/>
                      </a:solidFill>
                    </a:lnT>
                    <a:lnB w="9525">
                      <a:solidFill>
                        <a:srgbClr val="CBD5E1"/>
                      </a:solidFill>
                    </a:lnB>
                    <a:solidFill>
                      <a:srgbClr val="0B2545"/>
                    </a:solidFill>
                  </a:tcPr>
                </a:tc>
              </a:tr>
              <a:tr h="647700">
                <a:tc>
                  <a:txBody>
                    <a:bodyPr/>
                    <a:lstStyle/>
                    <a:p>
                      <a:r>
                        <a:rPr sz="1875" b="0">
                          <a:solidFill>
                            <a:srgbClr val="333333"/>
                          </a:solidFill>
                        </a:rPr>
                        <a:t>5%</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1,000</a:t>
                      </a:r>
                    </a:p>
                  </a:txBody>
                  <a:tcPr marL="91440" marR="91440" marT="45720" marB="45720">
                    <a:lnR w="9525">
                      <a:solidFill>
                        <a:srgbClr val="CBD5E1"/>
                      </a:solidFill>
                    </a:lnR>
                    <a:lnB w="9525">
                      <a:solidFill>
                        <a:srgbClr val="CBD5E1"/>
                      </a:solidFill>
                    </a:lnB>
                    <a:solidFill>
                      <a:srgbClr val="FFFFFF"/>
                    </a:solidFill>
                  </a:tcPr>
                </a:tc>
              </a:tr>
              <a:tr h="647700">
                <a:tc>
                  <a:txBody>
                    <a:bodyPr/>
                    <a:lstStyle/>
                    <a:p>
                      <a:r>
                        <a:rPr sz="1875" b="0">
                          <a:solidFill>
                            <a:srgbClr val="333333"/>
                          </a:solidFill>
                        </a:rPr>
                        <a:t>2%</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400</a:t>
                      </a:r>
                    </a:p>
                  </a:txBody>
                  <a:tcPr marL="91440" marR="91440" marT="45720" marB="45720">
                    <a:lnR w="9525">
                      <a:solidFill>
                        <a:srgbClr val="CBD5E1"/>
                      </a:solidFill>
                    </a:lnR>
                    <a:lnB w="9525">
                      <a:solidFill>
                        <a:srgbClr val="CBD5E1"/>
                      </a:solidFill>
                    </a:lnB>
                    <a:solidFill>
                      <a:srgbClr val="FFFFFF"/>
                    </a:solidFill>
                  </a:tcPr>
                </a:tc>
              </a:tr>
              <a:tr h="647700">
                <a:tc>
                  <a:txBody>
                    <a:bodyPr/>
                    <a:lstStyle/>
                    <a:p>
                      <a:r>
                        <a:rPr sz="1875" b="0">
                          <a:solidFill>
                            <a:srgbClr val="333333"/>
                          </a:solidFill>
                        </a:rPr>
                        <a:t>1%</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200</a:t>
                      </a:r>
                    </a:p>
                  </a:txBody>
                  <a:tcPr marL="91440" marR="91440" marT="45720" marB="45720">
                    <a:lnR w="9525">
                      <a:solidFill>
                        <a:srgbClr val="CBD5E1"/>
                      </a:solidFill>
                    </a:lnR>
                    <a:lnB w="9525">
                      <a:solidFill>
                        <a:srgbClr val="CBD5E1"/>
                      </a:solidFill>
                    </a:lnB>
                    <a:solidFill>
                      <a:srgbClr val="FFFFFF"/>
                    </a:solidFill>
                  </a:tcPr>
                </a:tc>
              </a:tr>
              <a:tr h="647700">
                <a:tc>
                  <a:txBody>
                    <a:bodyPr/>
                    <a:lstStyle/>
                    <a:p>
                      <a:r>
                        <a:rPr sz="1875" b="0">
                          <a:solidFill>
                            <a:srgbClr val="333333"/>
                          </a:solidFill>
                        </a:rPr>
                        <a:t>0.5%</a:t>
                      </a:r>
                    </a:p>
                  </a:txBody>
                  <a:tcPr marL="91440" marR="91440" marT="45720" marB="45720">
                    <a:lnL w="9525">
                      <a:solidFill>
                        <a:srgbClr val="CBD5E1"/>
                      </a:solidFill>
                    </a:lnL>
                    <a:lnR w="9525">
                      <a:solidFill>
                        <a:srgbClr val="CBD5E1"/>
                      </a:solidFill>
                    </a:lnR>
                    <a:lnB w="9525">
                      <a:solidFill>
                        <a:srgbClr val="CBD5E1"/>
                      </a:solidFill>
                    </a:lnB>
                    <a:solidFill>
                      <a:srgbClr val="FFFFFF"/>
                    </a:solidFill>
                  </a:tcPr>
                </a:tc>
                <a:tc>
                  <a:txBody>
                    <a:bodyPr/>
                    <a:lstStyle/>
                    <a:p>
                      <a:r>
                        <a:rPr sz="1875" b="0">
                          <a:solidFill>
                            <a:srgbClr val="333333"/>
                          </a:solidFill>
                        </a:rPr>
                        <a:t>100</a:t>
                      </a:r>
                    </a:p>
                  </a:txBody>
                  <a:tcPr marL="91440" marR="91440" marT="45720" marB="45720">
                    <a:lnR w="9525">
                      <a:solidFill>
                        <a:srgbClr val="CBD5E1"/>
                      </a:solidFill>
                    </a:lnR>
                    <a:lnB w="9525">
                      <a:solidFill>
                        <a:srgbClr val="CBD5E1"/>
                      </a:solidFill>
                    </a:lnB>
                    <a:solidFill>
                      <a:srgbClr val="FFFFFF"/>
                    </a:solidFill>
                  </a:tcPr>
                </a:tc>
              </a:tr>
            </a:tbl>
          </a:graphicData>
        </a:graphic>
      </p:graphicFrame>
      <p:sp>
        <p:nvSpPr>
          <p:cNvPr id="179" name="Targets">
            <a:extLst xmlns:a="http://schemas.openxmlformats.org/drawingml/2006/main">
              <a:ext uri="{FF2B5EF4-FFF2-40B4-BE49-F238E27FC236}">
                <a16:creationId xmlns:a16="http://schemas.microsoft.com/office/drawing/2014/main" id="{7FEC5A6C-CE6C-4649-9152-A8719B7900D9}"/>
              </a:ext>
            </a:extLst>
          </p:cNvPr>
          <p:cNvSpPr>
            <a:spLocks xmlns:a="http://schemas.openxmlformats.org/drawingml/2006/main" noGrp="1"/>
          </p:cNvSpPr>
          <p:nvPr/>
        </p:nvSpPr>
        <p:spPr>
          <a:xfrm xmlns:a="http://schemas.openxmlformats.org/drawingml/2006/main">
            <a:off x="571500" y="5095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Cardiomegaly, emphysema and pneumothorax</a:t>
            </a:r>
          </a:p>
        </p:txBody>
      </p:sp>
      <p:sp>
        <p:nvSpPr>
          <p:cNvPr id="180" name="Control details">
            <a:extLst xmlns:a="http://schemas.openxmlformats.org/drawingml/2006/main">
              <a:ext uri="{FF2B5EF4-FFF2-40B4-BE49-F238E27FC236}">
                <a16:creationId xmlns:a16="http://schemas.microsoft.com/office/drawing/2014/main" id="{70B8F976-41ED-4FB2-A731-1EED29730C56}"/>
              </a:ext>
            </a:extLst>
          </p:cNvPr>
          <p:cNvSpPr>
            <a:spLocks xmlns:a="http://schemas.openxmlformats.org/drawingml/2006/main" noGrp="1"/>
          </p:cNvSpPr>
          <p:nvPr/>
        </p:nvSpPr>
        <p:spPr>
          <a:xfrm xmlns:a="http://schemas.openxmlformats.org/drawingml/2006/main">
            <a:off x="571500" y="5667375"/>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333333"/>
                </a:solidFill>
              </a:defRPr>
            </a:defPPr>
          </a:lstStyle>
          <a:p xmlns:a="http://schemas.openxmlformats.org/drawingml/2006/main">
            <a:pPr>
              <a:defRPr sz="1575">
                <a:solidFill>
                  <a:srgbClr val="333333"/>
                </a:solidFill>
              </a:defRPr>
            </a:pPr>
            <a:r>
              <a:rPr sz="1575">
                <a:solidFill>
                  <a:srgbClr val="333333"/>
                </a:solidFill>
              </a:rPr>
              <a:t>Each non-target pathology contributes 400 distractors. Background images fill the remaining positions.</a:t>
            </a:r>
          </a:p>
          <a:p xmlns:a="http://schemas.openxmlformats.org/drawingml/2006/main">
            <a:pPr>
              <a:defRPr sz="1575">
                <a:solidFill>
                  <a:srgbClr val="333333"/>
                </a:solidFill>
              </a:defRPr>
            </a:pPr>
            <a:r>
              <a:rPr sz="1575">
                <a:solidFill>
                  <a:srgbClr val="333333"/>
                </a:solidFill>
              </a:rPr>
              <a:t>3 targets × 4 prevalence levels × 5 gallery samples = 60 galleries.</a:t>
            </a:r>
          </a:p>
        </p:txBody>
      </p:sp>
    </p:spTree>
    <p:extLst>
      <p:ext uri="{BB962C8B-B14F-4D97-AF65-F5344CB8AC3E}">
        <p14:creationId xmlns:p14="http://schemas.microsoft.com/office/powerpoint/2010/main" val="3996857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4F637E95-D0F6-4310-BC82-03D9855EFB10}"/>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Experimental Setup</a:t>
            </a:r>
            <a:endParaRPr sz="3600"/>
          </a:p>
        </p:txBody>
      </p:sp>
      <p:graphicFrame>
        <p:nvGraphicFramePr>
          <p:cNvPr id="8" name="Table 0">
            <a:extLst xmlns:a="http://schemas.openxmlformats.org/drawingml/2006/main">
              <a:ext uri="{FF2B5EF4-FFF2-40B4-BE49-F238E27FC236}">
                <a16:creationId xmlns:a16="http://schemas.microsoft.com/office/drawing/2014/main" id="{C444C14A-B92A-491E-9EC9-44A8627A5F25}"/>
              </a:ext>
            </a:extLst>
          </p:cNvPr>
          <p:cNvGraphicFramePr/>
          <p:nvPr/>
        </p:nvGraphicFramePr>
        <p:xfrm>
          <a:off xmlns:a="http://schemas.openxmlformats.org/drawingml/2006/main" x="548640" y="1428750"/>
          <a:ext xmlns:a="http://schemas.openxmlformats.org/drawingml/2006/main" cx="11091672" cy="4286250"/>
        </p:xfrm>
        <a:graphic xmlns:a="http://schemas.openxmlformats.org/drawingml/2006/main">
          <a:graphicData uri="http://schemas.openxmlformats.org/drawingml/2006/table">
            <a:tbl>
              <a:tblPr/>
              <a:tblGrid>
                <a:gridCol w="2926080"/>
                <a:gridCol w="8165592"/>
              </a:tblGrid>
              <a:tr h="514350">
                <a:tc>
                  <a:txBody>
                    <a:bodyPr/>
                    <a:lstStyle/>
                    <a:p>
                      <a:pPr marL="0" indent="0">
                        <a:buNone/>
                      </a:pPr>
                      <a:r>
                        <a:rPr sz="1600" b="1">
                          <a:solidFill>
                            <a:schemeClr val="bg1"/>
                          </a:solidFill>
                        </a:rPr>
                        <a:t>Item</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c>
                  <a:txBody>
                    <a:bodyPr/>
                    <a:lstStyle/>
                    <a:p>
                      <a:pPr marL="0" indent="0">
                        <a:buNone/>
                      </a:pPr>
                      <a:r>
                        <a:rPr sz="1600" b="1">
                          <a:solidFill>
                            <a:schemeClr val="bg1"/>
                          </a:solidFill>
                        </a:rPr>
                        <a:t>Details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r>
              <a:tr h="762000">
                <a:tc>
                  <a:txBody>
                    <a:bodyPr/>
                    <a:lstStyle/>
                    <a:p>
                      <a:pPr marL="0" indent="0">
                        <a:buNone/>
                      </a:pPr>
                      <a:r>
                        <a:rPr sz="1600" b="1">
                          <a:solidFill>
                            <a:schemeClr val="tx1"/>
                          </a:solidFill>
                        </a:rPr>
                        <a:t>Data and queries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NIH ChestX-ray14, SIIM-ACR and three external collections.</a:t>
                      </a:r>
                      <a:endParaRPr sz="1600"/>
                    </a:p>
                    <a:p>
                      <a:pPr marL="0" indent="0">
                        <a:buNone/>
                      </a:pPr>
                      <a:r>
                        <a:rPr sz="1600">
                          <a:solidFill>
                            <a:schemeClr val="tx1"/>
                          </a:solidFill>
                        </a:rPr>
                        <a:t>200 fixed queries per pathology.</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Image preparation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224 × 224, grayscale in 3 channels, ImageNet normalization.</a:t>
                      </a:r>
                      <a:endParaRPr sz="1600"/>
                    </a:p>
                    <a:p>
                      <a:pPr marL="0" indent="0">
                        <a:buNone/>
                      </a:pPr>
                      <a:r>
                        <a:rPr sz="1600">
                          <a:solidFill>
                            <a:schemeClr val="tx1"/>
                          </a:solidFill>
                        </a:rPr>
                        <a:t>Duplicate audit and patient exclusions where identifiers permit.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Six representations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CNN-PT, CNN-Common, CNN-NIH, SwAV-PT,</a:t>
                      </a:r>
                      <a:endParaRPr sz="1600"/>
                    </a:p>
                    <a:p>
                      <a:pPr marL="0" indent="0">
                        <a:buNone/>
                      </a:pPr>
                      <a:r>
                        <a:rPr sz="1600">
                          <a:solidFill>
                            <a:schemeClr val="tx1"/>
                          </a:solidFill>
                        </a:rPr>
                        <a:t>SwAV-CLS and SwAV-SupCon.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Retrieval and metrics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2,048-D normalized embeddings, exact cosine ranking.</a:t>
                      </a:r>
                      <a:endParaRPr sz="1600"/>
                    </a:p>
                    <a:p>
                      <a:pPr marL="0" indent="0">
                        <a:buNone/>
                      </a:pPr>
                      <a:r>
                        <a:rPr sz="1600">
                          <a:solidFill>
                            <a:schemeClr val="tx1"/>
                          </a:solidFill>
                        </a:rPr>
                        <a:t>Precision@10 primary, nDCG@10 secondary.</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762000">
                <a:tc>
                  <a:txBody>
                    <a:bodyPr/>
                    <a:lstStyle/>
                    <a:p>
                      <a:pPr marL="0" indent="0">
                        <a:buNone/>
                      </a:pPr>
                      <a:r>
                        <a:rPr sz="1600" b="1">
                          <a:solidFill>
                            <a:schemeClr val="tx1"/>
                          </a:solidFill>
                        </a:rPr>
                        <a:t>Training and inference</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AdamW, learning rate 0.0001, up to 50 epochs.</a:t>
                      </a:r>
                      <a:endParaRPr sz="1600"/>
                    </a:p>
                    <a:p>
                      <a:pPr marL="0" indent="0">
                        <a:buNone/>
                      </a:pPr>
                      <a:r>
                        <a:rPr sz="1600">
                          <a:solidFill>
                            <a:schemeClr val="tx1"/>
                          </a:solidFill>
                        </a:rPr>
                        <a:t>One training run per learned condition, five gallery seeds.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bl>
          </a:graphicData>
        </a:graphic>
      </p:graphicFrame>
      <p:sp>
        <p:nvSpPr>
          <p:cNvPr id="177" name="Slide Number">
            <a:extLst xmlns:a="http://schemas.openxmlformats.org/drawingml/2006/main">
              <a:ext uri="{FF2B5EF4-FFF2-40B4-BE49-F238E27FC236}">
                <a16:creationId xmlns:a16="http://schemas.microsoft.com/office/drawing/2014/main" id="{FD3D74DC-C39D-48E6-9162-F1BA87F3599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7</a:t>
            </a:fld>
            <a:endParaRPr sz="1800" b="1"/>
          </a:p>
        </p:txBody>
      </p:sp>
    </p:spTree>
    <p:extLst>
      <p:ext uri="{BB962C8B-B14F-4D97-AF65-F5344CB8AC3E}">
        <p14:creationId xmlns:p14="http://schemas.microsoft.com/office/powerpoint/2010/main" val="144783223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45878DB-C910-4837-9C22-0588610DC22D}"/>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Precision Falls at Lower Prevalence</a:t>
            </a:r>
            <a:endParaRPr sz="3600"/>
          </a:p>
        </p:txBody>
      </p:sp>
      <p:sp>
        <p:nvSpPr>
          <p:cNvPr id="4" name="Takeaway card">
            <a:extLst xmlns:a="http://schemas.openxmlformats.org/drawingml/2006/main">
              <a:ext uri="{FF2B5EF4-FFF2-40B4-BE49-F238E27FC236}">
                <a16:creationId xmlns:a16="http://schemas.microsoft.com/office/drawing/2014/main" id="{D227278A-6CA0-4298-926D-A41927CDF95A}"/>
              </a:ext>
            </a:extLst>
          </p:cNvPr>
          <p:cNvSpPr>
            <a:spLocks xmlns:a="http://schemas.openxmlformats.org/drawingml/2006/main" noGrp="1"/>
          </p:cNvSpPr>
          <p:nvPr/>
        </p:nvSpPr>
        <p:spPr>
          <a:xfrm xmlns:a="http://schemas.openxmlformats.org/drawingml/2006/main">
            <a:off x="7863840" y="1463040"/>
            <a:ext cx="3776472" cy="4526280"/>
          </a:xfrm>
          <a:prstGeom xmlns:a="http://schemas.openxmlformats.org/drawingml/2006/main" prst="roundRect">
            <a:avLst>
              <a:gd name="adj" fmla="val 2906"/>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5" name="Takeaway text">
            <a:extLst xmlns:a="http://schemas.openxmlformats.org/drawingml/2006/main">
              <a:ext uri="{FF2B5EF4-FFF2-40B4-BE49-F238E27FC236}">
                <a16:creationId xmlns:a16="http://schemas.microsoft.com/office/drawing/2014/main" id="{AFEC203F-EBFF-46C7-B587-5A6B19D851C1}"/>
              </a:ext>
            </a:extLst>
          </p:cNvPr>
          <p:cNvSpPr>
            <a:spLocks xmlns:a="http://schemas.openxmlformats.org/drawingml/2006/main" noGrp="1"/>
          </p:cNvSpPr>
          <p:nvPr/>
        </p:nvSpPr>
        <p:spPr>
          <a:xfrm xmlns:a="http://schemas.openxmlformats.org/drawingml/2006/main">
            <a:off x="8138160" y="1737360"/>
            <a:ext cx="3227832"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a:defPPr>
          </a:lstStyle>
          <a:p xmlns:a="http://schemas.openxmlformats.org/drawingml/2006/main">
            <a:pPr marL="0" indent="0">
              <a:buNone/>
              <a:defRPr sz="1650"/>
            </a:pPr>
            <a:r>
              <a:rPr sz="1650" b="1">
                <a:solidFill>
                  <a:schemeClr val="tx2"/>
                </a:solidFill>
              </a:rPr>
              <a:t>All six models declined</a:t>
            </a:r>
            <a:endParaRPr sz="1800"/>
          </a:p>
          <a:p xmlns:a="http://schemas.openxmlformats.org/drawingml/2006/main">
            <a:pPr marL="0" indent="0">
              <a:buNone/>
            </a:pPr>
            <a:r>
              <a:rPr sz="800">
                <a:solidFill>
                  <a:srgbClr val="000000"/>
                </a:solidFill>
              </a:rPr>
              <a:t/>
            </a:r>
            <a:endParaRPr sz="1800"/>
          </a:p>
          <a:p xmlns:a="http://schemas.openxmlformats.org/drawingml/2006/main">
            <a:pPr marL="0" indent="0">
              <a:buNone/>
              <a:defRPr sz="1650"/>
            </a:pPr>
            <a:r>
              <a:rPr sz="1650">
                <a:solidFill>
                  <a:schemeClr val="tx1"/>
                </a:solidFill>
              </a:rPr>
              <a:t>P@10 fell by 83.4%–91.9% from 5% to 0.5% prevalence across the 18 model–pathology pairs.</a:t>
            </a:r>
            <a:endParaRPr sz="1800"/>
          </a:p>
          <a:p xmlns:a="http://schemas.openxmlformats.org/drawingml/2006/main">
            <a:pPr marL="0" indent="0">
              <a:buNone/>
            </a:pPr>
            <a:r>
              <a:rPr sz="800">
                <a:solidFill>
                  <a:srgbClr val="000000"/>
                </a:solidFill>
              </a:rPr>
              <a:t/>
            </a:r>
            <a:endParaRPr sz="1800"/>
          </a:p>
          <a:p xmlns:a="http://schemas.openxmlformats.org/drawingml/2006/main">
            <a:pPr marL="0" indent="0">
              <a:buNone/>
              <a:defRPr sz="1650"/>
            </a:pPr>
            <a:r>
              <a:rPr sz="1650">
                <a:solidFill>
                  <a:schemeClr val="tx1"/>
                </a:solidFill>
              </a:rPr>
              <a:t>Every paired decline remained significant after Holm correction.</a:t>
            </a:r>
            <a:endParaRPr sz="1800"/>
          </a:p>
          <a:p xmlns:a="http://schemas.openxmlformats.org/drawingml/2006/main">
            <a:pPr marL="0" indent="0">
              <a:buNone/>
            </a:pPr>
            <a:r>
              <a:rPr sz="1600">
                <a:solidFill>
                  <a:schemeClr val="tx1"/>
                </a:solidFill>
              </a:rPr>
              <a:t/>
            </a:r>
            <a:endParaRPr sz="1800"/>
          </a:p>
          <a:p xmlns:a="http://schemas.openxmlformats.org/drawingml/2006/main">
            <a:pPr marL="0" indent="0">
              <a:buNone/>
              <a:defRPr sz="1650"/>
            </a:pPr>
            <a:r>
              <a:rPr sz="1650">
                <a:solidFill>
                  <a:schemeClr val="tx1"/>
                </a:solidFill>
              </a:rPr>
              <a:t>At 0.5%, random P@10 = 0.005.</a:t>
            </a:r>
            <a:endParaRPr sz="1800"/>
          </a:p>
        </p:txBody>
      </p:sp>
      <p:sp>
        <p:nvSpPr>
          <p:cNvPr id="178" name="Slide Number">
            <a:extLst xmlns:a="http://schemas.openxmlformats.org/drawingml/2006/main">
              <a:ext uri="{FF2B5EF4-FFF2-40B4-BE49-F238E27FC236}">
                <a16:creationId xmlns:a16="http://schemas.microsoft.com/office/drawing/2014/main" id="{89903BB5-4A27-4598-846D-BD4A9E38C02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8</a:t>
            </a:fld>
            <a:endParaRPr sz="1800" b="1"/>
          </a:p>
        </p:txBody>
      </p:sp>
      <p:graphicFrame>
        <p:nvGraphicFramePr>
          <p:cNvPr id="179" name="Chart">
            <a:extLst xmlns:a="http://schemas.openxmlformats.org/drawingml/2006/main">
              <a:ext uri="{FF2B5EF4-FFF2-40B4-BE49-F238E27FC236}">
                <a16:creationId xmlns:a16="http://schemas.microsoft.com/office/drawing/2014/main" id="{2AACB54C-86A5-43FF-BD45-30173ED1025B}"/>
              </a:ext>
            </a:extLst>
          </p:cNvPr>
          <p:cNvGraphicFramePr/>
          <p:nvPr/>
        </p:nvGraphicFramePr>
        <p:xfrm>
          <a:off xmlns:a="http://schemas.openxmlformats.org/drawingml/2006/main" x="548640" y="1438275"/>
          <a:ext xmlns:a="http://schemas.openxmlformats.org/drawingml/2006/main" cx="6953250" cy="4429125"/>
        </p:xfrm>
        <a:graphic xmlns:a="http://schemas.openxmlformats.org/drawingml/2006/main">
          <a:graphicData uri="http://schemas.openxmlformats.org/drawingml/2006/chart">
            <c:chart xmlns:r="http://schemas.openxmlformats.org/officeDocument/2006/relationships" xmlns:c="http://schemas.openxmlformats.org/drawingml/2006/chart" r:id="R27e363ed84c4469d"/>
          </a:graphicData>
        </a:graphic>
      </p:graphicFrame>
    </p:spTree>
    <p:extLst>
      <p:ext uri="{BB962C8B-B14F-4D97-AF65-F5344CB8AC3E}">
        <p14:creationId xmlns:p14="http://schemas.microsoft.com/office/powerpoint/2010/main" val="11982991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55875F17-E5FE-4C1E-9D1C-D27FAB2F4FB3}"/>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SwAV-SupCon Leads Within This Study</a:t>
            </a:r>
            <a:endParaRPr sz="3600"/>
          </a:p>
        </p:txBody>
      </p:sp>
      <p:sp>
        <p:nvSpPr>
          <p:cNvPr id="3" name="Stat icon circle 1">
            <a:extLst xmlns:a="http://schemas.openxmlformats.org/drawingml/2006/main">
              <a:ext uri="{FF2B5EF4-FFF2-40B4-BE49-F238E27FC236}">
                <a16:creationId xmlns:a16="http://schemas.microsoft.com/office/drawing/2014/main" id="{EACFFB7A-A102-4EAC-90AB-2B20487165D9}"/>
              </a:ext>
            </a:extLst>
          </p:cNvPr>
          <p:cNvSpPr>
            <a:spLocks xmlns:a="http://schemas.openxmlformats.org/drawingml/2006/main" noGrp="1"/>
          </p:cNvSpPr>
          <p:nvPr/>
        </p:nvSpPr>
        <p:spPr>
          <a:xfrm xmlns:a="http://schemas.openxmlformats.org/drawingml/2006/main">
            <a:off x="548640"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4" name="Stat icon 1">
            <a:extLst xmlns:a="http://schemas.openxmlformats.org/drawingml/2006/main">
              <a:ext uri="{FF2B5EF4-FFF2-40B4-BE49-F238E27FC236}">
                <a16:creationId xmlns:a16="http://schemas.microsoft.com/office/drawing/2014/main" id="{DBE9B89E-2162-4D7D-B5A9-2CC577C0692A}"/>
              </a:ext>
            </a:extLst>
          </p:cNvPr>
          <p:cNvPicPr>
            <a:picLocks xmlns:a="http://schemas.openxmlformats.org/drawingml/2006/main" noChangeAspect="1"/>
          </p:cNvPicPr>
          <p:nvPr/>
        </p:nvPicPr>
        <p:blipFill>
          <a:blip xmlns:r="http://schemas.openxmlformats.org/officeDocument/2006/relationships" xmlns:a="http://schemas.openxmlformats.org/drawingml/2006/main" r:embed="Rb02f2536e7e44585"/>
          <a:stretch xmlns:a="http://schemas.openxmlformats.org/drawingml/2006/main">
            <a:fillRect l="0" t="0" r="0" b="0"/>
          </a:stretch>
        </p:blipFill>
        <p:spPr>
          <a:xfrm xmlns:a="http://schemas.openxmlformats.org/drawingml/2006/main">
            <a:off x="713232" y="1856232"/>
            <a:ext cx="402336" cy="402336"/>
          </a:xfrm>
          <a:prstGeom xmlns:a="http://schemas.openxmlformats.org/drawingml/2006/main" prst="rect">
            <a:avLst/>
          </a:prstGeom>
        </p:spPr>
      </p:pic>
      <p:sp>
        <p:nvSpPr>
          <p:cNvPr id="5" name="Stat value 1">
            <a:extLst xmlns:a="http://schemas.openxmlformats.org/drawingml/2006/main">
              <a:ext uri="{FF2B5EF4-FFF2-40B4-BE49-F238E27FC236}">
                <a16:creationId xmlns:a16="http://schemas.microsoft.com/office/drawing/2014/main" id="{B7A74BAA-2B3F-4C3B-9603-657C0C69D51B}"/>
              </a:ext>
            </a:extLst>
          </p:cNvPr>
          <p:cNvSpPr>
            <a:spLocks xmlns:a="http://schemas.openxmlformats.org/drawingml/2006/main" noGrp="1"/>
          </p:cNvSpPr>
          <p:nvPr/>
        </p:nvSpPr>
        <p:spPr>
          <a:xfrm xmlns:a="http://schemas.openxmlformats.org/drawingml/2006/main">
            <a:off x="548640"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accent1"/>
                </a:solidFill>
                <a:latin typeface="Roboto"/>
                <a:ea typeface="Roboto"/>
                <a:cs typeface="Roboto"/>
              </a:rPr>
              <a:t>12/12</a:t>
            </a:r>
            <a:endParaRPr sz="6000"/>
          </a:p>
        </p:txBody>
      </p:sp>
      <p:sp>
        <p:nvSpPr>
          <p:cNvPr id="6" name="Stat label 1">
            <a:extLst xmlns:a="http://schemas.openxmlformats.org/drawingml/2006/main">
              <a:ext uri="{FF2B5EF4-FFF2-40B4-BE49-F238E27FC236}">
                <a16:creationId xmlns:a16="http://schemas.microsoft.com/office/drawing/2014/main" id="{89BA6453-1923-4A26-9093-10C9E57D0B91}"/>
              </a:ext>
            </a:extLst>
          </p:cNvPr>
          <p:cNvSpPr>
            <a:spLocks xmlns:a="http://schemas.openxmlformats.org/drawingml/2006/main" noGrp="1"/>
          </p:cNvSpPr>
          <p:nvPr/>
        </p:nvSpPr>
        <p:spPr>
          <a:xfrm xmlns:a="http://schemas.openxmlformats.org/drawingml/2006/main">
            <a:off x="548640"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Highest mean P@10</a:t>
            </a:r>
            <a:endParaRPr sz="2000"/>
          </a:p>
        </p:txBody>
      </p:sp>
      <p:sp>
        <p:nvSpPr>
          <p:cNvPr id="7" name="Stat note 1">
            <a:extLst xmlns:a="http://schemas.openxmlformats.org/drawingml/2006/main">
              <a:ext uri="{FF2B5EF4-FFF2-40B4-BE49-F238E27FC236}">
                <a16:creationId xmlns:a16="http://schemas.microsoft.com/office/drawing/2014/main" id="{7444BA6E-00F2-4136-A5A9-5E5B1B297F8F}"/>
              </a:ext>
            </a:extLst>
          </p:cNvPr>
          <p:cNvSpPr>
            <a:spLocks xmlns:a="http://schemas.openxmlformats.org/drawingml/2006/main" noGrp="1"/>
          </p:cNvSpPr>
          <p:nvPr/>
        </p:nvSpPr>
        <p:spPr>
          <a:xfrm xmlns:a="http://schemas.openxmlformats.org/drawingml/2006/main">
            <a:off x="548640"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All pathology–prevalence</a:t>
            </a:r>
            <a:endParaRPr sz="1500"/>
          </a:p>
          <a:p xmlns:a="http://schemas.openxmlformats.org/drawingml/2006/main">
            <a:pPr marL="0" indent="0">
              <a:buNone/>
            </a:pPr>
            <a:r>
              <a:rPr sz="1500">
                <a:solidFill>
                  <a:schemeClr val="accent5"/>
                </a:solidFill>
              </a:rPr>
              <a:t>conditions</a:t>
            </a:r>
            <a:endParaRPr sz="1500"/>
          </a:p>
        </p:txBody>
      </p:sp>
      <p:sp>
        <p:nvSpPr>
          <p:cNvPr id="8" name="Stat icon circle 2">
            <a:extLst xmlns:a="http://schemas.openxmlformats.org/drawingml/2006/main">
              <a:ext uri="{FF2B5EF4-FFF2-40B4-BE49-F238E27FC236}">
                <a16:creationId xmlns:a16="http://schemas.microsoft.com/office/drawing/2014/main" id="{8E3644AB-855A-411D-825A-0AD3747B2639}"/>
              </a:ext>
            </a:extLst>
          </p:cNvPr>
          <p:cNvSpPr>
            <a:spLocks xmlns:a="http://schemas.openxmlformats.org/drawingml/2006/main" noGrp="1"/>
          </p:cNvSpPr>
          <p:nvPr/>
        </p:nvSpPr>
        <p:spPr>
          <a:xfrm xmlns:a="http://schemas.openxmlformats.org/drawingml/2006/main">
            <a:off x="4325112"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9" name="Stat icon 2">
            <a:extLst xmlns:a="http://schemas.openxmlformats.org/drawingml/2006/main">
              <a:ext uri="{FF2B5EF4-FFF2-40B4-BE49-F238E27FC236}">
                <a16:creationId xmlns:a16="http://schemas.microsoft.com/office/drawing/2014/main" id="{A6A56801-D880-4BCA-82B9-327EA0E4927E}"/>
              </a:ext>
            </a:extLst>
          </p:cNvPr>
          <p:cNvPicPr>
            <a:picLocks xmlns:a="http://schemas.openxmlformats.org/drawingml/2006/main" noChangeAspect="1"/>
          </p:cNvPicPr>
          <p:nvPr/>
        </p:nvPicPr>
        <p:blipFill>
          <a:blip xmlns:r="http://schemas.openxmlformats.org/officeDocument/2006/relationships" xmlns:a="http://schemas.openxmlformats.org/drawingml/2006/main" r:embed="R4c021c090f7b42d3"/>
          <a:stretch xmlns:a="http://schemas.openxmlformats.org/drawingml/2006/main">
            <a:fillRect l="0" t="0" r="0" b="0"/>
          </a:stretch>
        </p:blipFill>
        <p:spPr>
          <a:xfrm xmlns:a="http://schemas.openxmlformats.org/drawingml/2006/main">
            <a:off x="4489704" y="1856232"/>
            <a:ext cx="402336" cy="402336"/>
          </a:xfrm>
          <a:prstGeom xmlns:a="http://schemas.openxmlformats.org/drawingml/2006/main" prst="rect">
            <a:avLst/>
          </a:prstGeom>
        </p:spPr>
      </p:pic>
      <p:sp>
        <p:nvSpPr>
          <p:cNvPr id="10" name="Stat value 2">
            <a:extLst xmlns:a="http://schemas.openxmlformats.org/drawingml/2006/main">
              <a:ext uri="{FF2B5EF4-FFF2-40B4-BE49-F238E27FC236}">
                <a16:creationId xmlns:a16="http://schemas.microsoft.com/office/drawing/2014/main" id="{84E81514-22B3-40D7-AB01-3B8DD15A045A}"/>
              </a:ext>
            </a:extLst>
          </p:cNvPr>
          <p:cNvSpPr>
            <a:spLocks xmlns:a="http://schemas.openxmlformats.org/drawingml/2006/main" noGrp="1"/>
          </p:cNvSpPr>
          <p:nvPr/>
        </p:nvSpPr>
        <p:spPr>
          <a:xfrm xmlns:a="http://schemas.openxmlformats.org/drawingml/2006/main">
            <a:off x="4325112"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10/12</a:t>
            </a:r>
            <a:endParaRPr sz="6000"/>
          </a:p>
        </p:txBody>
      </p:sp>
      <p:sp>
        <p:nvSpPr>
          <p:cNvPr id="11" name="Stat label 2">
            <a:extLst xmlns:a="http://schemas.openxmlformats.org/drawingml/2006/main">
              <a:ext uri="{FF2B5EF4-FFF2-40B4-BE49-F238E27FC236}">
                <a16:creationId xmlns:a16="http://schemas.microsoft.com/office/drawing/2014/main" id="{E71C1EB4-CD31-4585-B21E-4A776AD3549E}"/>
              </a:ext>
            </a:extLst>
          </p:cNvPr>
          <p:cNvSpPr>
            <a:spLocks xmlns:a="http://schemas.openxmlformats.org/drawingml/2006/main" noGrp="1"/>
          </p:cNvSpPr>
          <p:nvPr/>
        </p:nvSpPr>
        <p:spPr>
          <a:xfrm xmlns:a="http://schemas.openxmlformats.org/drawingml/2006/main">
            <a:off x="4325112"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Above SwAV-CLS</a:t>
            </a:r>
            <a:endParaRPr sz="2000"/>
          </a:p>
        </p:txBody>
      </p:sp>
      <p:sp>
        <p:nvSpPr>
          <p:cNvPr id="12" name="Stat note 2">
            <a:extLst xmlns:a="http://schemas.openxmlformats.org/drawingml/2006/main">
              <a:ext uri="{FF2B5EF4-FFF2-40B4-BE49-F238E27FC236}">
                <a16:creationId xmlns:a16="http://schemas.microsoft.com/office/drawing/2014/main" id="{1904BCC4-4639-4284-8790-1296D1BA7536}"/>
              </a:ext>
            </a:extLst>
          </p:cNvPr>
          <p:cNvSpPr>
            <a:spLocks xmlns:a="http://schemas.openxmlformats.org/drawingml/2006/main" noGrp="1"/>
          </p:cNvSpPr>
          <p:nvPr/>
        </p:nvSpPr>
        <p:spPr>
          <a:xfrm xmlns:a="http://schemas.openxmlformats.org/drawingml/2006/main">
            <a:off x="4325112"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Significant after global</a:t>
            </a:r>
            <a:endParaRPr sz="1500"/>
          </a:p>
          <a:p xmlns:a="http://schemas.openxmlformats.org/drawingml/2006/main">
            <a:pPr marL="0" indent="0">
              <a:buNone/>
            </a:pPr>
            <a:r>
              <a:rPr sz="1500">
                <a:solidFill>
                  <a:schemeClr val="accent5"/>
                </a:solidFill>
              </a:rPr>
              <a:t>Holm correction</a:t>
            </a:r>
            <a:endParaRPr sz="1500"/>
          </a:p>
        </p:txBody>
      </p:sp>
      <p:sp>
        <p:nvSpPr>
          <p:cNvPr id="13" name="Stat icon circle 3">
            <a:extLst xmlns:a="http://schemas.openxmlformats.org/drawingml/2006/main">
              <a:ext uri="{FF2B5EF4-FFF2-40B4-BE49-F238E27FC236}">
                <a16:creationId xmlns:a16="http://schemas.microsoft.com/office/drawing/2014/main" id="{21A8F1FD-502B-4321-A69E-169C0F0A80EF}"/>
              </a:ext>
            </a:extLst>
          </p:cNvPr>
          <p:cNvSpPr>
            <a:spLocks xmlns:a="http://schemas.openxmlformats.org/drawingml/2006/main" noGrp="1"/>
          </p:cNvSpPr>
          <p:nvPr/>
        </p:nvSpPr>
        <p:spPr>
          <a:xfrm xmlns:a="http://schemas.openxmlformats.org/drawingml/2006/main">
            <a:off x="8101584"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4" name="Stat icon 3">
            <a:extLst xmlns:a="http://schemas.openxmlformats.org/drawingml/2006/main">
              <a:ext uri="{FF2B5EF4-FFF2-40B4-BE49-F238E27FC236}">
                <a16:creationId xmlns:a16="http://schemas.microsoft.com/office/drawing/2014/main" id="{61F8619A-CF42-4881-9C82-67E879DEE3B9}"/>
              </a:ext>
            </a:extLst>
          </p:cNvPr>
          <p:cNvPicPr>
            <a:picLocks xmlns:a="http://schemas.openxmlformats.org/drawingml/2006/main" noChangeAspect="1"/>
          </p:cNvPicPr>
          <p:nvPr/>
        </p:nvPicPr>
        <p:blipFill>
          <a:blip xmlns:r="http://schemas.openxmlformats.org/officeDocument/2006/relationships" xmlns:a="http://schemas.openxmlformats.org/drawingml/2006/main" r:embed="Ra7cb4087b2184939"/>
          <a:stretch xmlns:a="http://schemas.openxmlformats.org/drawingml/2006/main">
            <a:fillRect l="0" t="0" r="0" b="0"/>
          </a:stretch>
        </p:blipFill>
        <p:spPr>
          <a:xfrm xmlns:a="http://schemas.openxmlformats.org/drawingml/2006/main">
            <a:off x="8266176" y="1856232"/>
            <a:ext cx="402336" cy="402336"/>
          </a:xfrm>
          <a:prstGeom xmlns:a="http://schemas.openxmlformats.org/drawingml/2006/main" prst="rect">
            <a:avLst/>
          </a:prstGeom>
        </p:spPr>
      </p:pic>
      <p:sp>
        <p:nvSpPr>
          <p:cNvPr id="15" name="Stat value 3">
            <a:extLst xmlns:a="http://schemas.openxmlformats.org/drawingml/2006/main">
              <a:ext uri="{FF2B5EF4-FFF2-40B4-BE49-F238E27FC236}">
                <a16:creationId xmlns:a16="http://schemas.microsoft.com/office/drawing/2014/main" id="{6AD38D0C-7938-4EDE-8035-6DDD1F757E3B}"/>
              </a:ext>
            </a:extLst>
          </p:cNvPr>
          <p:cNvSpPr>
            <a:spLocks xmlns:a="http://schemas.openxmlformats.org/drawingml/2006/main" noGrp="1"/>
          </p:cNvSpPr>
          <p:nvPr/>
        </p:nvSpPr>
        <p:spPr>
          <a:xfrm xmlns:a="http://schemas.openxmlformats.org/drawingml/2006/main">
            <a:off x="8101584"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3300"/>
            </a:defPPr>
          </a:lstStyle>
          <a:p xmlns:a="http://schemas.openxmlformats.org/drawingml/2006/main">
            <a:pPr marL="0" indent="0">
              <a:buNone/>
              <a:defRPr sz="3300"/>
            </a:pPr>
            <a:r>
              <a:rPr sz="3300" b="1">
                <a:solidFill>
                  <a:schemeClr val="tx2"/>
                </a:solidFill>
                <a:latin typeface="Roboto"/>
                <a:ea typeface="Roboto"/>
                <a:cs typeface="Roboto"/>
              </a:rPr>
              <a:t>3.26–13.20×</a:t>
            </a:r>
            <a:endParaRPr sz="6000"/>
          </a:p>
        </p:txBody>
      </p:sp>
      <p:sp>
        <p:nvSpPr>
          <p:cNvPr id="16" name="Stat label 3">
            <a:extLst xmlns:a="http://schemas.openxmlformats.org/drawingml/2006/main">
              <a:ext uri="{FF2B5EF4-FFF2-40B4-BE49-F238E27FC236}">
                <a16:creationId xmlns:a16="http://schemas.microsoft.com/office/drawing/2014/main" id="{D4327C88-86DB-44A0-87F6-93DA8B749C99}"/>
              </a:ext>
            </a:extLst>
          </p:cNvPr>
          <p:cNvSpPr>
            <a:spLocks xmlns:a="http://schemas.openxmlformats.org/drawingml/2006/main" noGrp="1"/>
          </p:cNvSpPr>
          <p:nvPr/>
        </p:nvSpPr>
        <p:spPr>
          <a:xfrm xmlns:a="http://schemas.openxmlformats.org/drawingml/2006/main">
            <a:off x="8101584"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Random enrichment</a:t>
            </a:r>
            <a:endParaRPr sz="2000"/>
          </a:p>
        </p:txBody>
      </p:sp>
      <p:sp>
        <p:nvSpPr>
          <p:cNvPr id="17" name="Stat note 3">
            <a:extLst xmlns:a="http://schemas.openxmlformats.org/drawingml/2006/main">
              <a:ext uri="{FF2B5EF4-FFF2-40B4-BE49-F238E27FC236}">
                <a16:creationId xmlns:a16="http://schemas.microsoft.com/office/drawing/2014/main" id="{7FAE7106-1FDF-4668-B184-C3DE4742FCA5}"/>
              </a:ext>
            </a:extLst>
          </p:cNvPr>
          <p:cNvSpPr>
            <a:spLocks xmlns:a="http://schemas.openxmlformats.org/drawingml/2006/main" noGrp="1"/>
          </p:cNvSpPr>
          <p:nvPr/>
        </p:nvSpPr>
        <p:spPr>
          <a:xfrm xmlns:a="http://schemas.openxmlformats.org/drawingml/2006/main">
            <a:off x="8101584"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At 0.5% prevalence,</a:t>
            </a:r>
            <a:endParaRPr sz="1500"/>
          </a:p>
          <a:p xmlns:a="http://schemas.openxmlformats.org/drawingml/2006/main">
            <a:pPr marL="0" indent="0">
              <a:buNone/>
            </a:pPr>
            <a:r>
              <a:rPr sz="1500">
                <a:solidFill>
                  <a:schemeClr val="accent5"/>
                </a:solidFill>
              </a:rPr>
              <a:t>P@10 = 0.0163–0.0660</a:t>
            </a:r>
            <a:endParaRPr sz="1500"/>
          </a:p>
        </p:txBody>
      </p:sp>
      <p:sp>
        <p:nvSpPr>
          <p:cNvPr id="179" name="Slide Number">
            <a:extLst xmlns:a="http://schemas.openxmlformats.org/drawingml/2006/main">
              <a:ext uri="{FF2B5EF4-FFF2-40B4-BE49-F238E27FC236}">
                <a16:creationId xmlns:a16="http://schemas.microsoft.com/office/drawing/2014/main" id="{D2CB089E-43ED-4BF4-918A-17CC0E6A3D2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9</a:t>
            </a:fld>
            <a:endParaRPr sz="1800" b="1"/>
          </a:p>
        </p:txBody>
      </p:sp>
    </p:spTree>
    <p:extLst>
      <p:ext uri="{BB962C8B-B14F-4D97-AF65-F5344CB8AC3E}">
        <p14:creationId xmlns:p14="http://schemas.microsoft.com/office/powerpoint/2010/main" val="115996458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A9CE9AB-F5D6-454F-A874-35FACB717D9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Conclusion and Future Work</a:t>
            </a:r>
            <a:endParaRPr sz="3600"/>
          </a:p>
        </p:txBody>
      </p:sp>
      <p:sp>
        <p:nvSpPr>
          <p:cNvPr id="180" name="Slide Number">
            <a:extLst xmlns:a="http://schemas.openxmlformats.org/drawingml/2006/main">
              <a:ext uri="{FF2B5EF4-FFF2-40B4-BE49-F238E27FC236}">
                <a16:creationId xmlns:a16="http://schemas.microsoft.com/office/drawing/2014/main" id="{2F1CA47C-8DD2-4685-9576-DC192D06E99A}"/>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10</a:t>
            </a:fld>
            <a:endParaRPr sz="1800" b="1"/>
          </a:p>
        </p:txBody>
      </p:sp>
      <p:sp>
        <p:nvSpPr>
          <p:cNvPr id="181" name="Conclusion heading">
            <a:extLst xmlns:a="http://schemas.openxmlformats.org/drawingml/2006/main">
              <a:ext uri="{FF2B5EF4-FFF2-40B4-BE49-F238E27FC236}">
                <a16:creationId xmlns:a16="http://schemas.microsoft.com/office/drawing/2014/main" id="{02A74BCC-68AD-4565-9428-A096BDDC83C2}"/>
              </a:ext>
            </a:extLst>
          </p:cNvPr>
          <p:cNvSpPr>
            <a:spLocks xmlns:a="http://schemas.openxmlformats.org/drawingml/2006/main" noGrp="1"/>
          </p:cNvSpPr>
          <p:nvPr/>
        </p:nvSpPr>
        <p:spPr>
          <a:xfrm xmlns:a="http://schemas.openxmlformats.org/drawingml/2006/main">
            <a:off x="552450" y="14287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2545"/>
                </a:solidFill>
              </a:defRPr>
            </a:defPPr>
          </a:lstStyle>
          <a:p xmlns:a="http://schemas.openxmlformats.org/drawingml/2006/main">
            <a:pPr>
              <a:defRPr sz="2100" b="1">
                <a:solidFill>
                  <a:srgbClr val="0B2545"/>
                </a:solidFill>
              </a:defRPr>
            </a:pPr>
            <a:r>
              <a:rPr sz="2100" b="1">
                <a:solidFill>
                  <a:srgbClr val="0B2545"/>
                </a:solidFill>
              </a:rPr>
              <a:t>Conclusion</a:t>
            </a:r>
          </a:p>
        </p:txBody>
      </p:sp>
      <p:sp>
        <p:nvSpPr>
          <p:cNvPr id="182" name="Conclusion text">
            <a:extLst xmlns:a="http://schemas.openxmlformats.org/drawingml/2006/main">
              <a:ext uri="{FF2B5EF4-FFF2-40B4-BE49-F238E27FC236}">
                <a16:creationId xmlns:a16="http://schemas.microsoft.com/office/drawing/2014/main" id="{D850F8B0-D7B0-48B0-90A3-1612E033BCB9}"/>
              </a:ext>
            </a:extLst>
          </p:cNvPr>
          <p:cNvSpPr>
            <a:spLocks xmlns:a="http://schemas.openxmlformats.org/drawingml/2006/main" noGrp="1"/>
          </p:cNvSpPr>
          <p:nvPr/>
        </p:nvSpPr>
        <p:spPr>
          <a:xfrm xmlns:a="http://schemas.openxmlformats.org/drawingml/2006/main">
            <a:off x="552450" y="19621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Lower prevalence substantially reduces retrieval quality.</a:t>
            </a:r>
          </a:p>
          <a:p xmlns:a="http://schemas.openxmlformats.org/drawingml/2006/main">
            <a:pPr>
              <a:defRPr sz="2025">
                <a:solidFill>
                  <a:srgbClr val="333333"/>
                </a:solidFill>
              </a:defRPr>
            </a:pPr>
            <a:r>
              <a:rPr sz="2025">
                <a:solidFill>
                  <a:srgbClr val="333333"/>
                </a:solidFill>
              </a:rPr>
              <a:t>SwAV-SupCon leads here, but rare-case precision remains limited.</a:t>
            </a:r>
          </a:p>
        </p:txBody>
      </p:sp>
      <p:sp>
        <p:nvSpPr>
          <p:cNvPr id="183" name="Limits heading">
            <a:extLst xmlns:a="http://schemas.openxmlformats.org/drawingml/2006/main">
              <a:ext uri="{FF2B5EF4-FFF2-40B4-BE49-F238E27FC236}">
                <a16:creationId xmlns:a16="http://schemas.microsoft.com/office/drawing/2014/main" id="{BC269BB1-AD41-47F1-8762-CEF9FA1237D7}"/>
              </a:ext>
            </a:extLst>
          </p:cNvPr>
          <p:cNvSpPr>
            <a:spLocks xmlns:a="http://schemas.openxmlformats.org/drawingml/2006/main" noGrp="1"/>
          </p:cNvSpPr>
          <p:nvPr/>
        </p:nvSpPr>
        <p:spPr>
          <a:xfrm xmlns:a="http://schemas.openxmlformats.org/drawingml/2006/main">
            <a:off x="552450" y="3105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2545"/>
                </a:solidFill>
              </a:defRPr>
            </a:defPPr>
          </a:lstStyle>
          <a:p xmlns:a="http://schemas.openxmlformats.org/drawingml/2006/main">
            <a:pPr>
              <a:defRPr sz="2100" b="1">
                <a:solidFill>
                  <a:srgbClr val="0B2545"/>
                </a:solidFill>
              </a:defRPr>
            </a:pPr>
            <a:r>
              <a:rPr sz="2100" b="1">
                <a:solidFill>
                  <a:srgbClr val="0B2545"/>
                </a:solidFill>
              </a:rPr>
              <a:t>Study limits</a:t>
            </a:r>
          </a:p>
        </p:txBody>
      </p:sp>
      <p:sp>
        <p:nvSpPr>
          <p:cNvPr id="184" name="Limits text">
            <a:extLst xmlns:a="http://schemas.openxmlformats.org/drawingml/2006/main">
              <a:ext uri="{FF2B5EF4-FFF2-40B4-BE49-F238E27FC236}">
                <a16:creationId xmlns:a16="http://schemas.microsoft.com/office/drawing/2014/main" id="{D8182F5E-7735-46FB-BE6C-B6784A196F0F}"/>
              </a:ext>
            </a:extLst>
          </p:cNvPr>
          <p:cNvSpPr>
            <a:spLocks xmlns:a="http://schemas.openxmlformats.org/drawingml/2006/main" noGrp="1"/>
          </p:cNvSpPr>
          <p:nvPr/>
        </p:nvSpPr>
        <p:spPr>
          <a:xfrm xmlns:a="http://schemas.openxmlformats.org/drawingml/2006/main">
            <a:off x="552450" y="36195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One training run per condition, imperfect labels and cross-source confounding.</a:t>
            </a:r>
          </a:p>
        </p:txBody>
      </p:sp>
      <p:sp>
        <p:nvSpPr>
          <p:cNvPr id="185" name="Future heading">
            <a:extLst xmlns:a="http://schemas.openxmlformats.org/drawingml/2006/main">
              <a:ext uri="{FF2B5EF4-FFF2-40B4-BE49-F238E27FC236}">
                <a16:creationId xmlns:a16="http://schemas.microsoft.com/office/drawing/2014/main" id="{C0329276-4B42-4005-8BF6-76EBADFD9882}"/>
              </a:ext>
            </a:extLst>
          </p:cNvPr>
          <p:cNvSpPr>
            <a:spLocks xmlns:a="http://schemas.openxmlformats.org/drawingml/2006/main" noGrp="1"/>
          </p:cNvSpPr>
          <p:nvPr/>
        </p:nvSpPr>
        <p:spPr>
          <a:xfrm xmlns:a="http://schemas.openxmlformats.org/drawingml/2006/main">
            <a:off x="552450" y="45339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2545"/>
                </a:solidFill>
              </a:defRPr>
            </a:defPPr>
          </a:lstStyle>
          <a:p xmlns:a="http://schemas.openxmlformats.org/drawingml/2006/main">
            <a:pPr>
              <a:defRPr sz="2100" b="1">
                <a:solidFill>
                  <a:srgbClr val="0B2545"/>
                </a:solidFill>
              </a:defRPr>
            </a:pPr>
            <a:r>
              <a:rPr sz="2100" b="1">
                <a:solidFill>
                  <a:srgbClr val="0B2545"/>
                </a:solidFill>
              </a:rPr>
              <a:t>Future work</a:t>
            </a:r>
          </a:p>
        </p:txBody>
      </p:sp>
      <p:sp>
        <p:nvSpPr>
          <p:cNvPr id="186" name="Future text">
            <a:extLst xmlns:a="http://schemas.openxmlformats.org/drawingml/2006/main">
              <a:ext uri="{FF2B5EF4-FFF2-40B4-BE49-F238E27FC236}">
                <a16:creationId xmlns:a16="http://schemas.microsoft.com/office/drawing/2014/main" id="{DA14C089-6E32-4ED7-9CA7-2AA19613E3D7}"/>
              </a:ext>
            </a:extLst>
          </p:cNvPr>
          <p:cNvSpPr>
            <a:spLocks xmlns:a="http://schemas.openxmlformats.org/drawingml/2006/main" noGrp="1"/>
          </p:cNvSpPr>
          <p:nvPr/>
        </p:nvSpPr>
        <p:spPr>
          <a:xfrm xmlns:a="http://schemas.openxmlformats.org/drawingml/2006/main">
            <a:off x="552450" y="5048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333333"/>
                </a:solidFill>
              </a:defRPr>
            </a:defPPr>
          </a:lstStyle>
          <a:p xmlns:a="http://schemas.openxmlformats.org/drawingml/2006/main">
            <a:pPr>
              <a:defRPr sz="2025">
                <a:solidFill>
                  <a:srgbClr val="333333"/>
                </a:solidFill>
              </a:defRPr>
            </a:pPr>
            <a:r>
              <a:rPr sz="2025">
                <a:solidFill>
                  <a:srgbClr val="333333"/>
                </a:solidFill>
              </a:rPr>
              <a:t>Repeat training, strengthen source controls and assess clinical relevance.</a:t>
            </a:r>
          </a:p>
        </p:txBody>
      </p:sp>
    </p:spTree>
    <p:extLst>
      <p:ext uri="{BB962C8B-B14F-4D97-AF65-F5344CB8AC3E}">
        <p14:creationId xmlns:p14="http://schemas.microsoft.com/office/powerpoint/2010/main" val="3972940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02B1C444-BC26-4B89-BD54-D9D9E774AB0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References</a:t>
            </a:r>
            <a:endParaRPr sz="3600"/>
          </a:p>
        </p:txBody>
      </p:sp>
      <p:sp>
        <p:nvSpPr>
          <p:cNvPr id="3" name="Text 1">
            <a:extLst xmlns:a="http://schemas.openxmlformats.org/drawingml/2006/main">
              <a:ext uri="{FF2B5EF4-FFF2-40B4-BE49-F238E27FC236}">
                <a16:creationId xmlns:a16="http://schemas.microsoft.com/office/drawing/2014/main" id="{910F6AAC-2A5E-4E5A-A37C-5CBECEA66007}"/>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1500">
                <a:solidFill>
                  <a:schemeClr val="tx1"/>
                </a:solidFill>
              </a:rPr>
              <a:t>[1] S. Denner et al., “Leveraging foundation models for content-based image retrieval in radiology,” Computers in Biology and Medicine, vol. 196, art. 110640, 2025. doi: 10.1016/j.compbiomed.2025.110640.</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[10] K. He, X. Zhang, S. Ren, and J. Sun, “Deep residual learning for image recognition,” in Proceedings of the IEEE Conference on Computer Vision and Pattern Recognition, 2016, pp. 770–778. doi: 10.1109/CVPR.2016.90.</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[11] M. Caron et al., “Unsupervised learning of visual features by contrasting cluster assignments,” in Advances in Neural Information Processing Systems, vol. 33, 2020, pp. 9912–9924.</a:t>
            </a:r>
            <a:endParaRPr sz="2000"/>
          </a:p>
          <a:p xmlns:a="http://schemas.openxmlformats.org/drawingml/2006/main">
            <a:pPr marL="0" indent="0">
              <a:spcAft>
                <a:spcPts val="1000"/>
              </a:spcAft>
              <a:buNone/>
            </a:pPr>
            <a:r>
              <a:rPr sz="1500">
                <a:solidFill>
                  <a:schemeClr val="tx1"/>
                </a:solidFill>
              </a:rPr>
              <a:t/>
            </a:r>
            <a:endParaRPr sz="2000"/>
          </a:p>
          <a:p xmlns:a="http://schemas.openxmlformats.org/drawingml/2006/main">
            <a:pPr marL="0" indent="0">
              <a:spcAft>
                <a:spcPts val="1000"/>
              </a:spcAft>
              <a:buNone/>
            </a:pPr>
            <a:r>
              <a:rPr sz="1500">
                <a:solidFill>
                  <a:schemeClr val="tx1"/>
                </a:solidFill>
              </a:rPr>
              <a:t>[12] P. Khosla et al., “Supervised contrastive learning,” in Advances in Neural Information Processing Systems, vol. 33, 2020, pp. 18661–18673.</a:t>
            </a:r>
            <a:endParaRPr sz="2000"/>
          </a:p>
        </p:txBody>
      </p:sp>
      <p:sp>
        <p:nvSpPr>
          <p:cNvPr id="181" name="Slide Number">
            <a:extLst xmlns:a="http://schemas.openxmlformats.org/drawingml/2006/main">
              <a:ext uri="{FF2B5EF4-FFF2-40B4-BE49-F238E27FC236}">
                <a16:creationId xmlns:a16="http://schemas.microsoft.com/office/drawing/2014/main" id="{3291FC5F-A80D-490D-A7BB-8FED668EB54D}"/>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11</a:t>
            </a:fld>
            <a:endParaRPr sz="1800" b="1"/>
          </a:p>
        </p:txBody>
      </p:sp>
    </p:spTree>
    <p:extLst>
      <p:ext uri="{BB962C8B-B14F-4D97-AF65-F5344CB8AC3E}">
        <p14:creationId xmlns:p14="http://schemas.microsoft.com/office/powerpoint/2010/main" val="48650795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99747C33-DFB8-4F9F-B51D-0A1ABC05CE24}"/>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864E2A48-35A6-4A60-B988-FAA0892F274F}"/>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5805E900-5BA2-49D5-86D4-11E89970B1B8}"/>
              </a:ext>
            </a:extLst>
          </p:cNvPr>
          <p:cNvSpPr>
            <a:spLocks xmlns:a="http://schemas.openxmlformats.org/drawingml/2006/main" noGrp="1"/>
          </p:cNvSpPr>
          <p:nvPr>
            <p:ph type="body" idx="111"/>
          </p:nvPr>
        </p:nvSpPr>
        <p:spPr>
          <a:xfrm xmlns:a="http://schemas.openxmlformats.org/drawingml/2006/main">
            <a:off x="5010150" y="3857625"/>
            <a:ext cx="6477000" cy="1143000"/>
          </a:xfrm>
        </p:spPr>
        <p:txBody>
          <a:bodyPr xmlns:a="http://schemas.openxmlformats.org/drawingml/2006/main"/>
          <a:lstStyle xmlns:a="http://schemas.openxmlformats.org/drawingml/2006/main">
            <a:defPPr>
              <a:defRPr sz="1725"/>
            </a:defPPr>
          </a:lstStyle>
          <a:p xmlns:a="http://schemas.openxmlformats.org/drawingml/2006/main">
            <a:pPr>
              <a:buNone/>
              <a:defRPr sz="1725"/>
            </a:pPr>
            <a:r>
              <a:rPr sz="1725"/>
              <a:t>Ofei Obuobisah Bekoe</a:t>
            </a:r>
          </a:p>
          <a:p xmlns:a="http://schemas.openxmlformats.org/drawingml/2006/main">
            <a:pPr>
              <a:buNone/>
              <a:defRPr sz="1725"/>
            </a:pPr>
            <a:r>
              <a:rPr sz="1725"/>
              <a:t>ce-pobekoe1423@st.umat.edu.gh</a:t>
            </a:r>
          </a:p>
          <a:p xmlns:a="http://schemas.openxmlformats.org/drawingml/2006/main">
            <a:pPr>
              <a:buNone/>
              <a:defRPr sz="1725"/>
            </a:pPr>
            <a:r>
              <a:rPr sz="1725"/>
              <a:t>University of Mines and Technology, Ghana</a:t>
            </a:r>
          </a:p>
        </p:txBody>
      </p:sp>
      <p:sp>
        <p:nvSpPr>
          <p:cNvPr id="173" name="Slide Number">
            <a:extLst xmlns:a="http://schemas.openxmlformats.org/drawingml/2006/main">
              <a:ext uri="{FF2B5EF4-FFF2-40B4-BE49-F238E27FC236}">
                <a16:creationId xmlns:a16="http://schemas.microsoft.com/office/drawing/2014/main" id="{DE482FA7-702D-4B34-94BA-F986E2FC1223}"/>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12</a:t>
            </a:fld>
            <a:endParaRPr sz="1800" b="1"/>
          </a:p>
        </p:txBody>
      </p:sp>
    </p:spTree>
    <p:extLst>
      <p:ext uri="{BB962C8B-B14F-4D97-AF65-F5344CB8AC3E}">
        <p14:creationId xmlns:p14="http://schemas.microsoft.com/office/powerpoint/2010/main" val="881026131"/>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2026-10-18T10:49:58.4820000Z</dcterms:created>
  <dcterms:modified xsi:type="dcterms:W3CDTF">2026-10-18T10:49:58.4820000Z</dcterms:modified>
</coreProperties>
</file>