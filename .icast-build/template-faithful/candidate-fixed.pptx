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ae7df575b84a44" /><Relationship Type="http://schemas.openxmlformats.org/officeDocument/2006/relationships/extended-properties" Target="/docProps/app.xml" Id="R9df459fd184540c0" /><Relationship Type="http://schemas.openxmlformats.org/officeDocument/2006/relationships/officeDocument" Target="/ppt/presentation.xml" Id="R83ec7de3b9714c44"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6f3e1b77689d4440"/>
  </p:sldMasterIdLst>
  <p:notesMasterIdLst>
    <p:notesMasterId xmlns:r="http://schemas.openxmlformats.org/officeDocument/2006/relationships" r:id="R7b4c4f2080d84f06"/>
  </p:notesMasterIdLst>
  <p:sldIdLst>
    <p:sldId xmlns:r="http://schemas.openxmlformats.org/officeDocument/2006/relationships" id="256" r:id="R3af46b71a5084bdf"/>
    <p:sldId xmlns:r="http://schemas.openxmlformats.org/officeDocument/2006/relationships" id="257" r:id="R6f4d120557da403c"/>
    <p:sldId xmlns:r="http://schemas.openxmlformats.org/officeDocument/2006/relationships" id="258" r:id="Rb2cb4caeecad4952"/>
    <p:sldId xmlns:r="http://schemas.openxmlformats.org/officeDocument/2006/relationships" id="259" r:id="R1a1bf8910b234665"/>
    <p:sldId xmlns:r="http://schemas.openxmlformats.org/officeDocument/2006/relationships" id="260" r:id="Rf73bd0e348d44531"/>
    <p:sldId xmlns:r="http://schemas.openxmlformats.org/officeDocument/2006/relationships" id="261" r:id="R8560555377224224"/>
    <p:sldId xmlns:r="http://schemas.openxmlformats.org/officeDocument/2006/relationships" id="262" r:id="R7ba88f5643884a8d"/>
    <p:sldId xmlns:r="http://schemas.openxmlformats.org/officeDocument/2006/relationships" id="263" r:id="R9299414afce547c9"/>
    <p:sldId xmlns:r="http://schemas.openxmlformats.org/officeDocument/2006/relationships" id="264" r:id="R1e437f9cf9b04e8e"/>
    <p:sldId xmlns:r="http://schemas.openxmlformats.org/officeDocument/2006/relationships" id="265" r:id="R8a14138bbeaa41ff"/>
    <p:sldId xmlns:r="http://schemas.openxmlformats.org/officeDocument/2006/relationships" id="266" r:id="R8f3a5af1562b44bb"/>
    <p:sldId xmlns:r="http://schemas.openxmlformats.org/officeDocument/2006/relationships" id="267" r:id="Rf2bd418a40444812"/>
  </p:sldIdLst>
  <p:sldSz cx="12192000" cy="6858000"/>
  <p:notesSz cx="6858000" cy="9144000"/>
  <p:embeddedFontLst>
    <p:embeddedFont>
      <p:font typeface="Roboto"/>
      <p:regular xmlns:r="http://schemas.openxmlformats.org/officeDocument/2006/relationships" r:id="R6cdd9d65a39140b8"/>
      <p:bold xmlns:r="http://schemas.openxmlformats.org/officeDocument/2006/relationships" r:id="R1dfa89ff448a43fb"/>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5cb35d0c6354693" /><Relationship Type="http://schemas.openxmlformats.org/officeDocument/2006/relationships/slideMaster" Target="/ppt/slideMasters/slideMaster1.xml" Id="R6f3e1b77689d4440" /><Relationship Type="http://schemas.openxmlformats.org/officeDocument/2006/relationships/notesMaster" Target="/ppt/notesMasters/notesMaster1.xml" Id="R7b4c4f2080d84f06" /><Relationship Type="http://schemas.openxmlformats.org/officeDocument/2006/relationships/presProps" Target="/ppt/presProps.xml" Id="Ra6702191e5d84625" /><Relationship Type="http://schemas.openxmlformats.org/officeDocument/2006/relationships/viewProps" Target="/ppt/viewProps.xml" Id="R4c723dc436e84d6e" /><Relationship Type="http://schemas.openxmlformats.org/officeDocument/2006/relationships/tableStyles" Target="/ppt/tableStyles.xml" Id="R5a40ed8e513f4b6d" /><Relationship Type="http://schemas.openxmlformats.org/officeDocument/2006/relationships/font" Target="/ppt/fonts/font.dat" Id="R6cdd9d65a39140b8" /><Relationship Type="http://schemas.openxmlformats.org/officeDocument/2006/relationships/font" Target="/ppt/fonts/font2.dat" Id="R1dfa89ff448a43fb" /><Relationship Type="http://schemas.openxmlformats.org/officeDocument/2006/relationships/slide" Target="/ppt/slides/slide1.xml" Id="R3af46b71a5084bdf" /><Relationship Type="http://schemas.openxmlformats.org/officeDocument/2006/relationships/slide" Target="/ppt/slides/slide2.xml" Id="R6f4d120557da403c" /><Relationship Type="http://schemas.openxmlformats.org/officeDocument/2006/relationships/slide" Target="/ppt/slides/slide3.xml" Id="Rb2cb4caeecad4952" /><Relationship Type="http://schemas.openxmlformats.org/officeDocument/2006/relationships/slide" Target="/ppt/slides/slide4.xml" Id="R1a1bf8910b234665" /><Relationship Type="http://schemas.openxmlformats.org/officeDocument/2006/relationships/slide" Target="/ppt/slides/slide5.xml" Id="Rf73bd0e348d44531" /><Relationship Type="http://schemas.openxmlformats.org/officeDocument/2006/relationships/slide" Target="/ppt/slides/slide6.xml" Id="R8560555377224224" /><Relationship Type="http://schemas.openxmlformats.org/officeDocument/2006/relationships/slide" Target="/ppt/slides/slide7.xml" Id="R7ba88f5643884a8d" /><Relationship Type="http://schemas.openxmlformats.org/officeDocument/2006/relationships/slide" Target="/ppt/slides/slide8.xml" Id="R9299414afce547c9" /><Relationship Type="http://schemas.openxmlformats.org/officeDocument/2006/relationships/slide" Target="/ppt/slides/slide9.xml" Id="R1e437f9cf9b04e8e" /><Relationship Type="http://schemas.openxmlformats.org/officeDocument/2006/relationships/slide" Target="/ppt/slides/slide10.xml" Id="R8a14138bbeaa41ff" /><Relationship Type="http://schemas.openxmlformats.org/officeDocument/2006/relationships/slide" Target="/ppt/slides/slide11.xml" Id="R8f3a5af1562b44bb" /><Relationship Type="http://schemas.openxmlformats.org/officeDocument/2006/relationships/slide" Target="/ppt/slides/slide12.xml" Id="Rf2bd418a404448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fc44c5a4ad4f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6fb84995e24e69" /><Relationship Type="http://schemas.openxmlformats.org/officeDocument/2006/relationships/notesMaster" Target="/ppt/notesMasters/notesMaster1.xml" Id="R47fc0d5bb5bc48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35e18dc58b4f6e" /><Relationship Type="http://schemas.openxmlformats.org/officeDocument/2006/relationships/notesMaster" Target="/ppt/notesMasters/notesMaster1.xml" Id="R7940b9dbd60e4e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d4c502c0bb4994" /><Relationship Type="http://schemas.openxmlformats.org/officeDocument/2006/relationships/notesMaster" Target="/ppt/notesMasters/notesMaster1.xml" Id="Rbf174042ef8640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7338c2318a4fbf" /><Relationship Type="http://schemas.openxmlformats.org/officeDocument/2006/relationships/notesMaster" Target="/ppt/notesMasters/notesMaster1.xml" Id="R0990227de6d242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e8054655504503" /><Relationship Type="http://schemas.openxmlformats.org/officeDocument/2006/relationships/notesMaster" Target="/ppt/notesMasters/notesMaster1.xml" Id="R5b0cc6d52fd840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035cdf5494669" /><Relationship Type="http://schemas.openxmlformats.org/officeDocument/2006/relationships/notesMaster" Target="/ppt/notesMasters/notesMaster1.xml" Id="Red0e6c5231ea4e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ddc65ec1e14ba0" /><Relationship Type="http://schemas.openxmlformats.org/officeDocument/2006/relationships/notesMaster" Target="/ppt/notesMasters/notesMaster1.xml" Id="R8d0cb8e0727844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e6ea75599641d0" /><Relationship Type="http://schemas.openxmlformats.org/officeDocument/2006/relationships/notesMaster" Target="/ppt/notesMasters/notesMaster1.xml" Id="R8040b88fb9f742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a237f3686f4479" /><Relationship Type="http://schemas.openxmlformats.org/officeDocument/2006/relationships/notesMaster" Target="/ppt/notesMasters/notesMaster1.xml" Id="Rcbac9ee193f94a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817132b6ad4962" /><Relationship Type="http://schemas.openxmlformats.org/officeDocument/2006/relationships/notesMaster" Target="/ppt/notesMasters/notesMaster1.xml" Id="Re391dc9fccea48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a3e866d1e54b02" /><Relationship Type="http://schemas.openxmlformats.org/officeDocument/2006/relationships/notesMaster" Target="/ppt/notesMasters/notesMaster1.xml" Id="R9416a95d341849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4e3cb6324747e6" /><Relationship Type="http://schemas.openxmlformats.org/officeDocument/2006/relationships/notesMaster" Target="/ppt/notesMasters/notesMaster1.xml" Id="Rfcdf12538d8648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manuscript author order: Obed Appiah, Ezekiel Mensah Martey, Emmanuel Asante, Ernest Kwame Ampomah, Ofei Obuobisah Bekoe, Henry Cobbinah, Boateng Kwedwo Amponsah and Grace Tsomemanya Tulasi. Appiah is affiliated with the University of Energy and Natural Resources, Ghana. Remaining authors are affiliated with the University of Mines and Technology, Ghana. Presenter and presenter contact follow the supplied template. Paper ID, track and session were not supplied.</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the original conference outline: introduction and motivation, related work, proposed methodology, experiments and results, conclusion and future work. Related work appears within the background and problem statement.</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setting: a fixed chest X-ray gallery and a fixed query set, with the target pathology becoming progressively less prevalent. This concerns evaluation-time gallery composition rather than class balance in the training data.</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Denner et al. [1] varied the number of indexed examples per class in a balanced index, changing absolute support while preserving prevalence. Rare and imbalanced settings also appear in SISH [2] and volumetric retrieval [4]. The present narrative review identified a gap in controlled multi-level prevalence reductions with queries and representations held fixed. The comparison with prior work is conceptual, not a numerical cross-study benchmark.</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question: how does target-prevalence decline affect retrieval across models and pathologies? Secondary question: from the same SwAV initialization, how does supervised contrastive adaptation compare with classification? The study is an evaluation protocol, not a newly proposed backbone architecture.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evaluated targets: cardiomegaly, emphysema and pneumothorax. Relevant target counts are 1,000, 400, 200 or 100 per 20,000-image gallery. Three non-target pathology distractors contribute 400 images each. Background fills the remaining gallery positions. There are 60 galleries in total. NIH target-positive patients are excluded from adaptation/background partitions. NIH adaptation uses 48,280 training and 12,266 validation images. Common-class adaptation uses 4,545 source-class-balanced images split 80:20. Query patients are excluded where identifiers permit. TB was excluded as an evaluated target after a source-bias audit, but remains a fixed 2% distractor. The pipeline describes an exact exhaustive search using normalized embeddings.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CNN-PT: supervised ImageNet ResNet-50 without adaptation. CNN-Common: normal/pneumonia/COVID-19 classification. CNN-NIH: NIH multi-label classification. SwAV-PT: ImageNet self-supervised SwAV without adaptation. SwAV-CLS: the same NIH classification objective as CNN-NIH, from SwAV. SwAV-SupCon: weighted multi-label supervised contrastive adaptation from SwAV. All provide 2,048-D backbone embeddings. SupCon uses two views of 64 source images, label-set Jaccard weights, temperature 0.07 and a training-only projection head. AdamW learning rate and weight decay are 0.0001, with up to 50 epochs and early stopping. Checkpoint selection uses objective-specific validation losses. Five gallery seeds measure gallery resampling, not independent retraining. Available fine-tuning annotations exclude target labels, but this does not verify clinical absence of targets in every image.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an unweighted arithmetic mean of the three pathology means at 0.5% target prevalence for four selected conditions, calculated from manuscript Table 2. Values: CNN-PT 0.0210; SwAV-PT 0.0275667; SwAV-CLS 0.0251333; SwAV-SupCon 0.0386. The display rounds to four decimals. CNN-Common and CNN-NIH were also evaluated, as listed in the setup table. The chart presents descriptive means, not a pooled inferential comparison. The claim of ten significant contrasts refers to query-paired SwAV-SupCon versus SwAV-CLS tests across all twelve pathology-prevalence conditions, globally Holm-corrected within 72 planned model comparisons. Exceptions: cardiomegaly at 0.5% and 1%. The strongest low-prevalence absolute P@10 values are 0.0163, 0.0335 and 0.0660 for cardiomegaly, emphysema and pneumothorax. Their enrichment over random expectation 0.005 is 3.26, 6.70 and 13.20 times. Pneumothorax is a cross-source condition and these means do not establish clinical utility.</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displayed range rounds the manuscript relative P@10 loss range 83.4%-91.9% to whole percentages. All eighteen model-pathology endpoint contrasts show significant decline for both P@10 and nDCG@10 after Holm correction, adjusted p ≤ 2.30e-26. Absolute P@10 losses range from 0.0959 to 0.3480. SwAV-SupCon has the highest mean P@10 at all twelve pathology-prevalence conditions. Ten of its twelve planned contrasts against SwAV-CLS survive global correction. At 0.5%, adjusted p-values for SupCon versus CLS are &gt;0.99 for cardiomegaly, 5.34e-7 for emphysema and 3.17e-6 for pneumothorax. A larger absolute loss can accompany better endpoint retrieval: on pneumothorax, SupCon loses 0.3480 versus CLS 0.2841, while remaining higher at both endpoints.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concern the evaluated ResNet-50 conditions, three targets and prevalence protocol. Single checkpoints do not estimate retraining variation. Classification and SupCon checkpoints use objective-specific selection criteria. SIIM supplies pneumothorax queries and NIH supplies relevant gallery images, aligning source with retrieval role. Labels are imperfect, and external metadata cannot establish exhaustive finding annotations. Zero-shot therefore means target labels were absent from available adaptation labels. No radiologist judged relevance or diagnostic benefit. The lowest prevalence still has 100 relevant images; much larger approximate indexes and lower absolute counts remain untested. Report at least two clinically relevant gallery-prevalence levels.</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selected references retain the original three-entry template layout. Additional backbone and objective references from the paper include He et al., Deep residual learning for image recognition, CVPR 2016, and Caron et al., Unsupervised learning of visual features by contrasting cluster assignments, NeurIPS 2020.</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and discussion. Presenter contact follows the supplied conference template.</a:t>
            </a:r>
          </a:p>
          <a:p xmlns:a="http://schemas.openxmlformats.org/drawingml/2006/main">
            <a:r>
              <a:t/>
            </a:r>
          </a:p>
          <a:p xmlns:a="http://schemas.openxmlformats.org/drawingml/2006/main">
            <a:r>
              <a:t>Source: supplied Chest_XRay_Retrieval_IEEE_Format.docx. Reference numbers follow the manuscript.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3ec84d3b941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68816df504c4842" /><Relationship Type="http://schemas.openxmlformats.org/officeDocument/2006/relationships/image" Target="/ppt/media/image.png" Id="R9909f07a26fc40f7" /><Relationship Type="http://schemas.openxmlformats.org/officeDocument/2006/relationships/image" Target="/ppt/media/image2.png" Id="R33b8dfd366534b0b" /><Relationship Type="http://schemas.openxmlformats.org/officeDocument/2006/relationships/image" Target="/ppt/media/image3.png" Id="R5c5a76210dbf48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e17fc43d1147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e359dc638874fb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4f57c64aa241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4ecf3cb5a24cc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5f528cb3b440f6" /><Relationship Type="http://schemas.openxmlformats.org/officeDocument/2006/relationships/image" Target="/ppt/media/image3.png" Id="Rbaadbfb8c36d4ede" /><Relationship Type="http://schemas.openxmlformats.org/officeDocument/2006/relationships/image" Target="/ppt/media/image.png" Id="R0b90c1b82c4945e8" /><Relationship Type="http://schemas.openxmlformats.org/officeDocument/2006/relationships/image" Target="/ppt/media/image2.png" Id="R4eb2d52abd0e40e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7CC1D45A-2507-41E9-91D7-E0F02EEEEAAA}"/>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2C6E3C94-9D89-47B9-954C-FBF3AB5E3E5A}"/>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6A24F3EB-9C5B-40B9-B4A5-EF2E6DA2A891}"/>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0E0C639B-CB59-4FB5-ABFC-E25A64B3F624}"/>
              </a:ext>
            </a:extLst>
          </p:cNvPr>
          <p:cNvPicPr>
            <a:picLocks xmlns:a="http://schemas.openxmlformats.org/drawingml/2006/main" noChangeAspect="1"/>
          </p:cNvPicPr>
          <p:nvPr/>
        </p:nvPicPr>
        <p:blipFill>
          <a:blip xmlns:r="http://schemas.openxmlformats.org/officeDocument/2006/relationships" xmlns:a="http://schemas.openxmlformats.org/drawingml/2006/main" r:embed="R9909f07a26fc40f7"/>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26230B5C-6DF5-40AA-8D95-78991E8902FE}"/>
              </a:ext>
            </a:extLst>
          </p:cNvPr>
          <p:cNvPicPr>
            <a:picLocks xmlns:a="http://schemas.openxmlformats.org/drawingml/2006/main" noChangeAspect="1"/>
          </p:cNvPicPr>
          <p:nvPr/>
        </p:nvPicPr>
        <p:blipFill>
          <a:blip xmlns:r="http://schemas.openxmlformats.org/officeDocument/2006/relationships" xmlns:a="http://schemas.openxmlformats.org/drawingml/2006/main" r:embed="R33b8dfd366534b0b"/>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8B3B8296-2996-4413-8666-76BB3DE180C5}"/>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E4EE525E-3648-4FD3-8ED7-9A76D3C8CD53}"/>
              </a:ext>
            </a:extLst>
          </p:cNvPr>
          <p:cNvPicPr>
            <a:picLocks xmlns:a="http://schemas.openxmlformats.org/drawingml/2006/main" noChangeAspect="1"/>
          </p:cNvPicPr>
          <p:nvPr/>
        </p:nvPicPr>
        <p:blipFill>
          <a:blip xmlns:r="http://schemas.openxmlformats.org/officeDocument/2006/relationships" xmlns:a="http://schemas.openxmlformats.org/drawingml/2006/main" r:embed="R5c5a76210dbf48e8"/>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8A5994A5-1466-4C39-AC96-FEF269652488}"/>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66D7F9F6-ECC7-4E84-973A-D79C0B23CE47}"/>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7AE600CD-E055-48A3-8333-F3D24F6CECB6}"/>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9D7FDEB3-6AEF-4794-8421-61BEA8B667B6}"/>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B054A213-0DCA-4880-9024-3999A8C9DA99}"/>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A91BB145-EFEE-4C3A-8143-5F7A300CDCBA}"/>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82632FEE-8D29-45CA-BE0A-C91715D4378A}"/>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B65BD07C-2CD1-419C-A15C-055AED95B383}"/>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697F8682-0FEA-45AC-BFD6-13C997FD53E5}"/>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B67B1E2A-1792-44B1-83B4-9F01E33D31BD}"/>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1F80CC34-F274-47AB-BD7E-D1FD70E570D0}"/>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B58873B5-CB9E-4EBE-A7F8-4C962EDF5E68}"/>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CBCDB378-16A4-4C59-9DC2-0B9AB2649177}"/>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09621E60-390B-4EBC-AE2F-D5EB2FEB940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77F8261D-DEA5-4134-8B22-AE546B5DECE8}"/>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2A201B6D-4C00-4456-98CA-9D01BE6F3E8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FA393C6E-8165-49FA-90DF-765C11A218AD}"/>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F45761CD-2825-4E35-8612-71CCE7414062}"/>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9D5AF9D9-927B-426E-B9F2-D9C40C3130AE}"/>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193CFA03-AEF6-408C-B5DD-3DA1AFB4F869}"/>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B5A8C51E-C5FF-490F-901C-BDD18930D37F}"/>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EEBFCDC0-085C-44CC-BDEE-99B4147B65A7}"/>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9068E4F5-11C6-4F17-8D18-F264EF23D29C}"/>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7F5ECA61-DCD4-4D89-8E98-E71AC1A4BE36}"/>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08808A66-5C0E-49DE-BFA9-3034A4E25A85}"/>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C887CD5A-3932-456B-B702-55A90F8EFE38}"/>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8DD9176A-EBBA-4F80-8056-C780B154E616}"/>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1BD3DCB3-D60D-42AF-B0AE-8D52AA0B8EF7}"/>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311CC4E6-C7AD-4884-BC9F-16984FA2F580}"/>
              </a:ext>
            </a:extLst>
          </p:cNvPr>
          <p:cNvPicPr>
            <a:picLocks xmlns:a="http://schemas.openxmlformats.org/drawingml/2006/main" noChangeAspect="1"/>
          </p:cNvPicPr>
          <p:nvPr/>
        </p:nvPicPr>
        <p:blipFill>
          <a:blip xmlns:r="http://schemas.openxmlformats.org/officeDocument/2006/relationships" xmlns:a="http://schemas.openxmlformats.org/drawingml/2006/main" r:embed="Rbaadbfb8c36d4ede"/>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B344C921-DE23-4033-BA2F-827E0EB110FA}"/>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463A41AF-384C-4A2F-99D7-6F195E29419D}"/>
              </a:ext>
            </a:extLst>
          </p:cNvPr>
          <p:cNvPicPr>
            <a:picLocks xmlns:a="http://schemas.openxmlformats.org/drawingml/2006/main" noChangeAspect="1"/>
          </p:cNvPicPr>
          <p:nvPr/>
        </p:nvPicPr>
        <p:blipFill>
          <a:blip xmlns:r="http://schemas.openxmlformats.org/officeDocument/2006/relationships" xmlns:a="http://schemas.openxmlformats.org/drawingml/2006/main" r:embed="R0b90c1b82c4945e8"/>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902B0FB5-83F1-43C3-A5D3-C95F9C95F4BF}"/>
              </a:ext>
            </a:extLst>
          </p:cNvPr>
          <p:cNvPicPr>
            <a:picLocks xmlns:a="http://schemas.openxmlformats.org/drawingml/2006/main" noChangeAspect="1"/>
          </p:cNvPicPr>
          <p:nvPr/>
        </p:nvPicPr>
        <p:blipFill>
          <a:blip xmlns:r="http://schemas.openxmlformats.org/officeDocument/2006/relationships" xmlns:a="http://schemas.openxmlformats.org/drawingml/2006/main" r:embed="R4eb2d52abd0e40e2"/>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278E144A-DD1D-4F74-B834-E4F7016276C0}"/>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31DEB85A-9365-4209-8B03-5C84E6EE2FBD}"/>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1A5E3170-1CB6-44F9-B2F6-A9B27878044F}"/>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41667628-1AF8-44D7-94D3-EB73D7E194F0}"/>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1F7E7920-9A95-425C-AC66-5E632AA8380C}"/>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bc6229f3d04025" /><Relationship Type="http://schemas.openxmlformats.org/officeDocument/2006/relationships/slideLayout" Target="/ppt/slideLayouts/slideLayout1.xml" Id="Rca891d1ac5c140f3" /><Relationship Type="http://schemas.openxmlformats.org/officeDocument/2006/relationships/slideLayout" Target="/ppt/slideLayouts/slideLayout2.xml" Id="Rd4218c7bb85b4b3d" /><Relationship Type="http://schemas.openxmlformats.org/officeDocument/2006/relationships/slideLayout" Target="/ppt/slideLayouts/slideLayout3.xml" Id="R2110783680c14e8d" /><Relationship Type="http://schemas.openxmlformats.org/officeDocument/2006/relationships/slideLayout" Target="/ppt/slideLayouts/slideLayout4.xml" Id="R2dfcd30a23f842cb" /><Relationship Type="http://schemas.openxmlformats.org/officeDocument/2006/relationships/slideLayout" Target="/ppt/slideLayouts/slideLayout5.xml" Id="R1995511a7ea54176" /><Relationship Type="http://schemas.openxmlformats.org/officeDocument/2006/relationships/slideLayout" Target="/ppt/slideLayouts/slideLayout6.xml" Id="R63131c3a50da46ca" /><Relationship Type="http://schemas.openxmlformats.org/officeDocument/2006/relationships/slideLayout" Target="/ppt/slideLayouts/slideLayout7.xml" Id="R91a2977b69784984"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2624B0A5-D0A5-4C8E-9E38-44418F7988FE}"/>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891d1ac5c140f3"/>
    <p:sldLayoutId xmlns:r="http://schemas.openxmlformats.org/officeDocument/2006/relationships" id="2147483650" r:id="Rd4218c7bb85b4b3d"/>
    <p:sldLayoutId xmlns:r="http://schemas.openxmlformats.org/officeDocument/2006/relationships" id="2147483651" r:id="R2110783680c14e8d"/>
    <p:sldLayoutId xmlns:r="http://schemas.openxmlformats.org/officeDocument/2006/relationships" id="2147483652" r:id="R2dfcd30a23f842cb"/>
    <p:sldLayoutId xmlns:r="http://schemas.openxmlformats.org/officeDocument/2006/relationships" id="2147483653" r:id="R1995511a7ea54176"/>
    <p:sldLayoutId xmlns:r="http://schemas.openxmlformats.org/officeDocument/2006/relationships" id="2147483654" r:id="R63131c3a50da46ca"/>
    <p:sldLayoutId xmlns:r="http://schemas.openxmlformats.org/officeDocument/2006/relationships" id="2147483655" r:id="R91a2977b6978498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55fd9a973f244b90" /><Relationship Type="http://schemas.openxmlformats.org/officeDocument/2006/relationships/notesSlide" Target="/ppt/notesSlides/notesSlide1.xml" Id="R3ef916e91e9b4b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624b6675654196" /><Relationship Type="http://schemas.openxmlformats.org/officeDocument/2006/relationships/notesSlide" Target="/ppt/notesSlides/notesSlide2.xml" Id="R82b6b6e4ef854e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39356805c0114ee8" /><Relationship Type="http://schemas.openxmlformats.org/officeDocument/2006/relationships/notesSlide" Target="/ppt/notesSlides/notesSlide3.xml" Id="R01fa5edf40d643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f31c558581f41b2" /><Relationship Type="http://schemas.openxmlformats.org/officeDocument/2006/relationships/notesSlide" Target="/ppt/notesSlides/notesSlide4.xml" Id="Rb211ec10a8b147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3cca9061d54280" /><Relationship Type="http://schemas.openxmlformats.org/officeDocument/2006/relationships/image" Target="/ppt/media/image4.png" Id="R2f322635bb84424f" /><Relationship Type="http://schemas.openxmlformats.org/officeDocument/2006/relationships/image" Target="/ppt/media/image5.png" Id="R08867bee83e64d81" /><Relationship Type="http://schemas.openxmlformats.org/officeDocument/2006/relationships/image" Target="/ppt/media/image6.png" Id="R964a3405d58c4d80" /><Relationship Type="http://schemas.openxmlformats.org/officeDocument/2006/relationships/notesSlide" Target="/ppt/notesSlides/notesSlide5.xml" Id="Rb7c21870aa2946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c02389a2d4b3426b" /><Relationship Type="http://schemas.openxmlformats.org/officeDocument/2006/relationships/notesSlide" Target="/ppt/notesSlides/notesSlide6.xml" Id="R76de7ebabd0b43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fd39a152e84c06" /><Relationship Type="http://schemas.openxmlformats.org/officeDocument/2006/relationships/notesSlide" Target="/ppt/notesSlides/notesSlide7.xml" Id="R156ac105de0548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5ffc981b6e42ab" /><Relationship Type="http://schemas.openxmlformats.org/officeDocument/2006/relationships/chart" Target="/ppt/slides/charts/chart1.xml" Id="R9a683c08db5c4fea" /><Relationship Type="http://schemas.openxmlformats.org/officeDocument/2006/relationships/notesSlide" Target="/ppt/notesSlides/notesSlide8.xml" Id="R4936c2fb866149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798cbf7c174c7e" /><Relationship Type="http://schemas.openxmlformats.org/officeDocument/2006/relationships/image" Target="/ppt/media/image7.png" Id="R95880faf075b4211" /><Relationship Type="http://schemas.openxmlformats.org/officeDocument/2006/relationships/image" Target="/ppt/media/image8.png" Id="R63ecd257a7254150" /><Relationship Type="http://schemas.openxmlformats.org/officeDocument/2006/relationships/image" Target="/ppt/media/image9.png" Id="Rd9e762497d054d91" /><Relationship Type="http://schemas.openxmlformats.org/officeDocument/2006/relationships/notesSlide" Target="/ppt/notesSlides/notesSlide9.xml" Id="R2700a3c9aa264f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83de6d1f9b744f0a" /><Relationship Type="http://schemas.openxmlformats.org/officeDocument/2006/relationships/notesSlide" Target="/ppt/notesSlides/notesSlide10.xml" Id="R245b71a8445d46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ba03f40fc70f4da5" /><Relationship Type="http://schemas.openxmlformats.org/officeDocument/2006/relationships/notesSlide" Target="/ppt/notesSlides/notesSlide11.xml" Id="R788ef09d776d44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1f936dd11fa4fc8" /><Relationship Type="http://schemas.openxmlformats.org/officeDocument/2006/relationships/notesSlide" Target="/ppt/notesSlides/notesSlide12.xml" Id="Rcd70cefa6fb54661"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a:solidFill>
                  <a:srgbClr val="0B2545"/>
                </a:solidFill>
                <a:latin typeface="Roboto"/>
                <a:ea typeface="Roboto"/>
                <a:cs typeface="Roboto"/>
              </a:rPr>
              <a:t>Mean P@10 at 0.5% target prevalence</a:t>
            </a:r>
          </a:p>
        </c:rich>
      </c:tx>
      <c:overlay val="0"/>
      <c:txPr>
        <a:bodyPr xmlns:a="http://schemas.openxmlformats.org/drawingml/2006/main" anchorCtr="1"/>
        <a:lstStyle xmlns:a="http://schemas.openxmlformats.org/drawingml/2006/main"/>
        <a:p xmlns:a="http://schemas.openxmlformats.org/drawingml/2006/main">
          <a:pPr>
            <a:defRPr sz="1500">
              <a:solidFill>
                <a:srgbClr val="0B2545"/>
              </a:solidFill>
              <a:latin typeface="Roboto"/>
              <a:ea typeface="Roboto"/>
              <a:cs typeface="Roboto"/>
            </a:defRPr>
          </a:pPr>
        </a:p>
      </c:txPr>
    </c:title>
    <c:plotArea>
      <c:barChart>
        <c:barDir val="col"/>
        <c:grouping val="clustered"/>
        <c:varyColors val="0"/>
        <c:ser>
          <c:idx val="0"/>
          <c:order val="0"/>
          <c:tx>
            <c:v>Mean Precision@10</c:v>
          </c:tx>
          <c:spPr>
            <a:solidFill xmlns:a="http://schemas.openxmlformats.org/drawingml/2006/main">
              <a:srgbClr val="AAB6C5"/>
            </a:solidFill>
          </c:spPr>
          <c:invertIfNegative val="0"/>
          <c:dPt>
            <c:idx val="0"/>
            <c:invertIfNegative val="0"/>
            <c:spPr>
              <a:solidFill xmlns:a="http://schemas.openxmlformats.org/drawingml/2006/main">
                <a:srgbClr val="AAB6C5"/>
              </a:solidFill>
            </c:spPr>
          </c:dPt>
          <c:dPt>
            <c:idx val="1"/>
            <c:invertIfNegative val="0"/>
            <c:spPr>
              <a:solidFill xmlns:a="http://schemas.openxmlformats.org/drawingml/2006/main">
                <a:srgbClr val="AAB6C5"/>
              </a:solidFill>
            </c:spPr>
          </c:dPt>
          <c:dPt>
            <c:idx val="2"/>
            <c:invertIfNegative val="0"/>
            <c:spPr>
              <a:solidFill xmlns:a="http://schemas.openxmlformats.org/drawingml/2006/main">
                <a:srgbClr val="AAB6C5"/>
              </a:solidFill>
            </c:spPr>
          </c:dPt>
          <c:dPt>
            <c:idx val="3"/>
            <c:invertIfNegative val="0"/>
            <c:spPr>
              <a:solidFill xmlns:a="http://schemas.openxmlformats.org/drawingml/2006/main">
                <a:srgbClr val="0B2545"/>
              </a:solidFill>
            </c:spPr>
          </c:dPt>
          <c:cat>
            <c:strLit>
              <c:ptCount val="4"/>
              <c:pt idx="0">
                <c:v>CNN-PT</c:v>
              </c:pt>
              <c:pt idx="1">
                <c:v>SwAV-PT</c:v>
              </c:pt>
              <c:pt idx="2">
                <c:v>SwAV-CLS</c:v>
              </c:pt>
              <c:pt idx="3">
                <c:v>SwAV-SupCon</c:v>
              </c:pt>
            </c:strLit>
          </c:cat>
          <c:val>
            <c:numLit>
              <c:formatCode>0.00</c:formatCode>
              <c:ptCount val="4"/>
              <c:pt idx="0">
                <c:v>0.021</c:v>
              </c:pt>
              <c:pt idx="1">
                <c:v>0.0276</c:v>
              </c:pt>
              <c:pt idx="2">
                <c:v>0.0251</c:v>
              </c:pt>
              <c:pt idx="3">
                <c:v>0.0386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200">
                  <a:solidFill>
                    <a:srgbClr val="333333"/>
                  </a:solidFill>
                  <a:latin typeface="Roboto"/>
                  <a:ea typeface="Roboto"/>
                  <a:cs typeface="Roboto"/>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3333"/>
                </a:solidFill>
                <a:latin typeface="Roboto"/>
                <a:ea typeface="Roboto"/>
                <a:cs typeface="Roboto"/>
              </a:defRPr>
            </a:pPr>
          </a:p>
        </c:txPr>
        <c:crossAx val="48672768"/>
      </c:catAx>
      <c:valAx>
        <c:axId val="48672768"/>
        <c:scaling>
          <c:orientation val="minMax"/>
          <c:max val="0.05"/>
          <c:min val="0"/>
        </c:scaling>
        <c:delete val="0"/>
        <c:axPos val="l"/>
        <c:majorGridlines>
          <c:spPr>
            <a:ln xmlns:a="http://schemas.openxmlformats.org/drawingml/2006/main" w="6668">
              <a:solidFill>
                <a:srgbClr val="DCE3E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B7280"/>
                </a:solidFill>
                <a:latin typeface="Roboto"/>
                <a:ea typeface="Roboto"/>
                <a:cs typeface="Roboto"/>
              </a:defRPr>
            </a:pPr>
          </a:p>
        </c:txPr>
        <c:crossAx val="48650112"/>
        <c:crossBetween val="between"/>
        <c:majorUnit val="0.01"/>
      </c:valAx>
      <c:spPr>
        <a:solidFill xmlns:a="http://schemas.openxmlformats.org/drawingml/2006/main">
          <a:srgbClr val="FAFAFA"/>
        </a:solidFill>
      </c:spPr>
    </c:plotArea>
    <c:plotVisOnly val="1"/>
  </c:chart>
  <c:spPr>
    <a:solidFill xmlns:a="http://schemas.openxmlformats.org/drawingml/2006/main">
      <a:srgbClr val="FAFAFA"/>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C098C109-07A0-4533-A656-75E1D01B8DF6}"/>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Chest X-Ray Image Retrieval Under Declining Target-Pathology Prevalence</a:t>
            </a:r>
          </a:p>
        </p:txBody>
      </p:sp>
      <p:sp>
        <p:nvSpPr>
          <p:cNvPr id="146" name="Authors">
            <a:extLst xmlns:a="http://schemas.openxmlformats.org/drawingml/2006/main">
              <a:ext uri="{FF2B5EF4-FFF2-40B4-BE49-F238E27FC236}">
                <a16:creationId xmlns:a16="http://schemas.microsoft.com/office/drawing/2014/main" id="{04E94CBB-C0E6-4C2D-882D-04EE8DFCFE61}"/>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Ofei Obuobisah Bekoe, Ezekiel Mensah Martey and co-authors</a:t>
            </a:r>
          </a:p>
        </p:txBody>
      </p:sp>
      <p:sp>
        <p:nvSpPr>
          <p:cNvPr id="147" name="Affiliation">
            <a:extLst xmlns:a="http://schemas.openxmlformats.org/drawingml/2006/main">
              <a:ext uri="{FF2B5EF4-FFF2-40B4-BE49-F238E27FC236}">
                <a16:creationId xmlns:a16="http://schemas.microsoft.com/office/drawing/2014/main" id="{196CA07B-63FB-4EDF-BA05-CF4EB8627E7F}"/>
              </a:ext>
            </a:extLst>
          </p:cNvPr>
          <p:cNvSpPr>
            <a:spLocks xmlns:a="http://schemas.openxmlformats.org/drawingml/2006/main" noGrp="1"/>
          </p:cNvSpPr>
          <p:nvPr>
            <p:ph type="body" idx="111"/>
          </p:nvPr>
        </p:nvSpPr>
        <p:spPr/>
        <p:txBody>
          <a:bodyPr xmlns:a="http://schemas.openxmlformats.org/drawingml/2006/main">
            <a:normAutofit fontScale="85000" lnSpcReduction="10000"/>
          </a:bodyPr>
          <a:lstStyle xmlns:a="http://schemas.openxmlformats.org/drawingml/2006/main"/>
          <a:p xmlns:a="http://schemas.openxmlformats.org/drawingml/2006/main">
            <a:r>
              <a:t>Dept. of Computer Science &amp; Engineering, University of Mines and Technology, Tarkwa, Ghana  ·  </a:t>
            </a:r>
          </a:p>
          <a:p xmlns:a="http://schemas.openxmlformats.org/drawingml/2006/main">
            <a:r>
              <a:t> ce-pobekoe1423@st.umat.edu.gh</a:t>
            </a:r>
          </a:p>
        </p:txBody>
      </p:sp>
      <p:sp>
        <p:nvSpPr>
          <p:cNvPr id="148" name="Paper details">
            <a:extLst xmlns:a="http://schemas.openxmlformats.org/drawingml/2006/main">
              <a:ext uri="{FF2B5EF4-FFF2-40B4-BE49-F238E27FC236}">
                <a16:creationId xmlns:a16="http://schemas.microsoft.com/office/drawing/2014/main" id="{FAEFF2D6-E489-43A1-95EF-FBBE29DF8994}"/>
              </a:ext>
            </a:extLst>
          </p:cNvPr>
          <p:cNvSpPr>
            <a:spLocks xmlns:a="http://schemas.openxmlformats.org/drawingml/2006/main" noGrp="1"/>
          </p:cNvSpPr>
          <p:nvPr>
            <p:ph type="body" idx="112"/>
          </p:nvPr>
        </p:nvSpPr>
        <p:spPr/>
        <p:txBody>
          <a:bodyPr xmlns:a="http://schemas.openxmlformats.org/drawingml/2006/main"/>
          <a:lstStyle xmlns:a="http://schemas.openxmlformats.org/drawingml/2006/main"/>
          <a:p xmlns:a="http://schemas.openxmlformats.org/drawingml/2006/main">
            <a:r>
              <a:t>Cardiomegaly, emphysema and pneumothorax</a:t>
            </a:r>
          </a:p>
        </p:txBody>
      </p:sp>
    </p:spTree>
    <p:extLst>
      <p:ext uri="{BB962C8B-B14F-4D97-AF65-F5344CB8AC3E}">
        <p14:creationId xmlns:p14="http://schemas.microsoft.com/office/powerpoint/2010/main" val="200155492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9" name="Title">
            <a:extLst xmlns:a="http://schemas.openxmlformats.org/drawingml/2006/main">
              <a:ext uri="{FF2B5EF4-FFF2-40B4-BE49-F238E27FC236}">
                <a16:creationId xmlns:a16="http://schemas.microsoft.com/office/drawing/2014/main" id="{E7D4CC53-939B-4BA0-9678-AD7613DEDB6D}"/>
              </a:ext>
            </a:extLst>
          </p:cNvPr>
          <p:cNvSpPr>
            <a:spLocks xmlns:a="http://schemas.openxmlformats.org/drawingml/2006/main" noGrp="1"/>
          </p:cNvSpPr>
          <p:nvPr>
            <p:ph type="title" idx="104"/>
          </p:nvPr>
        </p:nvSpPr>
        <p:spPr/>
        <p:txBody>
          <a:bodyPr xmlns:a="http://schemas.openxmlformats.org/drawingml/2006/main"/>
          <a:lstStyle xmlns:a="http://schemas.openxmlformats.org/drawingml/2006/main"/>
          <a:p xmlns:a="http://schemas.openxmlformats.org/drawingml/2006/main">
            <a:r>
              <a:t>Outline</a:t>
            </a:r>
          </a:p>
        </p:txBody>
      </p:sp>
      <p:sp>
        <p:nvSpPr>
          <p:cNvPr id="150" name="Outline line 1">
            <a:extLst xmlns:a="http://schemas.openxmlformats.org/drawingml/2006/main">
              <a:ext uri="{FF2B5EF4-FFF2-40B4-BE49-F238E27FC236}">
                <a16:creationId xmlns:a16="http://schemas.microsoft.com/office/drawing/2014/main" id="{DF16A901-EA2B-4E7B-9635-2176860F32A0}"/>
              </a:ext>
            </a:extLst>
          </p:cNvPr>
          <p:cNvSpPr>
            <a:spLocks xmlns:a="http://schemas.openxmlformats.org/drawingml/2006/main" noGrp="1"/>
          </p:cNvSpPr>
          <p:nvPr/>
        </p:nvSpPr>
        <p:spPr>
          <a:xfrm xmlns:a="http://schemas.openxmlformats.org/drawingml/2006/main">
            <a:off x="4632960" y="1691640"/>
            <a:ext cx="1143000" cy="0"/>
          </a:xfrm>
          <a:prstGeom xmlns:a="http://schemas.openxmlformats.org/drawingml/2006/main" prst="line">
            <a:avLst/>
          </a:prstGeom>
          <a:ln xmlns:a="http://schemas.openxmlformats.org/drawingml/2006/main" w="57150">
            <a:solidFill>
              <a:schemeClr val="accent1"/>
            </a:solidFill>
          </a:ln>
        </p:spPr>
      </p:sp>
      <p:sp>
        <p:nvSpPr>
          <p:cNvPr id="151" name="Outline number 1">
            <a:extLst xmlns:a="http://schemas.openxmlformats.org/drawingml/2006/main">
              <a:ext uri="{FF2B5EF4-FFF2-40B4-BE49-F238E27FC236}">
                <a16:creationId xmlns:a16="http://schemas.microsoft.com/office/drawing/2014/main" id="{F79CFC4A-0BBF-4928-9358-9A056DBCF76B}"/>
              </a:ext>
            </a:extLst>
          </p:cNvPr>
          <p:cNvSpPr>
            <a:spLocks xmlns:a="http://schemas.openxmlformats.org/drawingml/2006/main" noGrp="1"/>
          </p:cNvSpPr>
          <p:nvPr/>
        </p:nvSpPr>
        <p:spPr>
          <a:xfrm xmlns:a="http://schemas.openxmlformats.org/drawingml/2006/main">
            <a:off x="4120896" y="143560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1</a:t>
            </a:r>
          </a:p>
        </p:txBody>
      </p:sp>
      <p:sp>
        <p:nvSpPr>
          <p:cNvPr id="152" name="Outline item 1">
            <a:extLst xmlns:a="http://schemas.openxmlformats.org/drawingml/2006/main">
              <a:ext uri="{FF2B5EF4-FFF2-40B4-BE49-F238E27FC236}">
                <a16:creationId xmlns:a16="http://schemas.microsoft.com/office/drawing/2014/main" id="{30C6EE10-742A-4452-B5B1-C6ECDF713ADB}"/>
              </a:ext>
            </a:extLst>
          </p:cNvPr>
          <p:cNvSpPr>
            <a:spLocks xmlns:a="http://schemas.openxmlformats.org/drawingml/2006/main" noGrp="1"/>
          </p:cNvSpPr>
          <p:nvPr/>
        </p:nvSpPr>
        <p:spPr>
          <a:xfrm xmlns:a="http://schemas.openxmlformats.org/drawingml/2006/main">
            <a:off x="371856" y="132588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Introduction and motivation</a:t>
            </a:r>
          </a:p>
        </p:txBody>
      </p:sp>
      <p:sp>
        <p:nvSpPr>
          <p:cNvPr id="153" name="Outline line 2">
            <a:extLst xmlns:a="http://schemas.openxmlformats.org/drawingml/2006/main">
              <a:ext uri="{FF2B5EF4-FFF2-40B4-BE49-F238E27FC236}">
                <a16:creationId xmlns:a16="http://schemas.microsoft.com/office/drawing/2014/main" id="{60099C0D-C91A-4C07-8845-5D74DFAB8629}"/>
              </a:ext>
            </a:extLst>
          </p:cNvPr>
          <p:cNvSpPr>
            <a:spLocks xmlns:a="http://schemas.openxmlformats.org/drawingml/2006/main" noGrp="1"/>
          </p:cNvSpPr>
          <p:nvPr/>
        </p:nvSpPr>
        <p:spPr>
          <a:xfrm xmlns:a="http://schemas.openxmlformats.org/drawingml/2006/main">
            <a:off x="4632960" y="3246120"/>
            <a:ext cx="1143000" cy="0"/>
          </a:xfrm>
          <a:prstGeom xmlns:a="http://schemas.openxmlformats.org/drawingml/2006/main" prst="line">
            <a:avLst/>
          </a:prstGeom>
          <a:ln xmlns:a="http://schemas.openxmlformats.org/drawingml/2006/main" w="57150">
            <a:solidFill>
              <a:schemeClr val="accent1"/>
            </a:solidFill>
          </a:ln>
        </p:spPr>
      </p:sp>
      <p:sp>
        <p:nvSpPr>
          <p:cNvPr id="154" name="Outline number 2">
            <a:extLst xmlns:a="http://schemas.openxmlformats.org/drawingml/2006/main">
              <a:ext uri="{FF2B5EF4-FFF2-40B4-BE49-F238E27FC236}">
                <a16:creationId xmlns:a16="http://schemas.microsoft.com/office/drawing/2014/main" id="{18286314-2F44-4A8E-A7EB-17C482CB4C86}"/>
              </a:ext>
            </a:extLst>
          </p:cNvPr>
          <p:cNvSpPr>
            <a:spLocks xmlns:a="http://schemas.openxmlformats.org/drawingml/2006/main" noGrp="1"/>
          </p:cNvSpPr>
          <p:nvPr/>
        </p:nvSpPr>
        <p:spPr>
          <a:xfrm xmlns:a="http://schemas.openxmlformats.org/drawingml/2006/main">
            <a:off x="4120896" y="299008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2</a:t>
            </a:r>
          </a:p>
        </p:txBody>
      </p:sp>
      <p:sp>
        <p:nvSpPr>
          <p:cNvPr id="155" name="Outline item 2">
            <a:extLst xmlns:a="http://schemas.openxmlformats.org/drawingml/2006/main">
              <a:ext uri="{FF2B5EF4-FFF2-40B4-BE49-F238E27FC236}">
                <a16:creationId xmlns:a16="http://schemas.microsoft.com/office/drawing/2014/main" id="{57C8973C-30B4-4559-8FEA-77653ADABCF2}"/>
              </a:ext>
            </a:extLst>
          </p:cNvPr>
          <p:cNvSpPr>
            <a:spLocks xmlns:a="http://schemas.openxmlformats.org/drawingml/2006/main" noGrp="1"/>
          </p:cNvSpPr>
          <p:nvPr/>
        </p:nvSpPr>
        <p:spPr>
          <a:xfrm xmlns:a="http://schemas.openxmlformats.org/drawingml/2006/main">
            <a:off x="371856" y="288036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Related work</a:t>
            </a:r>
          </a:p>
        </p:txBody>
      </p:sp>
      <p:sp>
        <p:nvSpPr>
          <p:cNvPr id="156" name="Outline line 3">
            <a:extLst xmlns:a="http://schemas.openxmlformats.org/drawingml/2006/main">
              <a:ext uri="{FF2B5EF4-FFF2-40B4-BE49-F238E27FC236}">
                <a16:creationId xmlns:a16="http://schemas.microsoft.com/office/drawing/2014/main" id="{6B33EA67-A975-4765-8892-A1C302D58643}"/>
              </a:ext>
            </a:extLst>
          </p:cNvPr>
          <p:cNvSpPr>
            <a:spLocks xmlns:a="http://schemas.openxmlformats.org/drawingml/2006/main" noGrp="1"/>
          </p:cNvSpPr>
          <p:nvPr/>
        </p:nvSpPr>
        <p:spPr>
          <a:xfrm xmlns:a="http://schemas.openxmlformats.org/drawingml/2006/main">
            <a:off x="4632960" y="4800600"/>
            <a:ext cx="1143000" cy="0"/>
          </a:xfrm>
          <a:prstGeom xmlns:a="http://schemas.openxmlformats.org/drawingml/2006/main" prst="line">
            <a:avLst/>
          </a:prstGeom>
          <a:ln xmlns:a="http://schemas.openxmlformats.org/drawingml/2006/main" w="57150">
            <a:solidFill>
              <a:schemeClr val="accent1"/>
            </a:solidFill>
          </a:ln>
        </p:spPr>
      </p:sp>
      <p:sp>
        <p:nvSpPr>
          <p:cNvPr id="157" name="Outline number 3">
            <a:extLst xmlns:a="http://schemas.openxmlformats.org/drawingml/2006/main">
              <a:ext uri="{FF2B5EF4-FFF2-40B4-BE49-F238E27FC236}">
                <a16:creationId xmlns:a16="http://schemas.microsoft.com/office/drawing/2014/main" id="{B982B5F1-A0BB-4B43-BA6F-665F4079BE38}"/>
              </a:ext>
            </a:extLst>
          </p:cNvPr>
          <p:cNvSpPr>
            <a:spLocks xmlns:a="http://schemas.openxmlformats.org/drawingml/2006/main" noGrp="1"/>
          </p:cNvSpPr>
          <p:nvPr/>
        </p:nvSpPr>
        <p:spPr>
          <a:xfrm xmlns:a="http://schemas.openxmlformats.org/drawingml/2006/main">
            <a:off x="4120896" y="454456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3</a:t>
            </a:r>
          </a:p>
        </p:txBody>
      </p:sp>
      <p:sp>
        <p:nvSpPr>
          <p:cNvPr id="158" name="Outline item 3">
            <a:extLst xmlns:a="http://schemas.openxmlformats.org/drawingml/2006/main">
              <a:ext uri="{FF2B5EF4-FFF2-40B4-BE49-F238E27FC236}">
                <a16:creationId xmlns:a16="http://schemas.microsoft.com/office/drawing/2014/main" id="{5CB9A53D-3C62-431B-8B1C-4A0969B6A96E}"/>
              </a:ext>
            </a:extLst>
          </p:cNvPr>
          <p:cNvSpPr>
            <a:spLocks xmlns:a="http://schemas.openxmlformats.org/drawingml/2006/main" noGrp="1"/>
          </p:cNvSpPr>
          <p:nvPr/>
        </p:nvSpPr>
        <p:spPr>
          <a:xfrm xmlns:a="http://schemas.openxmlformats.org/drawingml/2006/main">
            <a:off x="371856" y="443484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r">
              <a:buNone/>
            </a:pPr>
            <a:r>
              <a:rPr sz="2200" b="1">
                <a:solidFill>
                  <a:schemeClr val="accent1"/>
                </a:solidFill>
              </a:rPr>
              <a:t>Proposed methodology</a:t>
            </a:r>
          </a:p>
        </p:txBody>
      </p:sp>
      <p:sp>
        <p:nvSpPr>
          <p:cNvPr id="159" name="Outline line 4">
            <a:extLst xmlns:a="http://schemas.openxmlformats.org/drawingml/2006/main">
              <a:ext uri="{FF2B5EF4-FFF2-40B4-BE49-F238E27FC236}">
                <a16:creationId xmlns:a16="http://schemas.microsoft.com/office/drawing/2014/main" id="{AF9E7046-6691-4BB5-9663-37EE07A520A0}"/>
              </a:ext>
            </a:extLst>
          </p:cNvPr>
          <p:cNvSpPr>
            <a:spLocks xmlns:a="http://schemas.openxmlformats.org/drawingml/2006/main" noGrp="1"/>
          </p:cNvSpPr>
          <p:nvPr/>
        </p:nvSpPr>
        <p:spPr>
          <a:xfrm xmlns:a="http://schemas.openxmlformats.org/drawingml/2006/main">
            <a:off x="6416040" y="2468880"/>
            <a:ext cx="1143000" cy="0"/>
          </a:xfrm>
          <a:prstGeom xmlns:a="http://schemas.openxmlformats.org/drawingml/2006/main" prst="line">
            <a:avLst/>
          </a:prstGeom>
          <a:ln xmlns:a="http://schemas.openxmlformats.org/drawingml/2006/main" w="57150">
            <a:solidFill>
              <a:schemeClr val="accent1"/>
            </a:solidFill>
          </a:ln>
        </p:spPr>
      </p:sp>
      <p:sp>
        <p:nvSpPr>
          <p:cNvPr id="160" name="Outline number 4">
            <a:extLst xmlns:a="http://schemas.openxmlformats.org/drawingml/2006/main">
              <a:ext uri="{FF2B5EF4-FFF2-40B4-BE49-F238E27FC236}">
                <a16:creationId xmlns:a16="http://schemas.microsoft.com/office/drawing/2014/main" id="{A3151F49-DAE3-4384-B434-00A4F25D9CCF}"/>
              </a:ext>
            </a:extLst>
          </p:cNvPr>
          <p:cNvSpPr>
            <a:spLocks xmlns:a="http://schemas.openxmlformats.org/drawingml/2006/main" noGrp="1"/>
          </p:cNvSpPr>
          <p:nvPr/>
        </p:nvSpPr>
        <p:spPr>
          <a:xfrm xmlns:a="http://schemas.openxmlformats.org/drawingml/2006/main">
            <a:off x="7559040" y="221284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4</a:t>
            </a:r>
          </a:p>
        </p:txBody>
      </p:sp>
      <p:sp>
        <p:nvSpPr>
          <p:cNvPr id="161" name="Outline item 4">
            <a:extLst xmlns:a="http://schemas.openxmlformats.org/drawingml/2006/main">
              <a:ext uri="{FF2B5EF4-FFF2-40B4-BE49-F238E27FC236}">
                <a16:creationId xmlns:a16="http://schemas.microsoft.com/office/drawing/2014/main" id="{AD7B64AE-E03D-451A-A212-623785450271}"/>
              </a:ext>
            </a:extLst>
          </p:cNvPr>
          <p:cNvSpPr>
            <a:spLocks xmlns:a="http://schemas.openxmlformats.org/drawingml/2006/main" noGrp="1"/>
          </p:cNvSpPr>
          <p:nvPr/>
        </p:nvSpPr>
        <p:spPr>
          <a:xfrm xmlns:a="http://schemas.openxmlformats.org/drawingml/2006/main">
            <a:off x="8253984" y="210312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Experiments and results</a:t>
            </a:r>
          </a:p>
        </p:txBody>
      </p:sp>
      <p:sp>
        <p:nvSpPr>
          <p:cNvPr id="162" name="Outline line 5">
            <a:extLst xmlns:a="http://schemas.openxmlformats.org/drawingml/2006/main">
              <a:ext uri="{FF2B5EF4-FFF2-40B4-BE49-F238E27FC236}">
                <a16:creationId xmlns:a16="http://schemas.microsoft.com/office/drawing/2014/main" id="{CDFD6169-CBD3-419A-9BD5-A7DC374C9DEF}"/>
              </a:ext>
            </a:extLst>
          </p:cNvPr>
          <p:cNvSpPr>
            <a:spLocks xmlns:a="http://schemas.openxmlformats.org/drawingml/2006/main" noGrp="1"/>
          </p:cNvSpPr>
          <p:nvPr/>
        </p:nvSpPr>
        <p:spPr>
          <a:xfrm xmlns:a="http://schemas.openxmlformats.org/drawingml/2006/main">
            <a:off x="6416040" y="4023360"/>
            <a:ext cx="1143000" cy="0"/>
          </a:xfrm>
          <a:prstGeom xmlns:a="http://schemas.openxmlformats.org/drawingml/2006/main" prst="line">
            <a:avLst/>
          </a:prstGeom>
          <a:ln xmlns:a="http://schemas.openxmlformats.org/drawingml/2006/main" w="57150">
            <a:solidFill>
              <a:schemeClr val="accent1"/>
            </a:solidFill>
          </a:ln>
        </p:spPr>
      </p:sp>
      <p:sp>
        <p:nvSpPr>
          <p:cNvPr id="163" name="Outline number 5">
            <a:extLst xmlns:a="http://schemas.openxmlformats.org/drawingml/2006/main">
              <a:ext uri="{FF2B5EF4-FFF2-40B4-BE49-F238E27FC236}">
                <a16:creationId xmlns:a16="http://schemas.microsoft.com/office/drawing/2014/main" id="{8EED00B5-C230-4FE3-B428-B41CD862035A}"/>
              </a:ext>
            </a:extLst>
          </p:cNvPr>
          <p:cNvSpPr>
            <a:spLocks xmlns:a="http://schemas.openxmlformats.org/drawingml/2006/main" noGrp="1"/>
          </p:cNvSpPr>
          <p:nvPr/>
        </p:nvSpPr>
        <p:spPr>
          <a:xfrm xmlns:a="http://schemas.openxmlformats.org/drawingml/2006/main">
            <a:off x="7559040" y="3767328"/>
            <a:ext cx="512064" cy="512064"/>
          </a:xfrm>
          <a:prstGeom xmlns:a="http://schemas.openxmlformats.org/drawingml/2006/main" prst="ellipse">
            <a:avLst/>
          </a:prstGeom>
          <a:solidFill xmlns:a="http://schemas.openxmlformats.org/drawingml/2006/main">
            <a:schemeClr val="bg1"/>
          </a:solidFill>
          <a:ln xmlns:a="http://schemas.openxmlformats.org/drawingml/2006/main" w="28575" cap="rnd">
            <a:solidFill>
              <a:schemeClr val="accent1"/>
            </a:solidFill>
            <a:round/>
          </a:ln>
        </p:spPr>
        <p:txBody>
          <a:bodyPr xmlns:a="http://schemas.openxmlformats.org/drawingml/2006/main" wrap="none" lIns="0" tIns="0" rIns="0" bIns="0" anchor="ctr">
            <a:noAutofit/>
          </a:bodyPr>
          <a:lstStyle xmlns:a="http://schemas.openxmlformats.org/drawingml/2006/main"/>
          <a:p xmlns:a="http://schemas.openxmlformats.org/drawingml/2006/main">
            <a:pPr marL="0" indent="0" algn="ctr">
              <a:buNone/>
            </a:pPr>
            <a:r>
              <a:rPr sz="1800" b="1">
                <a:solidFill>
                  <a:schemeClr val="accent1"/>
                </a:solidFill>
              </a:rPr>
              <a:t>5</a:t>
            </a:r>
          </a:p>
        </p:txBody>
      </p:sp>
      <p:sp>
        <p:nvSpPr>
          <p:cNvPr id="164" name="Outline item 5">
            <a:extLst xmlns:a="http://schemas.openxmlformats.org/drawingml/2006/main">
              <a:ext uri="{FF2B5EF4-FFF2-40B4-BE49-F238E27FC236}">
                <a16:creationId xmlns:a16="http://schemas.microsoft.com/office/drawing/2014/main" id="{2071E525-36A5-41B6-97B4-54AA19D3C540}"/>
              </a:ext>
            </a:extLst>
          </p:cNvPr>
          <p:cNvSpPr>
            <a:spLocks xmlns:a="http://schemas.openxmlformats.org/drawingml/2006/main" noGrp="1"/>
          </p:cNvSpPr>
          <p:nvPr/>
        </p:nvSpPr>
        <p:spPr>
          <a:xfrm xmlns:a="http://schemas.openxmlformats.org/drawingml/2006/main">
            <a:off x="8253984" y="3657600"/>
            <a:ext cx="35661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l">
              <a:buNone/>
            </a:pPr>
            <a:r>
              <a:rPr sz="2200" b="1">
                <a:solidFill>
                  <a:schemeClr val="accent1"/>
                </a:solidFill>
              </a:rPr>
              <a:t>Conclusion and future work</a:t>
            </a:r>
          </a:p>
        </p:txBody>
      </p:sp>
      <p:sp>
        <p:nvSpPr>
          <p:cNvPr id="165" name="Slide Number">
            <a:extLst xmlns:a="http://schemas.openxmlformats.org/drawingml/2006/main">
              <a:ext uri="{FF2B5EF4-FFF2-40B4-BE49-F238E27FC236}">
                <a16:creationId xmlns:a16="http://schemas.microsoft.com/office/drawing/2014/main" id="{563668C4-A05A-425E-AFC9-73C96FEB746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2</a:t>
            </a:fld>
            <a:endParaRPr sz="1800" b="1"/>
          </a:p>
        </p:txBody>
      </p:sp>
    </p:spTree>
    <p:extLst>
      <p:ext uri="{BB962C8B-B14F-4D97-AF65-F5344CB8AC3E}">
        <p14:creationId xmlns:p14="http://schemas.microsoft.com/office/powerpoint/2010/main" val="20421057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6" name="Section number">
            <a:extLst xmlns:a="http://schemas.openxmlformats.org/drawingml/2006/main">
              <a:ext uri="{FF2B5EF4-FFF2-40B4-BE49-F238E27FC236}">
                <a16:creationId xmlns:a16="http://schemas.microsoft.com/office/drawing/2014/main" id="{3E260F8F-43FA-492A-9923-D6035EC9A9D9}"/>
              </a:ext>
            </a:extLst>
          </p:cNvPr>
          <p:cNvSpPr>
            <a:spLocks xmlns:a="http://schemas.openxmlformats.org/drawingml/2006/main" noGrp="1"/>
          </p:cNvSpPr>
          <p:nvPr>
            <p:ph type="body" idx="107"/>
          </p:nvPr>
        </p:nvSpPr>
        <p:spPr/>
        <p:txBody>
          <a:bodyPr xmlns:a="http://schemas.openxmlformats.org/drawingml/2006/main"/>
          <a:lstStyle xmlns:a="http://schemas.openxmlformats.org/drawingml/2006/main"/>
          <a:p xmlns:a="http://schemas.openxmlformats.org/drawingml/2006/main">
            <a:r>
              <a:t>01</a:t>
            </a:r>
          </a:p>
        </p:txBody>
      </p:sp>
      <p:sp>
        <p:nvSpPr>
          <p:cNvPr id="167" name="Section title">
            <a:extLst xmlns:a="http://schemas.openxmlformats.org/drawingml/2006/main">
              <a:ext uri="{FF2B5EF4-FFF2-40B4-BE49-F238E27FC236}">
                <a16:creationId xmlns:a16="http://schemas.microsoft.com/office/drawing/2014/main" id="{548CA46D-D6F8-418D-9D94-05B3BA7F5DCE}"/>
              </a:ext>
            </a:extLst>
          </p:cNvPr>
          <p:cNvSpPr>
            <a:spLocks xmlns:a="http://schemas.openxmlformats.org/drawingml/2006/main" noGrp="1"/>
          </p:cNvSpPr>
          <p:nvPr>
            <p:ph type="title" idx="108"/>
          </p:nvPr>
        </p:nvSpPr>
        <p:spPr/>
        <p:txBody>
          <a:bodyPr xmlns:a="http://schemas.openxmlformats.org/drawingml/2006/main"/>
          <a:lstStyle xmlns:a="http://schemas.openxmlformats.org/drawingml/2006/main"/>
          <a:p xmlns:a="http://schemas.openxmlformats.org/drawingml/2006/main">
            <a:r>
              <a:t>Introduction</a:t>
            </a:r>
          </a:p>
        </p:txBody>
      </p:sp>
      <p:sp>
        <p:nvSpPr>
          <p:cNvPr id="168" name="Section summary">
            <a:extLst xmlns:a="http://schemas.openxmlformats.org/drawingml/2006/main">
              <a:ext uri="{FF2B5EF4-FFF2-40B4-BE49-F238E27FC236}">
                <a16:creationId xmlns:a16="http://schemas.microsoft.com/office/drawing/2014/main" id="{4AAF5F1D-65CE-45B0-B2AF-87B83279CEA2}"/>
              </a:ext>
            </a:extLst>
          </p:cNvPr>
          <p:cNvSpPr>
            <a:spLocks xmlns:a="http://schemas.openxmlformats.org/drawingml/2006/main" noGrp="1"/>
          </p:cNvSpPr>
          <p:nvPr>
            <p:ph type="body" idx="109"/>
          </p:nvPr>
        </p:nvSpPr>
        <p:spPr/>
        <p:txBody>
          <a:bodyPr xmlns:a="http://schemas.openxmlformats.org/drawingml/2006/main"/>
          <a:lstStyle xmlns:a="http://schemas.openxmlformats.org/drawingml/2006/main"/>
          <a:p xmlns:a="http://schemas.openxmlformats.org/drawingml/2006/main">
            <a:r>
              <a:t>Context, problem statement and objectives</a:t>
            </a:r>
          </a:p>
        </p:txBody>
      </p:sp>
      <p:sp>
        <p:nvSpPr>
          <p:cNvPr id="169" name="Slide Number">
            <a:extLst xmlns:a="http://schemas.openxmlformats.org/drawingml/2006/main">
              <a:ext uri="{FF2B5EF4-FFF2-40B4-BE49-F238E27FC236}">
                <a16:creationId xmlns:a16="http://schemas.microsoft.com/office/drawing/2014/main" id="{1280437B-80FD-4CE7-89F1-9E1DB7DAAE26}"/>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3</a:t>
            </a:fld>
            <a:endParaRPr sz="1800" b="1"/>
          </a:p>
        </p:txBody>
      </p:sp>
    </p:spTree>
    <p:extLst>
      <p:ext uri="{BB962C8B-B14F-4D97-AF65-F5344CB8AC3E}">
        <p14:creationId xmlns:p14="http://schemas.microsoft.com/office/powerpoint/2010/main" val="15010433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EB33B6B2-AA81-4FA4-8C84-24E8F54CAE85}"/>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Background and Problem Statement</a:t>
            </a:r>
            <a:endParaRPr sz="3600"/>
          </a:p>
        </p:txBody>
      </p:sp>
      <p:sp>
        <p:nvSpPr>
          <p:cNvPr id="3" name="Text 1">
            <a:extLst xmlns:a="http://schemas.openxmlformats.org/drawingml/2006/main">
              <a:ext uri="{FF2B5EF4-FFF2-40B4-BE49-F238E27FC236}">
                <a16:creationId xmlns:a16="http://schemas.microsoft.com/office/drawing/2014/main" id="{A65687BB-19CC-4178-8A23-74BD95DD5F7C}"/>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2000">
                <a:solidFill>
                  <a:schemeClr val="tx1"/>
                </a:solidFill>
              </a:rPr>
              <a:t>Retrieval returns similar prior chest X-rays for education and reference.</a:t>
            </a:r>
            <a:endParaRPr sz="2000"/>
          </a:p>
          <a:p xmlns:a="http://schemas.openxmlformats.org/drawingml/2006/main">
            <a:pPr marL="342900" indent="-342900">
              <a:spcAft>
                <a:spcPts val="1000"/>
              </a:spcAft>
              <a:buClr>
                <a:schemeClr val="accent1"/>
              </a:buClr>
              <a:buSzPct val="100000"/>
              <a:buChar char="•"/>
            </a:pPr>
            <a:r>
              <a:rPr sz="2000">
                <a:solidFill>
                  <a:schemeClr val="tx1"/>
                </a:solidFill>
              </a:rPr>
              <a:t>Prior work studies embeddings and scarce or imbalanced categories.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Balanced index-size experiments preserve the target class proportion.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This study fixes gallery size and reduces target prevalence from 5% to 0.5%.</a:t>
            </a:r>
            <a:endParaRPr sz="2000"/>
          </a:p>
        </p:txBody>
      </p:sp>
      <p:sp>
        <p:nvSpPr>
          <p:cNvPr id="174" name="Slide Number">
            <a:extLst xmlns:a="http://schemas.openxmlformats.org/drawingml/2006/main">
              <a:ext uri="{FF2B5EF4-FFF2-40B4-BE49-F238E27FC236}">
                <a16:creationId xmlns:a16="http://schemas.microsoft.com/office/drawing/2014/main" id="{62042B6A-EF88-45CD-AB1A-A7566F89988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4</a:t>
            </a:fld>
            <a:endParaRPr sz="1800" b="1"/>
          </a:p>
        </p:txBody>
      </p:sp>
    </p:spTree>
    <p:extLst>
      <p:ext uri="{BB962C8B-B14F-4D97-AF65-F5344CB8AC3E}">
        <p14:creationId xmlns:p14="http://schemas.microsoft.com/office/powerpoint/2010/main" val="186614851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C64AD83E-6451-4D36-A464-FBD56685A5D1}"/>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Objectives and Contributions</a:t>
            </a:r>
            <a:endParaRPr sz="3600"/>
          </a:p>
        </p:txBody>
      </p:sp>
      <p:sp>
        <p:nvSpPr>
          <p:cNvPr id="3" name="Card 1">
            <a:extLst xmlns:a="http://schemas.openxmlformats.org/drawingml/2006/main">
              <a:ext uri="{FF2B5EF4-FFF2-40B4-BE49-F238E27FC236}">
                <a16:creationId xmlns:a16="http://schemas.microsoft.com/office/drawing/2014/main" id="{DA36737A-2A5E-4C6B-A6AE-C93969FD4920}"/>
              </a:ext>
            </a:extLst>
          </p:cNvPr>
          <p:cNvSpPr>
            <a:spLocks xmlns:a="http://schemas.openxmlformats.org/drawingml/2006/main" noGrp="1"/>
          </p:cNvSpPr>
          <p:nvPr/>
        </p:nvSpPr>
        <p:spPr>
          <a:xfrm xmlns:a="http://schemas.openxmlformats.org/drawingml/2006/main">
            <a:off x="548640"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4" name="Card icon circle 1">
            <a:extLst xmlns:a="http://schemas.openxmlformats.org/drawingml/2006/main">
              <a:ext uri="{FF2B5EF4-FFF2-40B4-BE49-F238E27FC236}">
                <a16:creationId xmlns:a16="http://schemas.microsoft.com/office/drawing/2014/main" id="{518EC68D-C8E6-446B-A83C-424199F5163A}"/>
              </a:ext>
            </a:extLst>
          </p:cNvPr>
          <p:cNvSpPr>
            <a:spLocks xmlns:a="http://schemas.openxmlformats.org/drawingml/2006/main" noGrp="1"/>
          </p:cNvSpPr>
          <p:nvPr/>
        </p:nvSpPr>
        <p:spPr>
          <a:xfrm xmlns:a="http://schemas.openxmlformats.org/drawingml/2006/main">
            <a:off x="868680"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5" name="Card icon 1">
            <a:extLst xmlns:a="http://schemas.openxmlformats.org/drawingml/2006/main">
              <a:ext uri="{FF2B5EF4-FFF2-40B4-BE49-F238E27FC236}">
                <a16:creationId xmlns:a16="http://schemas.microsoft.com/office/drawing/2014/main" id="{4B7A610D-8333-4793-A870-7741BFA1D83B}"/>
              </a:ext>
            </a:extLst>
          </p:cNvPr>
          <p:cNvPicPr>
            <a:picLocks xmlns:a="http://schemas.openxmlformats.org/drawingml/2006/main" noChangeAspect="1"/>
          </p:cNvPicPr>
          <p:nvPr/>
        </p:nvPicPr>
        <p:blipFill>
          <a:blip xmlns:r="http://schemas.openxmlformats.org/officeDocument/2006/relationships" xmlns:a="http://schemas.openxmlformats.org/drawingml/2006/main" r:embed="R2f322635bb84424f"/>
          <a:stretch xmlns:a="http://schemas.openxmlformats.org/drawingml/2006/main">
            <a:fillRect l="0" t="0" r="0" b="0"/>
          </a:stretch>
        </p:blipFill>
        <p:spPr>
          <a:xfrm xmlns:a="http://schemas.openxmlformats.org/drawingml/2006/main">
            <a:off x="1051560" y="2103120"/>
            <a:ext cx="502920" cy="502920"/>
          </a:xfrm>
          <a:prstGeom xmlns:a="http://schemas.openxmlformats.org/drawingml/2006/main" prst="rect">
            <a:avLst/>
          </a:prstGeom>
        </p:spPr>
      </p:pic>
      <p:sp>
        <p:nvSpPr>
          <p:cNvPr id="6" name="Card heading 1">
            <a:extLst xmlns:a="http://schemas.openxmlformats.org/drawingml/2006/main">
              <a:ext uri="{FF2B5EF4-FFF2-40B4-BE49-F238E27FC236}">
                <a16:creationId xmlns:a16="http://schemas.microsoft.com/office/drawing/2014/main" id="{A18F2C88-9AF3-452F-A3C1-60A11D51DB98}"/>
              </a:ext>
            </a:extLst>
          </p:cNvPr>
          <p:cNvSpPr>
            <a:spLocks xmlns:a="http://schemas.openxmlformats.org/drawingml/2006/main" noGrp="1"/>
          </p:cNvSpPr>
          <p:nvPr/>
        </p:nvSpPr>
        <p:spPr>
          <a:xfrm xmlns:a="http://schemas.openxmlformats.org/drawingml/2006/main">
            <a:off x="868680"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Objective</a:t>
            </a:r>
            <a:endParaRPr sz="2200"/>
          </a:p>
        </p:txBody>
      </p:sp>
      <p:sp>
        <p:nvSpPr>
          <p:cNvPr id="7" name="Card text 1">
            <a:extLst xmlns:a="http://schemas.openxmlformats.org/drawingml/2006/main">
              <a:ext uri="{FF2B5EF4-FFF2-40B4-BE49-F238E27FC236}">
                <a16:creationId xmlns:a16="http://schemas.microsoft.com/office/drawing/2014/main" id="{98D250EB-B4A8-441C-90D3-926B87788B03}"/>
              </a:ext>
            </a:extLst>
          </p:cNvPr>
          <p:cNvSpPr>
            <a:spLocks xmlns:a="http://schemas.openxmlformats.org/drawingml/2006/main" noGrp="1"/>
          </p:cNvSpPr>
          <p:nvPr/>
        </p:nvSpPr>
        <p:spPr>
          <a:xfrm xmlns:a="http://schemas.openxmlformats.org/drawingml/2006/main">
            <a:off x="868680"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Measure retrieval loss as target prevalence falls across three target pathologies.</a:t>
            </a:r>
            <a:endParaRPr sz="1600"/>
          </a:p>
        </p:txBody>
      </p:sp>
      <p:sp>
        <p:nvSpPr>
          <p:cNvPr id="8" name="Card 2">
            <a:extLst xmlns:a="http://schemas.openxmlformats.org/drawingml/2006/main">
              <a:ext uri="{FF2B5EF4-FFF2-40B4-BE49-F238E27FC236}">
                <a16:creationId xmlns:a16="http://schemas.microsoft.com/office/drawing/2014/main" id="{CC00F145-198E-4FFC-BF78-B2EE9C38D8DB}"/>
              </a:ext>
            </a:extLst>
          </p:cNvPr>
          <p:cNvSpPr>
            <a:spLocks xmlns:a="http://schemas.openxmlformats.org/drawingml/2006/main" noGrp="1"/>
          </p:cNvSpPr>
          <p:nvPr/>
        </p:nvSpPr>
        <p:spPr>
          <a:xfrm xmlns:a="http://schemas.openxmlformats.org/drawingml/2006/main">
            <a:off x="4325112"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9" name="Card icon circle 2">
            <a:extLst xmlns:a="http://schemas.openxmlformats.org/drawingml/2006/main">
              <a:ext uri="{FF2B5EF4-FFF2-40B4-BE49-F238E27FC236}">
                <a16:creationId xmlns:a16="http://schemas.microsoft.com/office/drawing/2014/main" id="{521C1504-5456-411C-ADC2-922164FA4345}"/>
              </a:ext>
            </a:extLst>
          </p:cNvPr>
          <p:cNvSpPr>
            <a:spLocks xmlns:a="http://schemas.openxmlformats.org/drawingml/2006/main" noGrp="1"/>
          </p:cNvSpPr>
          <p:nvPr/>
        </p:nvSpPr>
        <p:spPr>
          <a:xfrm xmlns:a="http://schemas.openxmlformats.org/drawingml/2006/main">
            <a:off x="4645152" y="1920240"/>
            <a:ext cx="868680" cy="868680"/>
          </a:xfrm>
          <a:prstGeom xmlns:a="http://schemas.openxmlformats.org/drawingml/2006/main" prst="ellipse">
            <a:avLst/>
          </a:prstGeom>
          <a:solidFill xmlns:a="http://schemas.openxmlformats.org/drawingml/2006/main">
            <a:schemeClr val="accent3"/>
          </a:solidFill>
        </p:spPr>
        <p:txBody>
          <a:bodyPr xmlns:a="http://schemas.openxmlformats.org/drawingml/2006/main"/>
          <a:lstStyle xmlns:a="http://schemas.openxmlformats.org/drawingml/2006/main"/>
          <a:p xmlns:a="http://schemas.openxmlformats.org/drawingml/2006/main">
            <a:endParaRPr/>
          </a:p>
        </p:txBody>
      </p:sp>
      <p:pic>
        <p:nvPicPr>
          <p:cNvPr id="10" name="Card icon 2">
            <a:extLst xmlns:a="http://schemas.openxmlformats.org/drawingml/2006/main">
              <a:ext uri="{FF2B5EF4-FFF2-40B4-BE49-F238E27FC236}">
                <a16:creationId xmlns:a16="http://schemas.microsoft.com/office/drawing/2014/main" id="{F4DA2335-ADAC-43B3-8497-5DA78CE07EB1}"/>
              </a:ext>
            </a:extLst>
          </p:cNvPr>
          <p:cNvPicPr>
            <a:picLocks xmlns:a="http://schemas.openxmlformats.org/drawingml/2006/main" noChangeAspect="1"/>
          </p:cNvPicPr>
          <p:nvPr/>
        </p:nvPicPr>
        <p:blipFill>
          <a:blip xmlns:r="http://schemas.openxmlformats.org/officeDocument/2006/relationships" xmlns:a="http://schemas.openxmlformats.org/drawingml/2006/main" r:embed="R08867bee83e64d81"/>
          <a:stretch xmlns:a="http://schemas.openxmlformats.org/drawingml/2006/main">
            <a:fillRect l="0" t="0" r="0" b="0"/>
          </a:stretch>
        </p:blipFill>
        <p:spPr>
          <a:xfrm xmlns:a="http://schemas.openxmlformats.org/drawingml/2006/main">
            <a:off x="4828032" y="2103120"/>
            <a:ext cx="502920" cy="502920"/>
          </a:xfrm>
          <a:prstGeom xmlns:a="http://schemas.openxmlformats.org/drawingml/2006/main" prst="rect">
            <a:avLst/>
          </a:prstGeom>
        </p:spPr>
      </p:pic>
      <p:sp>
        <p:nvSpPr>
          <p:cNvPr id="11" name="Card heading 2">
            <a:extLst xmlns:a="http://schemas.openxmlformats.org/drawingml/2006/main">
              <a:ext uri="{FF2B5EF4-FFF2-40B4-BE49-F238E27FC236}">
                <a16:creationId xmlns:a16="http://schemas.microsoft.com/office/drawing/2014/main" id="{4E358C09-7F96-4F30-8E89-FA9ACB3E7473}"/>
              </a:ext>
            </a:extLst>
          </p:cNvPr>
          <p:cNvSpPr>
            <a:spLocks xmlns:a="http://schemas.openxmlformats.org/drawingml/2006/main" noGrp="1"/>
          </p:cNvSpPr>
          <p:nvPr/>
        </p:nvSpPr>
        <p:spPr>
          <a:xfrm xmlns:a="http://schemas.openxmlformats.org/drawingml/2006/main">
            <a:off x="4645152"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Contribution</a:t>
            </a:r>
            <a:endParaRPr sz="2200"/>
          </a:p>
        </p:txBody>
      </p:sp>
      <p:sp>
        <p:nvSpPr>
          <p:cNvPr id="12" name="Card text 2">
            <a:extLst xmlns:a="http://schemas.openxmlformats.org/drawingml/2006/main">
              <a:ext uri="{FF2B5EF4-FFF2-40B4-BE49-F238E27FC236}">
                <a16:creationId xmlns:a16="http://schemas.microsoft.com/office/drawing/2014/main" id="{965AEBC3-6468-495B-B544-8EC12FB524A7}"/>
              </a:ext>
            </a:extLst>
          </p:cNvPr>
          <p:cNvSpPr>
            <a:spLocks xmlns:a="http://schemas.openxmlformats.org/drawingml/2006/main" noGrp="1"/>
          </p:cNvSpPr>
          <p:nvPr/>
        </p:nvSpPr>
        <p:spPr>
          <a:xfrm xmlns:a="http://schemas.openxmlformats.org/drawingml/2006/main">
            <a:off x="4645152"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Compare six ResNet-50 conditions using fixed queries, checkpoints and gallery size.</a:t>
            </a:r>
            <a:endParaRPr sz="1600"/>
          </a:p>
        </p:txBody>
      </p:sp>
      <p:sp>
        <p:nvSpPr>
          <p:cNvPr id="13" name="Card 3">
            <a:extLst xmlns:a="http://schemas.openxmlformats.org/drawingml/2006/main">
              <a:ext uri="{FF2B5EF4-FFF2-40B4-BE49-F238E27FC236}">
                <a16:creationId xmlns:a16="http://schemas.microsoft.com/office/drawing/2014/main" id="{E9E496E6-2A2C-499B-86E0-948D1A0B929F}"/>
              </a:ext>
            </a:extLst>
          </p:cNvPr>
          <p:cNvSpPr>
            <a:spLocks xmlns:a="http://schemas.openxmlformats.org/drawingml/2006/main" noGrp="1"/>
          </p:cNvSpPr>
          <p:nvPr/>
        </p:nvSpPr>
        <p:spPr>
          <a:xfrm xmlns:a="http://schemas.openxmlformats.org/drawingml/2006/main">
            <a:off x="8101584" y="1600200"/>
            <a:ext cx="3502152" cy="3291840"/>
          </a:xfrm>
          <a:prstGeom xmlns:a="http://schemas.openxmlformats.org/drawingml/2006/main" prst="roundRect">
            <a:avLst>
              <a:gd name="adj" fmla="val 3333"/>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14" name="Card icon circle 3">
            <a:extLst xmlns:a="http://schemas.openxmlformats.org/drawingml/2006/main">
              <a:ext uri="{FF2B5EF4-FFF2-40B4-BE49-F238E27FC236}">
                <a16:creationId xmlns:a16="http://schemas.microsoft.com/office/drawing/2014/main" id="{235D0D54-B470-4D78-9B36-029594870A41}"/>
              </a:ext>
            </a:extLst>
          </p:cNvPr>
          <p:cNvSpPr>
            <a:spLocks xmlns:a="http://schemas.openxmlformats.org/drawingml/2006/main" noGrp="1"/>
          </p:cNvSpPr>
          <p:nvPr/>
        </p:nvSpPr>
        <p:spPr>
          <a:xfrm xmlns:a="http://schemas.openxmlformats.org/drawingml/2006/main">
            <a:off x="8421624" y="1920240"/>
            <a:ext cx="868680" cy="86868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5" name="Card icon 3">
            <a:extLst xmlns:a="http://schemas.openxmlformats.org/drawingml/2006/main">
              <a:ext uri="{FF2B5EF4-FFF2-40B4-BE49-F238E27FC236}">
                <a16:creationId xmlns:a16="http://schemas.microsoft.com/office/drawing/2014/main" id="{EF1F7AB2-173B-43B1-AF89-9E25658416EA}"/>
              </a:ext>
            </a:extLst>
          </p:cNvPr>
          <p:cNvPicPr>
            <a:picLocks xmlns:a="http://schemas.openxmlformats.org/drawingml/2006/main" noChangeAspect="1"/>
          </p:cNvPicPr>
          <p:nvPr/>
        </p:nvPicPr>
        <p:blipFill>
          <a:blip xmlns:r="http://schemas.openxmlformats.org/officeDocument/2006/relationships" xmlns:a="http://schemas.openxmlformats.org/drawingml/2006/main" r:embed="R964a3405d58c4d80"/>
          <a:stretch xmlns:a="http://schemas.openxmlformats.org/drawingml/2006/main">
            <a:fillRect l="0" t="0" r="0" b="0"/>
          </a:stretch>
        </p:blipFill>
        <p:spPr>
          <a:xfrm xmlns:a="http://schemas.openxmlformats.org/drawingml/2006/main">
            <a:off x="8604504" y="2103120"/>
            <a:ext cx="502920" cy="502920"/>
          </a:xfrm>
          <a:prstGeom xmlns:a="http://schemas.openxmlformats.org/drawingml/2006/main" prst="rect">
            <a:avLst/>
          </a:prstGeom>
        </p:spPr>
      </p:pic>
      <p:sp>
        <p:nvSpPr>
          <p:cNvPr id="16" name="Card heading 3">
            <a:extLst xmlns:a="http://schemas.openxmlformats.org/drawingml/2006/main">
              <a:ext uri="{FF2B5EF4-FFF2-40B4-BE49-F238E27FC236}">
                <a16:creationId xmlns:a16="http://schemas.microsoft.com/office/drawing/2014/main" id="{CD78F735-607C-4C78-8DBD-0D9C41D7325C}"/>
              </a:ext>
            </a:extLst>
          </p:cNvPr>
          <p:cNvSpPr>
            <a:spLocks xmlns:a="http://schemas.openxmlformats.org/drawingml/2006/main" noGrp="1"/>
          </p:cNvSpPr>
          <p:nvPr/>
        </p:nvSpPr>
        <p:spPr>
          <a:xfrm xmlns:a="http://schemas.openxmlformats.org/drawingml/2006/main">
            <a:off x="8421624" y="3017520"/>
            <a:ext cx="2880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tx2"/>
                </a:solidFill>
              </a:rPr>
              <a:t>Impact</a:t>
            </a:r>
            <a:endParaRPr sz="2200"/>
          </a:p>
        </p:txBody>
      </p:sp>
      <p:sp>
        <p:nvSpPr>
          <p:cNvPr id="17" name="Card text 3">
            <a:extLst xmlns:a="http://schemas.openxmlformats.org/drawingml/2006/main">
              <a:ext uri="{FF2B5EF4-FFF2-40B4-BE49-F238E27FC236}">
                <a16:creationId xmlns:a16="http://schemas.microsoft.com/office/drawing/2014/main" id="{D078D388-369B-435F-9250-19F49C7849E0}"/>
              </a:ext>
            </a:extLst>
          </p:cNvPr>
          <p:cNvSpPr>
            <a:spLocks xmlns:a="http://schemas.openxmlformats.org/drawingml/2006/main" noGrp="1"/>
          </p:cNvSpPr>
          <p:nvPr/>
        </p:nvSpPr>
        <p:spPr>
          <a:xfrm xmlns:a="http://schemas.openxmlformats.org/drawingml/2006/main">
            <a:off x="8421624" y="3566160"/>
            <a:ext cx="288036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rPr>
              <a:t>Show why retrieval benchmarks should report more than one gallery prevalence.</a:t>
            </a:r>
            <a:endParaRPr sz="1600"/>
          </a:p>
        </p:txBody>
      </p:sp>
      <p:sp>
        <p:nvSpPr>
          <p:cNvPr id="175" name="Slide Number">
            <a:extLst xmlns:a="http://schemas.openxmlformats.org/drawingml/2006/main">
              <a:ext uri="{FF2B5EF4-FFF2-40B4-BE49-F238E27FC236}">
                <a16:creationId xmlns:a16="http://schemas.microsoft.com/office/drawing/2014/main" id="{BFC61B83-2BCD-4C72-9416-FCE823595D75}"/>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5</a:t>
            </a:fld>
            <a:endParaRPr sz="1800" b="1"/>
          </a:p>
        </p:txBody>
      </p:sp>
    </p:spTree>
    <p:extLst>
      <p:ext uri="{BB962C8B-B14F-4D97-AF65-F5344CB8AC3E}">
        <p14:creationId xmlns:p14="http://schemas.microsoft.com/office/powerpoint/2010/main" val="21190811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3C074271-7730-4EBC-8C8B-6C2610C959E3}"/>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Proposed Methodology</a:t>
            </a:r>
            <a:endParaRPr sz="3600"/>
          </a:p>
        </p:txBody>
      </p:sp>
      <p:sp>
        <p:nvSpPr>
          <p:cNvPr id="3" name="Text 1">
            <a:extLst xmlns:a="http://schemas.openxmlformats.org/drawingml/2006/main">
              <a:ext uri="{FF2B5EF4-FFF2-40B4-BE49-F238E27FC236}">
                <a16:creationId xmlns:a16="http://schemas.microsoft.com/office/drawing/2014/main" id="{CFF0B040-43DE-4458-8F87-91AD6F6BA514}"/>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Clr>
                <a:schemeClr val="accent1"/>
              </a:buClr>
              <a:buSzPct val="100000"/>
              <a:buChar char="•"/>
            </a:pPr>
            <a:r>
              <a:rPr sz="1800">
                <a:solidFill>
                  <a:schemeClr val="tx1"/>
                </a:solidFill>
              </a:rPr>
              <a:t>Data: NIH, SIIM-ACR and three external chest X-ray collections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Models: six pretrained or adapted ResNet-50 conditions</a:t>
            </a:r>
            <a:endParaRPr sz="1800"/>
          </a:p>
          <a:p xmlns:a="http://schemas.openxmlformats.org/drawingml/2006/main">
            <a:pPr marL="342900" indent="-342900">
              <a:spcAft>
                <a:spcPts val="1000"/>
              </a:spcAft>
              <a:buClr>
                <a:schemeClr val="accent1"/>
              </a:buClr>
              <a:buSzPct val="100000"/>
              <a:buChar char="•"/>
            </a:pPr>
            <a:r>
              <a:rPr sz="1800">
                <a:solidFill>
                  <a:schemeClr val="tx1"/>
                </a:solidFill>
              </a:rPr>
              <a:t>Protocol: 200 queries per target, 20,000 images per gallery</a:t>
            </a:r>
            <a:endParaRPr sz="1800"/>
          </a:p>
          <a:p xmlns:a="http://schemas.openxmlformats.org/drawingml/2006/main">
            <a:pPr marL="342900" indent="-342900">
              <a:spcAft>
                <a:spcPts val="1000"/>
              </a:spcAft>
              <a:buClr>
                <a:schemeClr val="accent1"/>
              </a:buClr>
              <a:buSzPct val="100000"/>
              <a:buChar char="•"/>
            </a:pPr>
            <a:r>
              <a:rPr sz="1800">
                <a:solidFill>
                  <a:schemeClr val="tx1"/>
                </a:solidFill>
              </a:rPr>
              <a:t>Prevalence: 5%, 2%, 1% and 0.5%, with five gallery samples each</a:t>
            </a:r>
            <a:endParaRPr sz="1800"/>
          </a:p>
        </p:txBody>
      </p:sp>
      <p:sp>
        <p:nvSpPr>
          <p:cNvPr id="4" name="Text 2">
            <a:extLst xmlns:a="http://schemas.openxmlformats.org/drawingml/2006/main">
              <a:ext uri="{FF2B5EF4-FFF2-40B4-BE49-F238E27FC236}">
                <a16:creationId xmlns:a16="http://schemas.microsoft.com/office/drawing/2014/main" id="{3AED87E8-1A0C-45BA-B1F1-BF565ED94583}"/>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chemeClr val="accent5"/>
                </a:solidFill>
              </a:rPr>
              <a:t>Embedding extraction and exact retrieval workflow</a:t>
            </a:r>
            <a:endParaRPr sz="1200"/>
          </a:p>
        </p:txBody>
      </p:sp>
      <p:sp>
        <p:nvSpPr>
          <p:cNvPr id="6" name="Text 2">
            <a:extLst xmlns:a="http://schemas.openxmlformats.org/drawingml/2006/main">
              <a:ext uri="{FF2B5EF4-FFF2-40B4-BE49-F238E27FC236}">
                <a16:creationId xmlns:a16="http://schemas.microsoft.com/office/drawing/2014/main" id="{C7562270-8C8F-406E-99FE-DDD6E555B2D8}"/>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noFill xmlns:a="http://schemas.openxmlformats.org/drawingml/2006/main"/>
        </p:spPr>
        <p:txBody>
          <a:bodyPr xmlns:a="http://schemas.openxmlformats.org/drawingml/2006/main" wrap="square" lIns="266700" tIns="238125" rIns="190500" bIns="238125" anchor="ctr"/>
          <a:lstStyle xmlns:a="http://schemas.openxmlformats.org/drawingml/2006/main">
            <a:defPPr algn="l">
              <a:defRPr sz="1950">
                <a:solidFill>
                  <a:srgbClr val="0B2545"/>
                </a:solidFill>
              </a:defRPr>
            </a:defPPr>
          </a:lstStyle>
          <a:p xmlns:a="http://schemas.openxmlformats.org/drawingml/2006/main">
            <a:pPr marL="0" indent="0" algn="l">
              <a:buNone/>
              <a:defRPr sz="1950">
                <a:solidFill>
                  <a:srgbClr val="0B2545"/>
                </a:solidFill>
              </a:defRPr>
            </a:pPr>
            <a:r>
              <a:rPr sz="1950">
                <a:solidFill>
                  <a:srgbClr val="0B2545"/>
                </a:solidFill>
              </a:rPr>
              <a:t>1  224 × 224 radiograph</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2  ResNet-50 encoder</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3  2,048-D normalized embedding</a:t>
            </a:r>
            <a:endParaRPr/>
          </a:p>
          <a:p xmlns:a="http://schemas.openxmlformats.org/drawingml/2006/main">
            <a:pPr marL="0" indent="0">
              <a:buNone/>
            </a:pPr>
            <a:r>
              <a:t/>
            </a:r>
            <a:endParaRPr/>
          </a:p>
          <a:p xmlns:a="http://schemas.openxmlformats.org/drawingml/2006/main">
            <a:pPr marL="0" indent="0" algn="l">
              <a:buNone/>
              <a:defRPr sz="1950">
                <a:solidFill>
                  <a:srgbClr val="0B2545"/>
                </a:solidFill>
              </a:defRPr>
            </a:pPr>
            <a:r>
              <a:rPr sz="1950">
                <a:solidFill>
                  <a:srgbClr val="0B2545"/>
                </a:solidFill>
              </a:rPr>
              <a:t>4  Exact cosine ranking</a:t>
            </a:r>
            <a:endParaRPr/>
          </a:p>
        </p:txBody>
      </p:sp>
      <p:sp>
        <p:nvSpPr>
          <p:cNvPr id="176" name="Slide Number">
            <a:extLst xmlns:a="http://schemas.openxmlformats.org/drawingml/2006/main">
              <a:ext uri="{FF2B5EF4-FFF2-40B4-BE49-F238E27FC236}">
                <a16:creationId xmlns:a16="http://schemas.microsoft.com/office/drawing/2014/main" id="{EA66E488-2749-4F3E-B850-52C43CA59469}"/>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6</a:t>
            </a:fld>
            <a:endParaRPr sz="1800" b="1"/>
          </a:p>
        </p:txBody>
      </p:sp>
    </p:spTree>
    <p:extLst>
      <p:ext uri="{BB962C8B-B14F-4D97-AF65-F5344CB8AC3E}">
        <p14:creationId xmlns:p14="http://schemas.microsoft.com/office/powerpoint/2010/main" val="1600059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9DA42A49-7066-442E-B7B0-6AEEA9F6704F}"/>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Experimental Setup</a:t>
            </a:r>
            <a:endParaRPr sz="3600"/>
          </a:p>
        </p:txBody>
      </p:sp>
      <p:graphicFrame>
        <p:nvGraphicFramePr>
          <p:cNvPr id="8" name="Table 0">
            <a:extLst xmlns:a="http://schemas.openxmlformats.org/drawingml/2006/main">
              <a:ext uri="{FF2B5EF4-FFF2-40B4-BE49-F238E27FC236}">
                <a16:creationId xmlns:a16="http://schemas.microsoft.com/office/drawing/2014/main" id="{96C3CBD4-2415-4458-B788-1899114F7875}"/>
              </a:ext>
            </a:extLst>
          </p:cNvPr>
          <p:cNvGraphicFramePr/>
          <p:nvPr/>
        </p:nvGraphicFramePr>
        <p:xfrm>
          <a:off xmlns:a="http://schemas.openxmlformats.org/drawingml/2006/main" x="548640" y="1508760"/>
          <a:ext xmlns:a="http://schemas.openxmlformats.org/drawingml/2006/main" cx="11091672" cy="3401568"/>
        </p:xfrm>
        <a:graphic xmlns:a="http://schemas.openxmlformats.org/drawingml/2006/main">
          <a:graphicData uri="http://schemas.openxmlformats.org/drawingml/2006/table">
            <a:tbl>
              <a:tblPr/>
              <a:tblGrid>
                <a:gridCol w="2926080"/>
                <a:gridCol w="8165592"/>
              </a:tblGrid>
              <a:tr h="566928">
                <a:tc>
                  <a:txBody>
                    <a:bodyPr/>
                    <a:lstStyle/>
                    <a:p>
                      <a:pPr marL="0" indent="0">
                        <a:buNone/>
                      </a:pPr>
                      <a:r>
                        <a:rPr sz="1600" b="1">
                          <a:solidFill>
                            <a:schemeClr val="bg1"/>
                          </a:solidFill>
                        </a:rPr>
                        <a:t>Item</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c>
                  <a:txBody>
                    <a:bodyPr/>
                    <a:lstStyle/>
                    <a:p>
                      <a:pPr marL="0" indent="0">
                        <a:buNone/>
                      </a:pPr>
                      <a:r>
                        <a:rPr sz="1600" b="1">
                          <a:solidFill>
                            <a:schemeClr val="bg1"/>
                          </a:solidFill>
                        </a:rPr>
                        <a:t>Details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tx2"/>
                    </a:solidFill>
                  </a:tcPr>
                </a:tc>
              </a:tr>
              <a:tr h="566928">
                <a:tc>
                  <a:txBody>
                    <a:bodyPr/>
                    <a:lstStyle/>
                    <a:p>
                      <a:pPr marL="0" indent="0">
                        <a:buNone/>
                      </a:pPr>
                      <a:r>
                        <a:rPr sz="1600" b="1">
                          <a:solidFill>
                            <a:schemeClr val="tx1"/>
                          </a:solidFill>
                        </a:rPr>
                        <a:t>Dataset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NIH, SIIM-ACR and 3 external collections; 200 queries per target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Pre-processing</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Deduplication, patient exclusions, 224 × 224, ImageNet normalization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Baselines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CNN-PT, CNN-Common, CNN-NIH, SwAV-PT, SwAV-CLS, SwAV-SupCon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Metrics</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Precision@10 and nDCG@10; five gallery samples per condition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r h="566928">
                <a:tc>
                  <a:txBody>
                    <a:bodyPr/>
                    <a:lstStyle/>
                    <a:p>
                      <a:pPr marL="0" indent="0">
                        <a:buNone/>
                      </a:pPr>
                      <a:r>
                        <a:rPr sz="1600" b="1">
                          <a:solidFill>
                            <a:schemeClr val="tx1"/>
                          </a:solidFill>
                        </a:rPr>
                        <a:t>Environment</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c>
                  <a:txBody>
                    <a:bodyPr/>
                    <a:lstStyle/>
                    <a:p>
                      <a:pPr marL="0" indent="0">
                        <a:buNone/>
                      </a:pPr>
                      <a:r>
                        <a:rPr sz="1600">
                          <a:solidFill>
                            <a:schemeClr val="tx1"/>
                          </a:solidFill>
                        </a:rPr>
                        <a:t>PyTorch 2.10.0+cu128; two Tesla T4 GPUs; one training run per condition</a:t>
                      </a:r>
                      <a:endParaRPr sz="1600"/>
                    </a:p>
                  </a:txBody>
                  <a:tcPr marL="137160" marR="137160" marT="54864" marB="54864" anchor="ctr">
                    <a:lnL w="9525" cmpd="sng">
                      <a:solidFill>
                        <a:srgbClr val="C9D3DE"/>
                      </a:solidFill>
                      <a:prstDash val="solid"/>
                    </a:lnL>
                    <a:lnR w="9525" cmpd="sng">
                      <a:solidFill>
                        <a:srgbClr val="C9D3DE"/>
                      </a:solidFill>
                      <a:prstDash val="solid"/>
                    </a:lnR>
                    <a:lnT w="9525" cmpd="sng">
                      <a:solidFill>
                        <a:srgbClr val="C9D3DE"/>
                      </a:solidFill>
                      <a:prstDash val="solid"/>
                    </a:lnT>
                    <a:lnB w="9525" cmpd="sng">
                      <a:solidFill>
                        <a:srgbClr val="C9D3DE"/>
                      </a:solidFill>
                      <a:prstDash val="solid"/>
                    </a:lnB>
                    <a:solidFill>
                      <a:schemeClr val="bg1"/>
                    </a:solidFill>
                  </a:tcPr>
                </a:tc>
              </a:tr>
            </a:tbl>
          </a:graphicData>
        </a:graphic>
      </p:graphicFrame>
      <p:sp>
        <p:nvSpPr>
          <p:cNvPr id="177" name="Slide Number">
            <a:extLst xmlns:a="http://schemas.openxmlformats.org/drawingml/2006/main">
              <a:ext uri="{FF2B5EF4-FFF2-40B4-BE49-F238E27FC236}">
                <a16:creationId xmlns:a16="http://schemas.microsoft.com/office/drawing/2014/main" id="{8A64F6C1-38A5-42D2-BB89-F704C6552205}"/>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7</a:t>
            </a:fld>
            <a:endParaRPr sz="1800" b="1"/>
          </a:p>
        </p:txBody>
      </p:sp>
    </p:spTree>
    <p:extLst>
      <p:ext uri="{BB962C8B-B14F-4D97-AF65-F5344CB8AC3E}">
        <p14:creationId xmlns:p14="http://schemas.microsoft.com/office/powerpoint/2010/main" val="69666041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8D2C80A5-7D11-4102-8E51-32B38436D770}"/>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Results: Comparison with Baselines</a:t>
            </a:r>
            <a:endParaRPr sz="3600"/>
          </a:p>
        </p:txBody>
      </p:sp>
      <p:sp>
        <p:nvSpPr>
          <p:cNvPr id="4" name="Takeaway card">
            <a:extLst xmlns:a="http://schemas.openxmlformats.org/drawingml/2006/main">
              <a:ext uri="{FF2B5EF4-FFF2-40B4-BE49-F238E27FC236}">
                <a16:creationId xmlns:a16="http://schemas.microsoft.com/office/drawing/2014/main" id="{3BE409D0-208C-41B7-9EBC-D4BC2B2B7407}"/>
              </a:ext>
            </a:extLst>
          </p:cNvPr>
          <p:cNvSpPr>
            <a:spLocks xmlns:a="http://schemas.openxmlformats.org/drawingml/2006/main" noGrp="1"/>
          </p:cNvSpPr>
          <p:nvPr/>
        </p:nvSpPr>
        <p:spPr>
          <a:xfrm xmlns:a="http://schemas.openxmlformats.org/drawingml/2006/main">
            <a:off x="7863840" y="1463040"/>
            <a:ext cx="3776472" cy="4526280"/>
          </a:xfrm>
          <a:prstGeom xmlns:a="http://schemas.openxmlformats.org/drawingml/2006/main" prst="roundRect">
            <a:avLst>
              <a:gd name="adj" fmla="val 2906"/>
            </a:avLst>
          </a:prstGeom>
          <a:solidFill xmlns:a="http://schemas.openxmlformats.org/drawingml/2006/main">
            <a:schemeClr val="bg2"/>
          </a:solidFill>
        </p:spPr>
        <p:txBody>
          <a:bodyPr xmlns:a="http://schemas.openxmlformats.org/drawingml/2006/main"/>
          <a:lstStyle xmlns:a="http://schemas.openxmlformats.org/drawingml/2006/main"/>
          <a:p xmlns:a="http://schemas.openxmlformats.org/drawingml/2006/main">
            <a:endParaRPr/>
          </a:p>
        </p:txBody>
      </p:sp>
      <p:sp>
        <p:nvSpPr>
          <p:cNvPr id="5" name="Takeaway text">
            <a:extLst xmlns:a="http://schemas.openxmlformats.org/drawingml/2006/main">
              <a:ext uri="{FF2B5EF4-FFF2-40B4-BE49-F238E27FC236}">
                <a16:creationId xmlns:a16="http://schemas.microsoft.com/office/drawing/2014/main" id="{CEA7F688-645D-42C6-8756-C81D29A74E8C}"/>
              </a:ext>
            </a:extLst>
          </p:cNvPr>
          <p:cNvSpPr>
            <a:spLocks xmlns:a="http://schemas.openxmlformats.org/drawingml/2006/main" noGrp="1"/>
          </p:cNvSpPr>
          <p:nvPr/>
        </p:nvSpPr>
        <p:spPr>
          <a:xfrm xmlns:a="http://schemas.openxmlformats.org/drawingml/2006/main">
            <a:off x="8138160" y="1737360"/>
            <a:ext cx="3227832" cy="4023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2"/>
                </a:solidFill>
              </a:rPr>
              <a:t>Key takeaway</a:t>
            </a:r>
            <a:endParaRPr sz="1800"/>
          </a:p>
          <a:p xmlns:a="http://schemas.openxmlformats.org/drawingml/2006/main">
            <a:pPr marL="0" indent="0">
              <a:buNone/>
            </a:pPr>
            <a:r>
              <a:rPr sz="800">
                <a:solidFill>
                  <a:srgbClr val="000000"/>
                </a:solidFill>
              </a:rPr>
              <a:t> </a:t>
            </a:r>
            <a:endParaRPr sz="1800"/>
          </a:p>
          <a:p xmlns:a="http://schemas.openxmlformats.org/drawingml/2006/main">
            <a:pPr marL="0" indent="0">
              <a:buNone/>
            </a:pPr>
            <a:r>
              <a:rPr sz="1600">
                <a:solidFill>
                  <a:schemeClr val="tx1"/>
                </a:solidFill>
              </a:rPr>
              <a:t>SwAV-SupCon leads at every pathology–prevalence setting.</a:t>
            </a:r>
            <a:endParaRPr sz="1800"/>
          </a:p>
          <a:p xmlns:a="http://schemas.openxmlformats.org/drawingml/2006/main">
            <a:pPr marL="0" indent="0">
              <a:buNone/>
            </a:pPr>
            <a:r>
              <a:rPr sz="800">
                <a:solidFill>
                  <a:srgbClr val="000000"/>
                </a:solidFill>
              </a:rPr>
              <a:t> </a:t>
            </a:r>
            <a:endParaRPr sz="1800"/>
          </a:p>
          <a:p xmlns:a="http://schemas.openxmlformats.org/drawingml/2006/main">
            <a:pPr marL="0" indent="0">
              <a:buNone/>
            </a:pPr>
            <a:r>
              <a:rPr sz="1600">
                <a:solidFill>
                  <a:schemeClr val="tx1"/>
                </a:solidFill>
              </a:rPr>
              <a:t>It exceeds SwAV-CLS in 10 of 12 globally corrected comparisons.</a:t>
            </a:r>
            <a:endParaRPr sz="1800"/>
          </a:p>
        </p:txBody>
      </p:sp>
      <p:sp>
        <p:nvSpPr>
          <p:cNvPr id="178" name="Slide Number">
            <a:extLst xmlns:a="http://schemas.openxmlformats.org/drawingml/2006/main">
              <a:ext uri="{FF2B5EF4-FFF2-40B4-BE49-F238E27FC236}">
                <a16:creationId xmlns:a16="http://schemas.microsoft.com/office/drawing/2014/main" id="{F518BFFA-88EB-48DD-8F49-202D906A6590}"/>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8</a:t>
            </a:fld>
            <a:endParaRPr sz="1800" b="1"/>
          </a:p>
        </p:txBody>
      </p:sp>
      <p:graphicFrame>
        <p:nvGraphicFramePr>
          <p:cNvPr id="179" name="Chart">
            <a:extLst xmlns:a="http://schemas.openxmlformats.org/drawingml/2006/main">
              <a:ext uri="{FF2B5EF4-FFF2-40B4-BE49-F238E27FC236}">
                <a16:creationId xmlns:a16="http://schemas.microsoft.com/office/drawing/2014/main" id="{1D890B9C-BB3D-499B-972B-CC0A42DA3BCF}"/>
              </a:ext>
            </a:extLst>
          </p:cNvPr>
          <p:cNvGraphicFramePr/>
          <p:nvPr/>
        </p:nvGraphicFramePr>
        <p:xfrm>
          <a:off xmlns:a="http://schemas.openxmlformats.org/drawingml/2006/main" x="548640" y="1463040"/>
          <a:ext xmlns:a="http://schemas.openxmlformats.org/drawingml/2006/main" cx="6949440" cy="4526280"/>
        </p:xfrm>
        <a:graphic xmlns:a="http://schemas.openxmlformats.org/drawingml/2006/main">
          <a:graphicData uri="http://schemas.openxmlformats.org/drawingml/2006/chart">
            <c:chart xmlns:r="http://schemas.openxmlformats.org/officeDocument/2006/relationships" xmlns:c="http://schemas.openxmlformats.org/drawingml/2006/chart" r:id="R9a683c08db5c4fea"/>
          </a:graphicData>
        </a:graphic>
      </p:graphicFrame>
    </p:spTree>
    <p:extLst>
      <p:ext uri="{BB962C8B-B14F-4D97-AF65-F5344CB8AC3E}">
        <p14:creationId xmlns:p14="http://schemas.microsoft.com/office/powerpoint/2010/main" val="15910300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F0147D6-EDB2-4345-A02C-534249E53CDE}"/>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Findings</a:t>
            </a:r>
            <a:endParaRPr sz="3600"/>
          </a:p>
        </p:txBody>
      </p:sp>
      <p:sp>
        <p:nvSpPr>
          <p:cNvPr id="3" name="Stat icon circle 1">
            <a:extLst xmlns:a="http://schemas.openxmlformats.org/drawingml/2006/main">
              <a:ext uri="{FF2B5EF4-FFF2-40B4-BE49-F238E27FC236}">
                <a16:creationId xmlns:a16="http://schemas.microsoft.com/office/drawing/2014/main" id="{252C18BA-F0CC-41A8-8A43-5F87C457B90D}"/>
              </a:ext>
            </a:extLst>
          </p:cNvPr>
          <p:cNvSpPr>
            <a:spLocks xmlns:a="http://schemas.openxmlformats.org/drawingml/2006/main" noGrp="1"/>
          </p:cNvSpPr>
          <p:nvPr/>
        </p:nvSpPr>
        <p:spPr>
          <a:xfrm xmlns:a="http://schemas.openxmlformats.org/drawingml/2006/main">
            <a:off x="548640"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4" name="Stat icon 1">
            <a:extLst xmlns:a="http://schemas.openxmlformats.org/drawingml/2006/main">
              <a:ext uri="{FF2B5EF4-FFF2-40B4-BE49-F238E27FC236}">
                <a16:creationId xmlns:a16="http://schemas.microsoft.com/office/drawing/2014/main" id="{02ACE1DE-0801-4B57-B375-1AB5C7671B0A}"/>
              </a:ext>
            </a:extLst>
          </p:cNvPr>
          <p:cNvPicPr>
            <a:picLocks xmlns:a="http://schemas.openxmlformats.org/drawingml/2006/main" noChangeAspect="1"/>
          </p:cNvPicPr>
          <p:nvPr/>
        </p:nvPicPr>
        <p:blipFill>
          <a:blip xmlns:r="http://schemas.openxmlformats.org/officeDocument/2006/relationships" xmlns:a="http://schemas.openxmlformats.org/drawingml/2006/main" r:embed="R95880faf075b4211"/>
          <a:stretch xmlns:a="http://schemas.openxmlformats.org/drawingml/2006/main">
            <a:fillRect l="0" t="0" r="0" b="0"/>
          </a:stretch>
        </p:blipFill>
        <p:spPr>
          <a:xfrm xmlns:a="http://schemas.openxmlformats.org/drawingml/2006/main">
            <a:off x="713232" y="1856232"/>
            <a:ext cx="402336" cy="402336"/>
          </a:xfrm>
          <a:prstGeom xmlns:a="http://schemas.openxmlformats.org/drawingml/2006/main" prst="rect">
            <a:avLst/>
          </a:prstGeom>
        </p:spPr>
      </p:pic>
      <p:sp>
        <p:nvSpPr>
          <p:cNvPr id="5" name="Stat value 1">
            <a:extLst xmlns:a="http://schemas.openxmlformats.org/drawingml/2006/main">
              <a:ext uri="{FF2B5EF4-FFF2-40B4-BE49-F238E27FC236}">
                <a16:creationId xmlns:a16="http://schemas.microsoft.com/office/drawing/2014/main" id="{A2068432-07DC-4E1F-A5A7-4F9CB9088A1C}"/>
              </a:ext>
            </a:extLst>
          </p:cNvPr>
          <p:cNvSpPr>
            <a:spLocks xmlns:a="http://schemas.openxmlformats.org/drawingml/2006/main" noGrp="1"/>
          </p:cNvSpPr>
          <p:nvPr/>
        </p:nvSpPr>
        <p:spPr>
          <a:xfrm xmlns:a="http://schemas.openxmlformats.org/drawingml/2006/main">
            <a:off x="548640"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accent1"/>
                </a:solidFill>
                <a:latin typeface="Roboto"/>
                <a:ea typeface="Roboto"/>
                <a:cs typeface="Roboto"/>
              </a:rPr>
              <a:t>83–92%</a:t>
            </a:r>
            <a:endParaRPr sz="6000"/>
          </a:p>
        </p:txBody>
      </p:sp>
      <p:sp>
        <p:nvSpPr>
          <p:cNvPr id="6" name="Stat label 1">
            <a:extLst xmlns:a="http://schemas.openxmlformats.org/drawingml/2006/main">
              <a:ext uri="{FF2B5EF4-FFF2-40B4-BE49-F238E27FC236}">
                <a16:creationId xmlns:a16="http://schemas.microsoft.com/office/drawing/2014/main" id="{3EBC9310-5E96-4E33-A2BB-30FCAF7804B3}"/>
              </a:ext>
            </a:extLst>
          </p:cNvPr>
          <p:cNvSpPr>
            <a:spLocks xmlns:a="http://schemas.openxmlformats.org/drawingml/2006/main" noGrp="1"/>
          </p:cNvSpPr>
          <p:nvPr/>
        </p:nvSpPr>
        <p:spPr>
          <a:xfrm xmlns:a="http://schemas.openxmlformats.org/drawingml/2006/main">
            <a:off x="548640"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Relative precision loss</a:t>
            </a:r>
            <a:endParaRPr sz="2000"/>
          </a:p>
        </p:txBody>
      </p:sp>
      <p:sp>
        <p:nvSpPr>
          <p:cNvPr id="7" name="Stat note 1">
            <a:extLst xmlns:a="http://schemas.openxmlformats.org/drawingml/2006/main">
              <a:ext uri="{FF2B5EF4-FFF2-40B4-BE49-F238E27FC236}">
                <a16:creationId xmlns:a16="http://schemas.microsoft.com/office/drawing/2014/main" id="{0628C6D9-7DCF-4498-A522-A8E56667CF74}"/>
              </a:ext>
            </a:extLst>
          </p:cNvPr>
          <p:cNvSpPr>
            <a:spLocks xmlns:a="http://schemas.openxmlformats.org/drawingml/2006/main" noGrp="1"/>
          </p:cNvSpPr>
          <p:nvPr/>
        </p:nvSpPr>
        <p:spPr>
          <a:xfrm xmlns:a="http://schemas.openxmlformats.org/drawingml/2006/main">
            <a:off x="548640"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From 5% to 0.5% prevalence</a:t>
            </a:r>
            <a:endParaRPr sz="1500"/>
          </a:p>
        </p:txBody>
      </p:sp>
      <p:sp>
        <p:nvSpPr>
          <p:cNvPr id="8" name="Stat icon circle 2">
            <a:extLst xmlns:a="http://schemas.openxmlformats.org/drawingml/2006/main">
              <a:ext uri="{FF2B5EF4-FFF2-40B4-BE49-F238E27FC236}">
                <a16:creationId xmlns:a16="http://schemas.microsoft.com/office/drawing/2014/main" id="{D6E9E424-30A4-4AB8-8165-D630F6F6CBB0}"/>
              </a:ext>
            </a:extLst>
          </p:cNvPr>
          <p:cNvSpPr>
            <a:spLocks xmlns:a="http://schemas.openxmlformats.org/drawingml/2006/main" noGrp="1"/>
          </p:cNvSpPr>
          <p:nvPr/>
        </p:nvSpPr>
        <p:spPr>
          <a:xfrm xmlns:a="http://schemas.openxmlformats.org/drawingml/2006/main">
            <a:off x="4325112"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9" name="Stat icon 2">
            <a:extLst xmlns:a="http://schemas.openxmlformats.org/drawingml/2006/main">
              <a:ext uri="{FF2B5EF4-FFF2-40B4-BE49-F238E27FC236}">
                <a16:creationId xmlns:a16="http://schemas.microsoft.com/office/drawing/2014/main" id="{83479D89-6C94-497A-A76A-97B83DA31BB9}"/>
              </a:ext>
            </a:extLst>
          </p:cNvPr>
          <p:cNvPicPr>
            <a:picLocks xmlns:a="http://schemas.openxmlformats.org/drawingml/2006/main" noChangeAspect="1"/>
          </p:cNvPicPr>
          <p:nvPr/>
        </p:nvPicPr>
        <p:blipFill>
          <a:blip xmlns:r="http://schemas.openxmlformats.org/officeDocument/2006/relationships" xmlns:a="http://schemas.openxmlformats.org/drawingml/2006/main" r:embed="R63ecd257a7254150"/>
          <a:stretch xmlns:a="http://schemas.openxmlformats.org/drawingml/2006/main">
            <a:fillRect l="0" t="0" r="0" b="0"/>
          </a:stretch>
        </p:blipFill>
        <p:spPr>
          <a:xfrm xmlns:a="http://schemas.openxmlformats.org/drawingml/2006/main">
            <a:off x="4489704" y="1856232"/>
            <a:ext cx="402336" cy="402336"/>
          </a:xfrm>
          <a:prstGeom xmlns:a="http://schemas.openxmlformats.org/drawingml/2006/main" prst="rect">
            <a:avLst/>
          </a:prstGeom>
        </p:spPr>
      </p:pic>
      <p:sp>
        <p:nvSpPr>
          <p:cNvPr id="10" name="Stat value 2">
            <a:extLst xmlns:a="http://schemas.openxmlformats.org/drawingml/2006/main">
              <a:ext uri="{FF2B5EF4-FFF2-40B4-BE49-F238E27FC236}">
                <a16:creationId xmlns:a16="http://schemas.microsoft.com/office/drawing/2014/main" id="{3478098F-6291-4D30-8B32-CDA43909D5C9}"/>
              </a:ext>
            </a:extLst>
          </p:cNvPr>
          <p:cNvSpPr>
            <a:spLocks xmlns:a="http://schemas.openxmlformats.org/drawingml/2006/main" noGrp="1"/>
          </p:cNvSpPr>
          <p:nvPr/>
        </p:nvSpPr>
        <p:spPr>
          <a:xfrm xmlns:a="http://schemas.openxmlformats.org/drawingml/2006/main">
            <a:off x="4325112"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12/12</a:t>
            </a:r>
            <a:endParaRPr sz="6000"/>
          </a:p>
        </p:txBody>
      </p:sp>
      <p:sp>
        <p:nvSpPr>
          <p:cNvPr id="11" name="Stat label 2">
            <a:extLst xmlns:a="http://schemas.openxmlformats.org/drawingml/2006/main">
              <a:ext uri="{FF2B5EF4-FFF2-40B4-BE49-F238E27FC236}">
                <a16:creationId xmlns:a16="http://schemas.microsoft.com/office/drawing/2014/main" id="{5047EC85-5963-4DFF-8145-F1F9B625B14C}"/>
              </a:ext>
            </a:extLst>
          </p:cNvPr>
          <p:cNvSpPr>
            <a:spLocks xmlns:a="http://schemas.openxmlformats.org/drawingml/2006/main" noGrp="1"/>
          </p:cNvSpPr>
          <p:nvPr/>
        </p:nvSpPr>
        <p:spPr>
          <a:xfrm xmlns:a="http://schemas.openxmlformats.org/drawingml/2006/main">
            <a:off x="4325112"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Highest mean P@10</a:t>
            </a:r>
            <a:endParaRPr sz="2000"/>
          </a:p>
        </p:txBody>
      </p:sp>
      <p:sp>
        <p:nvSpPr>
          <p:cNvPr id="12" name="Stat note 2">
            <a:extLst xmlns:a="http://schemas.openxmlformats.org/drawingml/2006/main">
              <a:ext uri="{FF2B5EF4-FFF2-40B4-BE49-F238E27FC236}">
                <a16:creationId xmlns:a16="http://schemas.microsoft.com/office/drawing/2014/main" id="{F3279CFC-8ABE-4261-9CCD-8C81E54CB549}"/>
              </a:ext>
            </a:extLst>
          </p:cNvPr>
          <p:cNvSpPr>
            <a:spLocks xmlns:a="http://schemas.openxmlformats.org/drawingml/2006/main" noGrp="1"/>
          </p:cNvSpPr>
          <p:nvPr/>
        </p:nvSpPr>
        <p:spPr>
          <a:xfrm xmlns:a="http://schemas.openxmlformats.org/drawingml/2006/main">
            <a:off x="4325112"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SwAV-SupCon leads every condition</a:t>
            </a:r>
            <a:endParaRPr sz="1500"/>
          </a:p>
        </p:txBody>
      </p:sp>
      <p:sp>
        <p:nvSpPr>
          <p:cNvPr id="13" name="Stat icon circle 3">
            <a:extLst xmlns:a="http://schemas.openxmlformats.org/drawingml/2006/main">
              <a:ext uri="{FF2B5EF4-FFF2-40B4-BE49-F238E27FC236}">
                <a16:creationId xmlns:a16="http://schemas.microsoft.com/office/drawing/2014/main" id="{27A681BE-AEAE-4BBD-8394-C3177DBF297F}"/>
              </a:ext>
            </a:extLst>
          </p:cNvPr>
          <p:cNvSpPr>
            <a:spLocks xmlns:a="http://schemas.openxmlformats.org/drawingml/2006/main" noGrp="1"/>
          </p:cNvSpPr>
          <p:nvPr/>
        </p:nvSpPr>
        <p:spPr>
          <a:xfrm xmlns:a="http://schemas.openxmlformats.org/drawingml/2006/main">
            <a:off x="8101584" y="1691640"/>
            <a:ext cx="731520" cy="731520"/>
          </a:xfrm>
          <a:prstGeom xmlns:a="http://schemas.openxmlformats.org/drawingml/2006/main" prst="ellipse">
            <a:avLst/>
          </a:prstGeom>
          <a:solidFill xmlns:a="http://schemas.openxmlformats.org/drawingml/2006/main">
            <a:schemeClr val="accent1"/>
          </a:solidFill>
        </p:spPr>
        <p:txBody>
          <a:bodyPr xmlns:a="http://schemas.openxmlformats.org/drawingml/2006/main"/>
          <a:lstStyle xmlns:a="http://schemas.openxmlformats.org/drawingml/2006/main"/>
          <a:p xmlns:a="http://schemas.openxmlformats.org/drawingml/2006/main">
            <a:endParaRPr/>
          </a:p>
        </p:txBody>
      </p:sp>
      <p:pic>
        <p:nvPicPr>
          <p:cNvPr id="14" name="Stat icon 3">
            <a:extLst xmlns:a="http://schemas.openxmlformats.org/drawingml/2006/main">
              <a:ext uri="{FF2B5EF4-FFF2-40B4-BE49-F238E27FC236}">
                <a16:creationId xmlns:a16="http://schemas.microsoft.com/office/drawing/2014/main" id="{E52BF8B5-DB65-45F4-8979-3BE97C770447}"/>
              </a:ext>
            </a:extLst>
          </p:cNvPr>
          <p:cNvPicPr>
            <a:picLocks xmlns:a="http://schemas.openxmlformats.org/drawingml/2006/main" noChangeAspect="1"/>
          </p:cNvPicPr>
          <p:nvPr/>
        </p:nvPicPr>
        <p:blipFill>
          <a:blip xmlns:r="http://schemas.openxmlformats.org/officeDocument/2006/relationships" xmlns:a="http://schemas.openxmlformats.org/drawingml/2006/main" r:embed="Rd9e762497d054d91"/>
          <a:stretch xmlns:a="http://schemas.openxmlformats.org/drawingml/2006/main">
            <a:fillRect l="0" t="0" r="0" b="0"/>
          </a:stretch>
        </p:blipFill>
        <p:spPr>
          <a:xfrm xmlns:a="http://schemas.openxmlformats.org/drawingml/2006/main">
            <a:off x="8266176" y="1856232"/>
            <a:ext cx="402336" cy="402336"/>
          </a:xfrm>
          <a:prstGeom xmlns:a="http://schemas.openxmlformats.org/drawingml/2006/main" prst="rect">
            <a:avLst/>
          </a:prstGeom>
        </p:spPr>
      </p:pic>
      <p:sp>
        <p:nvSpPr>
          <p:cNvPr id="15" name="Stat value 3">
            <a:extLst xmlns:a="http://schemas.openxmlformats.org/drawingml/2006/main">
              <a:ext uri="{FF2B5EF4-FFF2-40B4-BE49-F238E27FC236}">
                <a16:creationId xmlns:a16="http://schemas.microsoft.com/office/drawing/2014/main" id="{E4D1B982-378F-4C9B-A6FA-734030E104B8}"/>
              </a:ext>
            </a:extLst>
          </p:cNvPr>
          <p:cNvSpPr>
            <a:spLocks xmlns:a="http://schemas.openxmlformats.org/drawingml/2006/main" noGrp="1"/>
          </p:cNvSpPr>
          <p:nvPr/>
        </p:nvSpPr>
        <p:spPr>
          <a:xfrm xmlns:a="http://schemas.openxmlformats.org/drawingml/2006/main">
            <a:off x="8101584" y="2651760"/>
            <a:ext cx="350215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chemeClr val="tx2"/>
                </a:solidFill>
                <a:latin typeface="Roboto"/>
                <a:ea typeface="Roboto"/>
                <a:cs typeface="Roboto"/>
              </a:rPr>
              <a:t>10/12</a:t>
            </a:r>
            <a:endParaRPr sz="6000"/>
          </a:p>
        </p:txBody>
      </p:sp>
      <p:sp>
        <p:nvSpPr>
          <p:cNvPr id="16" name="Stat label 3">
            <a:extLst xmlns:a="http://schemas.openxmlformats.org/drawingml/2006/main">
              <a:ext uri="{FF2B5EF4-FFF2-40B4-BE49-F238E27FC236}">
                <a16:creationId xmlns:a16="http://schemas.microsoft.com/office/drawing/2014/main" id="{64C2F501-976F-43D8-8BBA-1D8D442A631E}"/>
              </a:ext>
            </a:extLst>
          </p:cNvPr>
          <p:cNvSpPr>
            <a:spLocks xmlns:a="http://schemas.openxmlformats.org/drawingml/2006/main" noGrp="1"/>
          </p:cNvSpPr>
          <p:nvPr/>
        </p:nvSpPr>
        <p:spPr>
          <a:xfrm xmlns:a="http://schemas.openxmlformats.org/drawingml/2006/main">
            <a:off x="8101584" y="3931920"/>
            <a:ext cx="35021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chemeClr val="tx1"/>
                </a:solidFill>
              </a:rPr>
              <a:t>Above SwAV-CLS</a:t>
            </a:r>
            <a:endParaRPr sz="2000"/>
          </a:p>
        </p:txBody>
      </p:sp>
      <p:sp>
        <p:nvSpPr>
          <p:cNvPr id="17" name="Stat note 3">
            <a:extLst xmlns:a="http://schemas.openxmlformats.org/drawingml/2006/main">
              <a:ext uri="{FF2B5EF4-FFF2-40B4-BE49-F238E27FC236}">
                <a16:creationId xmlns:a16="http://schemas.microsoft.com/office/drawing/2014/main" id="{2C35B0ED-B2F8-414D-B082-2CE9D413EE8F}"/>
              </a:ext>
            </a:extLst>
          </p:cNvPr>
          <p:cNvSpPr>
            <a:spLocks xmlns:a="http://schemas.openxmlformats.org/drawingml/2006/main" noGrp="1"/>
          </p:cNvSpPr>
          <p:nvPr/>
        </p:nvSpPr>
        <p:spPr>
          <a:xfrm xmlns:a="http://schemas.openxmlformats.org/drawingml/2006/main">
            <a:off x="8101584" y="4434840"/>
            <a:ext cx="3291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accent5"/>
                </a:solidFill>
              </a:rPr>
              <a:t>Significant after global Holm correction</a:t>
            </a:r>
            <a:endParaRPr sz="1500"/>
          </a:p>
        </p:txBody>
      </p:sp>
      <p:sp>
        <p:nvSpPr>
          <p:cNvPr id="179" name="Slide Number">
            <a:extLst xmlns:a="http://schemas.openxmlformats.org/drawingml/2006/main">
              <a:ext uri="{FF2B5EF4-FFF2-40B4-BE49-F238E27FC236}">
                <a16:creationId xmlns:a16="http://schemas.microsoft.com/office/drawing/2014/main" id="{ED728DF8-F56B-4039-A3A1-2852785F0B7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9</a:t>
            </a:fld>
            <a:endParaRPr sz="1800" b="1"/>
          </a:p>
        </p:txBody>
      </p:sp>
    </p:spTree>
    <p:extLst>
      <p:ext uri="{BB962C8B-B14F-4D97-AF65-F5344CB8AC3E}">
        <p14:creationId xmlns:p14="http://schemas.microsoft.com/office/powerpoint/2010/main" val="6055456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FFAB7CCC-6260-416F-8CB3-7AF5ACC913EA}"/>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Conclusion and Future Work</a:t>
            </a:r>
            <a:endParaRPr sz="3600"/>
          </a:p>
        </p:txBody>
      </p:sp>
      <p:sp>
        <p:nvSpPr>
          <p:cNvPr id="3" name="Text 1">
            <a:extLst xmlns:a="http://schemas.openxmlformats.org/drawingml/2006/main">
              <a:ext uri="{FF2B5EF4-FFF2-40B4-BE49-F238E27FC236}">
                <a16:creationId xmlns:a16="http://schemas.microsoft.com/office/drawing/2014/main" id="{8BEDF7D4-1947-40F1-BE76-06180AF3C32A}"/>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2000" b="1">
                <a:solidFill>
                  <a:schemeClr val="tx2"/>
                </a:solidFill>
              </a:rPr>
              <a:t>Conclusion</a:t>
            </a:r>
            <a:endParaRPr sz="2000"/>
          </a:p>
          <a:p xmlns:a="http://schemas.openxmlformats.org/drawingml/2006/main">
            <a:pPr marL="342900" indent="-342900">
              <a:spcAft>
                <a:spcPts val="1000"/>
              </a:spcAft>
              <a:buClr>
                <a:schemeClr val="accent1"/>
              </a:buClr>
              <a:buSzPct val="100000"/>
              <a:buChar char="•"/>
            </a:pPr>
            <a:r>
              <a:rPr sz="2000">
                <a:solidFill>
                  <a:schemeClr val="tx1"/>
                </a:solidFill>
              </a:rPr>
              <a:t>Lower prevalence reduces retrieval quality across every evaluated model.</a:t>
            </a:r>
            <a:endParaRPr sz="2000"/>
          </a:p>
          <a:p xmlns:a="http://schemas.openxmlformats.org/drawingml/2006/main">
            <a:pPr marL="342900" indent="-342900">
              <a:spcAft>
                <a:spcPts val="1000"/>
              </a:spcAft>
              <a:buClr>
                <a:schemeClr val="accent1"/>
              </a:buClr>
              <a:buSzPct val="100000"/>
              <a:buChar char="•"/>
            </a:pPr>
            <a:r>
              <a:rPr sz="2000">
                <a:solidFill>
                  <a:schemeClr val="tx1"/>
                </a:solidFill>
              </a:rPr>
              <a:t>One training run and source confounding limit the SupCon finding.</a:t>
            </a:r>
            <a:endParaRPr sz="2000"/>
          </a:p>
          <a:p xmlns:a="http://schemas.openxmlformats.org/drawingml/2006/main">
            <a:pPr marL="0" indent="0">
              <a:spcAft>
                <a:spcPts val="1000"/>
              </a:spcAft>
              <a:buNone/>
            </a:pPr>
            <a:r>
              <a:rPr sz="2000" b="1">
                <a:solidFill>
                  <a:schemeClr val="tx2"/>
                </a:solidFill>
              </a:rPr>
              <a:t>Future work</a:t>
            </a:r>
            <a:endParaRPr sz="2000"/>
          </a:p>
          <a:p xmlns:a="http://schemas.openxmlformats.org/drawingml/2006/main">
            <a:pPr marL="342900" indent="-342900">
              <a:spcAft>
                <a:spcPts val="1000"/>
              </a:spcAft>
              <a:buClr>
                <a:schemeClr val="accent1"/>
              </a:buClr>
              <a:buSzPct val="100000"/>
              <a:buChar char="•"/>
            </a:pPr>
            <a:r>
              <a:rPr sz="2000">
                <a:solidFill>
                  <a:schemeClr val="tx1"/>
                </a:solidFill>
              </a:rPr>
              <a:t>Repeat training and strengthen controls across dataset sources.</a:t>
            </a:r>
            <a:endParaRPr sz="2000"/>
          </a:p>
          <a:p xmlns:a="http://schemas.openxmlformats.org/drawingml/2006/main">
            <a:pPr marL="342900" indent="-342900">
              <a:spcAft>
                <a:spcPts val="1000"/>
              </a:spcAft>
              <a:buClr>
                <a:schemeClr val="accent1"/>
              </a:buClr>
              <a:buSzPct val="100000"/>
              <a:buChar char="•"/>
            </a:pPr>
            <a:r>
              <a:rPr sz="2000">
                <a:solidFill>
                  <a:schemeClr val="tx1"/>
                </a:solidFill>
              </a:rPr>
              <a:t>Test lower target counts and obtain clinician-assessed relevance.</a:t>
            </a:r>
            <a:endParaRPr sz="2000"/>
          </a:p>
        </p:txBody>
      </p:sp>
      <p:sp>
        <p:nvSpPr>
          <p:cNvPr id="180" name="Slide Number">
            <a:extLst xmlns:a="http://schemas.openxmlformats.org/drawingml/2006/main">
              <a:ext uri="{FF2B5EF4-FFF2-40B4-BE49-F238E27FC236}">
                <a16:creationId xmlns:a16="http://schemas.microsoft.com/office/drawing/2014/main" id="{8C226E7F-2B33-4DCB-8542-DEE17D02DC83}"/>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10</a:t>
            </a:fld>
            <a:endParaRPr sz="1800" b="1"/>
          </a:p>
        </p:txBody>
      </p:sp>
    </p:spTree>
    <p:extLst>
      <p:ext uri="{BB962C8B-B14F-4D97-AF65-F5344CB8AC3E}">
        <p14:creationId xmlns:p14="http://schemas.microsoft.com/office/powerpoint/2010/main" val="138877575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B53164A1-DF6E-46B9-837D-79AA8FDB299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0">
                <a:solidFill>
                  <a:schemeClr val="bg1"/>
                </a:solidFill>
                <a:latin typeface="Roboto"/>
                <a:ea typeface="Roboto"/>
                <a:cs typeface="Roboto"/>
              </a:rPr>
              <a:t>Key References</a:t>
            </a:r>
            <a:endParaRPr sz="3600"/>
          </a:p>
        </p:txBody>
      </p:sp>
      <p:sp>
        <p:nvSpPr>
          <p:cNvPr id="3" name="Text 1">
            <a:extLst xmlns:a="http://schemas.openxmlformats.org/drawingml/2006/main">
              <a:ext uri="{FF2B5EF4-FFF2-40B4-BE49-F238E27FC236}">
                <a16:creationId xmlns:a16="http://schemas.microsoft.com/office/drawing/2014/main" id="{9ACA0A87-F92E-43AD-8933-437A1A22801E}"/>
              </a:ext>
            </a:extLst>
          </p:cNvPr>
          <p:cNvSpPr>
            <a:spLocks xmlns:a="http://schemas.openxmlformats.org/drawingml/2006/main" noGrp="1"/>
          </p:cNvSpPr>
          <p:nvPr>
            <p:ph type="body" idx="105" hasCustomPrompt="1"/>
          </p:nvPr>
        </p:nvSpPr>
        <p:spPr>
          <a:xfrm xmlns:a="http://schemas.openxmlformats.org/drawingml/2006/main">
            <a:off x="548640" y="1417320"/>
            <a:ext cx="11091672" cy="457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1000"/>
              </a:spcAft>
              <a:buNone/>
            </a:pPr>
            <a:r>
              <a:rPr sz="1500">
                <a:solidFill>
                  <a:schemeClr val="tx1"/>
                </a:solidFill>
              </a:rPr>
              <a:t>[1] S. Denner et al., “Leveraging foundation models for content-based image retrieval in radiology,” Computers in Biology and Medicine, vol. 196, art. 110640, 2025. doi: 10.1016/j.compbiomed.2025.110640.</a:t>
            </a:r>
            <a:endParaRPr sz="2000"/>
          </a:p>
          <a:p xmlns:a="http://schemas.openxmlformats.org/drawingml/2006/main">
            <a:pPr marL="0" indent="0">
              <a:spcAft>
                <a:spcPts val="1000"/>
              </a:spcAft>
              <a:buNone/>
            </a:pPr>
            <a:r>
              <a:rPr sz="1500">
                <a:solidFill>
                  <a:schemeClr val="tx1"/>
                </a:solidFill>
              </a:rP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endParaRPr sz="2000"/>
          </a:p>
          <a:p xmlns:a="http://schemas.openxmlformats.org/drawingml/2006/main">
            <a:pPr marL="0" indent="0">
              <a:spcAft>
                <a:spcPts val="1000"/>
              </a:spcAft>
              <a:buNone/>
            </a:pPr>
            <a:r>
              <a:rPr sz="1500">
                <a:solidFill>
                  <a:schemeClr val="tx1"/>
                </a:solidFill>
              </a:rPr>
              <a:t>[12] P. Khosla et al., “Supervised contrastive learning,” in Advances in Neural Information Processing Systems, vol. 33, 2020, pp. 18661–18673.</a:t>
            </a:r>
            <a:endParaRPr sz="2000"/>
          </a:p>
        </p:txBody>
      </p:sp>
      <p:sp>
        <p:nvSpPr>
          <p:cNvPr id="181" name="Slide Number">
            <a:extLst xmlns:a="http://schemas.openxmlformats.org/drawingml/2006/main">
              <a:ext uri="{FF2B5EF4-FFF2-40B4-BE49-F238E27FC236}">
                <a16:creationId xmlns:a16="http://schemas.microsoft.com/office/drawing/2014/main" id="{B9A24ADB-823A-4F70-94A3-26CA18C9D2C4}"/>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11</a:t>
            </a:fld>
            <a:endParaRPr sz="1800" b="1"/>
          </a:p>
        </p:txBody>
      </p:sp>
    </p:spTree>
    <p:extLst>
      <p:ext uri="{BB962C8B-B14F-4D97-AF65-F5344CB8AC3E}">
        <p14:creationId xmlns:p14="http://schemas.microsoft.com/office/powerpoint/2010/main" val="18882096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B7935C9F-0137-49E4-8167-5D086F2EA8A8}"/>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169C12B9-79E7-44CC-B62B-B1AB8D88351C}"/>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2899EE5A-5816-4F7D-88D0-943C4BC11EBB}"/>
              </a:ext>
            </a:extLst>
          </p:cNvPr>
          <p:cNvSpPr>
            <a:spLocks xmlns:a="http://schemas.openxmlformats.org/drawingml/2006/main" noGrp="1"/>
          </p:cNvSpPr>
          <p:nvPr>
            <p:ph type="body" idx="111"/>
          </p:nvPr>
        </p:nvSpPr>
        <p:spPr/>
        <p:txBody>
          <a:bodyPr xmlns:a="http://schemas.openxmlformats.org/drawingml/2006/main"/>
          <a:lstStyle xmlns:a="http://schemas.openxmlformats.org/drawingml/2006/main"/>
          <a:p xmlns:a="http://schemas.openxmlformats.org/drawingml/2006/main">
            <a:r>
              <a:t>Ofei Obuobisah Bekoe  ·  ce-pobekoe1423@st.umat.edu.gh</a:t>
            </a:r>
          </a:p>
          <a:p xmlns:a="http://schemas.openxmlformats.org/drawingml/2006/main">
            <a:r>
              <a:t>University of Mines and Technology, Tarkwa, Ghana</a:t>
            </a:r>
          </a:p>
        </p:txBody>
      </p:sp>
      <p:sp>
        <p:nvSpPr>
          <p:cNvPr id="173" name="Slide Number">
            <a:extLst xmlns:a="http://schemas.openxmlformats.org/drawingml/2006/main">
              <a:ext uri="{FF2B5EF4-FFF2-40B4-BE49-F238E27FC236}">
                <a16:creationId xmlns:a16="http://schemas.microsoft.com/office/drawing/2014/main" id="{EFBDD34D-95D6-4486-81FA-41AA864A2A31}"/>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12</a:t>
            </a:fld>
            <a:endParaRPr sz="1800" b="1"/>
          </a:p>
        </p:txBody>
      </p:sp>
    </p:spTree>
    <p:extLst>
      <p:ext uri="{BB962C8B-B14F-4D97-AF65-F5344CB8AC3E}">
        <p14:creationId xmlns:p14="http://schemas.microsoft.com/office/powerpoint/2010/main" val="234827359"/>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2026-10-18T16:09:32.2590000Z</dcterms:created>
  <dcterms:modified xsi:type="dcterms:W3CDTF">2026-10-18T16:09:32.2590000Z</dcterms:modified>
</coreProperties>
</file>