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8.svg" ContentType="image/svg+xml"/>
  <Override PartName="/ppt/media/image19.svg" ContentType="image/svg+xml"/>
  <Override PartName="/ppt/media/image20.svg" ContentType="image/svg+xml"/>
  <Override PartName="/ppt/media/image26.svg" ContentType="image/svg+xml"/>
  <Override PartName="/ppt/media/image2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22"/>
  </p:notesMasterIdLst>
  <p:sldIdLst>
    <p:sldId id="1926" r:id="rId2"/>
    <p:sldId id="266" r:id="rId3"/>
    <p:sldId id="272" r:id="rId4"/>
    <p:sldId id="1918" r:id="rId5"/>
    <p:sldId id="258" r:id="rId6"/>
    <p:sldId id="264" r:id="rId7"/>
    <p:sldId id="1930" r:id="rId8"/>
    <p:sldId id="269" r:id="rId9"/>
    <p:sldId id="1931" r:id="rId10"/>
    <p:sldId id="265" r:id="rId11"/>
    <p:sldId id="1933" r:id="rId12"/>
    <p:sldId id="268" r:id="rId13"/>
    <p:sldId id="1934" r:id="rId14"/>
    <p:sldId id="1929" r:id="rId15"/>
    <p:sldId id="1937" r:id="rId16"/>
    <p:sldId id="261" r:id="rId17"/>
    <p:sldId id="1922" r:id="rId18"/>
    <p:sldId id="1925" r:id="rId19"/>
    <p:sldId id="1936" r:id="rId20"/>
    <p:sldId id="270" r:id="rId2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 Slide" id="{FA335444-67FB-41B4-8E1D-35347355C736}">
          <p14:sldIdLst>
            <p14:sldId id="1926"/>
            <p14:sldId id="266"/>
            <p14:sldId id="272"/>
          </p14:sldIdLst>
        </p14:section>
        <p14:section name="Problem &amp; Solution" id="{0799E06C-2761-46C6-BC4C-84FB2789A2B0}">
          <p14:sldIdLst>
            <p14:sldId id="1918"/>
            <p14:sldId id="258"/>
            <p14:sldId id="264"/>
          </p14:sldIdLst>
        </p14:section>
        <p14:section name="Prototype &amp; Features" id="{787E3F93-C419-4586-9D8D-BC80EC6BB9BA}">
          <p14:sldIdLst>
            <p14:sldId id="1930"/>
            <p14:sldId id="269"/>
            <p14:sldId id="1931"/>
          </p14:sldIdLst>
        </p14:section>
        <p14:section name="Progress &amp; Impact" id="{4BAAC92E-B82A-4FF1-991F-578FB685C21C}">
          <p14:sldIdLst>
            <p14:sldId id="265"/>
            <p14:sldId id="1933"/>
            <p14:sldId id="268"/>
            <p14:sldId id="1934"/>
            <p14:sldId id="1929"/>
            <p14:sldId id="1937"/>
            <p14:sldId id="261"/>
            <p14:sldId id="1922"/>
            <p14:sldId id="1925"/>
            <p14:sldId id="1936"/>
          </p14:sldIdLst>
        </p14:section>
        <p14:section name="Thank You" id="{01E6BE6A-27FE-481D-9962-0C0B34B5E3F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7145"/>
    <a:srgbClr val="0070C0"/>
    <a:srgbClr val="338DCD"/>
    <a:srgbClr val="F8FDFE"/>
    <a:srgbClr val="069651"/>
    <a:srgbClr val="0A97D9"/>
    <a:srgbClr val="F9F8FD"/>
    <a:srgbClr val="F05253"/>
    <a:srgbClr val="FAD4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8" autoAdjust="0"/>
    <p:restoredTop sz="94660"/>
  </p:normalViewPr>
  <p:slideViewPr>
    <p:cSldViewPr snapToGrid="0">
      <p:cViewPr>
        <p:scale>
          <a:sx n="42" d="100"/>
          <a:sy n="42" d="100"/>
        </p:scale>
        <p:origin x="80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34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F2455-3A40-436A-82FD-D2BFA7915F0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3FB67-1004-45C1-B54E-AA5960D3F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4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8e4ee22b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88e4ee22b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56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4066C4E-5381-1447-E809-614B7BDDA4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98761" y="1039508"/>
            <a:ext cx="3793598" cy="8207985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1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942427A-8014-8190-E46F-05ACD6AD36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20700000">
            <a:off x="2298646" y="2724209"/>
            <a:ext cx="2703047" cy="5848425"/>
          </a:xfrm>
          <a:prstGeom prst="roundRect">
            <a:avLst>
              <a:gd name="adj" fmla="val 12028"/>
            </a:avLst>
          </a:pr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6752CB8-187E-285E-C056-85796968EE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02825" y="1464205"/>
            <a:ext cx="3400982" cy="7358504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2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264E52-3473-85D0-2DAF-BBD416D82B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989962" y="1273451"/>
            <a:ext cx="3577348" cy="7740095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E8DDFC-832B-51EF-1B40-318491CE70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3082" y="1778366"/>
            <a:ext cx="3110620" cy="6730265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5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DA384-FEC7-6647-C257-24467F6C31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50771" y="1224739"/>
            <a:ext cx="4606353" cy="9966491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4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5DE0C-0817-CCE1-8141-E7542CE926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296805" y="573027"/>
            <a:ext cx="4224800" cy="9140948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0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1D53125-A7D0-240B-CDC5-EF80227DCD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11255" y="1649785"/>
            <a:ext cx="3396052" cy="7347836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6ABCDC6-AE75-CADE-C714-F21318E901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35972" y="3511133"/>
            <a:ext cx="2553378" cy="5524592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6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E7017BA-A369-56CA-AAFF-AEEA9D6EF7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700000">
            <a:off x="13636278" y="67772"/>
            <a:ext cx="2862863" cy="6194207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2AAA4E1-7E63-08BA-000B-0A5586E432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20700000">
            <a:off x="10833918" y="4025019"/>
            <a:ext cx="2862863" cy="6194207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1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F30A29-4A65-A3F0-6D6F-38AD36095B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10079" y="2141501"/>
            <a:ext cx="5007402" cy="10834217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FF8863B-92A6-9F8A-AE64-333CD0A6BF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18533" y="4877650"/>
            <a:ext cx="3334322" cy="7214270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97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98723A2-4E83-9F06-CEF3-F9177818A0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02238" y="2446156"/>
            <a:ext cx="4909070" cy="5668500"/>
          </a:xfrm>
          <a:custGeom>
            <a:avLst/>
            <a:gdLst>
              <a:gd name="connsiteX0" fmla="*/ 2454535 w 4909070"/>
              <a:gd name="connsiteY0" fmla="*/ 0 h 5668500"/>
              <a:gd name="connsiteX1" fmla="*/ 4909070 w 4909070"/>
              <a:gd name="connsiteY1" fmla="*/ 1417125 h 5668500"/>
              <a:gd name="connsiteX2" fmla="*/ 4909070 w 4909070"/>
              <a:gd name="connsiteY2" fmla="*/ 4251375 h 5668500"/>
              <a:gd name="connsiteX3" fmla="*/ 2454535 w 4909070"/>
              <a:gd name="connsiteY3" fmla="*/ 5668500 h 5668500"/>
              <a:gd name="connsiteX4" fmla="*/ 0 w 4909070"/>
              <a:gd name="connsiteY4" fmla="*/ 4251375 h 5668500"/>
              <a:gd name="connsiteX5" fmla="*/ 0 w 4909070"/>
              <a:gd name="connsiteY5" fmla="*/ 1417125 h 56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9070" h="5668500">
                <a:moveTo>
                  <a:pt x="2454535" y="0"/>
                </a:moveTo>
                <a:lnTo>
                  <a:pt x="4909070" y="1417125"/>
                </a:lnTo>
                <a:lnTo>
                  <a:pt x="4909070" y="4251375"/>
                </a:lnTo>
                <a:lnTo>
                  <a:pt x="2454535" y="5668500"/>
                </a:lnTo>
                <a:lnTo>
                  <a:pt x="0" y="4251375"/>
                </a:lnTo>
                <a:lnTo>
                  <a:pt x="0" y="14171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01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5189397-0361-9699-3C99-2FDF9B3C07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476701" y="3124864"/>
            <a:ext cx="3608772" cy="3694977"/>
          </a:xfrm>
          <a:prstGeom prst="roundRect">
            <a:avLst>
              <a:gd name="adj" fmla="val 11438"/>
            </a:avLst>
          </a:pr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4648500-F699-9DF9-2386-DC40895DFD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1178" y="3124864"/>
            <a:ext cx="3608772" cy="3694977"/>
          </a:xfrm>
          <a:prstGeom prst="roundRect">
            <a:avLst>
              <a:gd name="adj" fmla="val 11438"/>
            </a:avLst>
          </a:pr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86A3CB6-CABB-6E3A-783A-5D8A750422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02527" y="3124864"/>
            <a:ext cx="3608772" cy="3694977"/>
          </a:xfrm>
          <a:prstGeom prst="roundRect">
            <a:avLst>
              <a:gd name="adj" fmla="val 11438"/>
            </a:avLst>
          </a:pr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7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4A83B2E-2A38-E289-2308-552CE828D0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29218" y="7644963"/>
            <a:ext cx="914400" cy="914400"/>
          </a:xfrm>
          <a:custGeom>
            <a:avLst/>
            <a:gdLst>
              <a:gd name="connsiteX0" fmla="*/ 457200 w 914400"/>
              <a:gd name="connsiteY0" fmla="*/ 0 h 914400"/>
              <a:gd name="connsiteX1" fmla="*/ 914400 w 914400"/>
              <a:gd name="connsiteY1" fmla="*/ 457200 h 914400"/>
              <a:gd name="connsiteX2" fmla="*/ 457200 w 914400"/>
              <a:gd name="connsiteY2" fmla="*/ 914400 h 914400"/>
              <a:gd name="connsiteX3" fmla="*/ 0 w 914400"/>
              <a:gd name="connsiteY3" fmla="*/ 457200 h 914400"/>
              <a:gd name="connsiteX4" fmla="*/ 457200 w 914400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1440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8429387-EEF4-6365-6911-60ACFC4D98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10868" y="7644963"/>
            <a:ext cx="914400" cy="914400"/>
          </a:xfrm>
          <a:custGeom>
            <a:avLst/>
            <a:gdLst>
              <a:gd name="connsiteX0" fmla="*/ 457200 w 914400"/>
              <a:gd name="connsiteY0" fmla="*/ 0 h 914400"/>
              <a:gd name="connsiteX1" fmla="*/ 914400 w 914400"/>
              <a:gd name="connsiteY1" fmla="*/ 457200 h 914400"/>
              <a:gd name="connsiteX2" fmla="*/ 457200 w 914400"/>
              <a:gd name="connsiteY2" fmla="*/ 914400 h 914400"/>
              <a:gd name="connsiteX3" fmla="*/ 0 w 914400"/>
              <a:gd name="connsiteY3" fmla="*/ 457200 h 914400"/>
              <a:gd name="connsiteX4" fmla="*/ 457200 w 914400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1440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A3DB591-02A2-F230-3A57-C61DEA016D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592518" y="7644963"/>
            <a:ext cx="914400" cy="914400"/>
          </a:xfrm>
          <a:custGeom>
            <a:avLst/>
            <a:gdLst>
              <a:gd name="connsiteX0" fmla="*/ 457200 w 914400"/>
              <a:gd name="connsiteY0" fmla="*/ 0 h 914400"/>
              <a:gd name="connsiteX1" fmla="*/ 914400 w 914400"/>
              <a:gd name="connsiteY1" fmla="*/ 457200 h 914400"/>
              <a:gd name="connsiteX2" fmla="*/ 457200 w 914400"/>
              <a:gd name="connsiteY2" fmla="*/ 914400 h 914400"/>
              <a:gd name="connsiteX3" fmla="*/ 0 w 914400"/>
              <a:gd name="connsiteY3" fmla="*/ 457200 h 914400"/>
              <a:gd name="connsiteX4" fmla="*/ 457200 w 914400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1440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5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450F52-4254-49A1-888E-2E6755074B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92444" y="1715948"/>
            <a:ext cx="2029839" cy="2029839"/>
          </a:xfrm>
          <a:custGeom>
            <a:avLst/>
            <a:gdLst>
              <a:gd name="connsiteX0" fmla="*/ 457200 w 914400"/>
              <a:gd name="connsiteY0" fmla="*/ 0 h 914400"/>
              <a:gd name="connsiteX1" fmla="*/ 914400 w 914400"/>
              <a:gd name="connsiteY1" fmla="*/ 457200 h 914400"/>
              <a:gd name="connsiteX2" fmla="*/ 457200 w 914400"/>
              <a:gd name="connsiteY2" fmla="*/ 914400 h 914400"/>
              <a:gd name="connsiteX3" fmla="*/ 0 w 914400"/>
              <a:gd name="connsiteY3" fmla="*/ 457200 h 914400"/>
              <a:gd name="connsiteX4" fmla="*/ 457200 w 914400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1440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5FD634E-CF4C-9366-DAE0-B6070BA5D9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64447" y="1715948"/>
            <a:ext cx="2029839" cy="2029839"/>
          </a:xfrm>
          <a:custGeom>
            <a:avLst/>
            <a:gdLst>
              <a:gd name="connsiteX0" fmla="*/ 457200 w 914400"/>
              <a:gd name="connsiteY0" fmla="*/ 0 h 914400"/>
              <a:gd name="connsiteX1" fmla="*/ 914400 w 914400"/>
              <a:gd name="connsiteY1" fmla="*/ 457200 h 914400"/>
              <a:gd name="connsiteX2" fmla="*/ 457200 w 914400"/>
              <a:gd name="connsiteY2" fmla="*/ 914400 h 914400"/>
              <a:gd name="connsiteX3" fmla="*/ 0 w 914400"/>
              <a:gd name="connsiteY3" fmla="*/ 457200 h 914400"/>
              <a:gd name="connsiteX4" fmla="*/ 457200 w 914400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1440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82857FC-2D37-0D7E-A2BA-3108DF5023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92444" y="5534820"/>
            <a:ext cx="2029839" cy="2029839"/>
          </a:xfrm>
          <a:custGeom>
            <a:avLst/>
            <a:gdLst>
              <a:gd name="connsiteX0" fmla="*/ 457200 w 914400"/>
              <a:gd name="connsiteY0" fmla="*/ 0 h 914400"/>
              <a:gd name="connsiteX1" fmla="*/ 914400 w 914400"/>
              <a:gd name="connsiteY1" fmla="*/ 457200 h 914400"/>
              <a:gd name="connsiteX2" fmla="*/ 457200 w 914400"/>
              <a:gd name="connsiteY2" fmla="*/ 914400 h 914400"/>
              <a:gd name="connsiteX3" fmla="*/ 0 w 914400"/>
              <a:gd name="connsiteY3" fmla="*/ 457200 h 914400"/>
              <a:gd name="connsiteX4" fmla="*/ 457200 w 914400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1440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01259F8-67AB-2EA4-9958-08CF5DCBCAC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64447" y="5534820"/>
            <a:ext cx="2029839" cy="2029839"/>
          </a:xfrm>
          <a:custGeom>
            <a:avLst/>
            <a:gdLst>
              <a:gd name="connsiteX0" fmla="*/ 457200 w 914400"/>
              <a:gd name="connsiteY0" fmla="*/ 0 h 914400"/>
              <a:gd name="connsiteX1" fmla="*/ 914400 w 914400"/>
              <a:gd name="connsiteY1" fmla="*/ 457200 h 914400"/>
              <a:gd name="connsiteX2" fmla="*/ 457200 w 914400"/>
              <a:gd name="connsiteY2" fmla="*/ 914400 h 914400"/>
              <a:gd name="connsiteX3" fmla="*/ 0 w 914400"/>
              <a:gd name="connsiteY3" fmla="*/ 457200 h 914400"/>
              <a:gd name="connsiteX4" fmla="*/ 457200 w 914400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14400">
                <a:moveTo>
                  <a:pt x="457200" y="0"/>
                </a:moveTo>
                <a:cubicBezTo>
                  <a:pt x="709705" y="0"/>
                  <a:pt x="914400" y="204695"/>
                  <a:pt x="914400" y="457200"/>
                </a:cubicBezTo>
                <a:cubicBezTo>
                  <a:pt x="914400" y="709705"/>
                  <a:pt x="709705" y="914400"/>
                  <a:pt x="457200" y="914400"/>
                </a:cubicBezTo>
                <a:cubicBezTo>
                  <a:pt x="204695" y="914400"/>
                  <a:pt x="0" y="709705"/>
                  <a:pt x="0" y="457200"/>
                </a:cubicBez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31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D30059E-69FD-A76B-DFAB-04CE0443749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86099" y="1696830"/>
            <a:ext cx="5007402" cy="10834217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81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5BC712C-9138-3577-831F-B1018D5FD0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83539" y="1320541"/>
            <a:ext cx="3533820" cy="7645916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90D0DA84-D3F9-7DB5-D58E-3CF74AD813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3795" y="1710512"/>
            <a:ext cx="3173342" cy="6865975"/>
          </a:xfrm>
          <a:prstGeom prst="roundRect">
            <a:avLst>
              <a:gd name="adj" fmla="val 12028"/>
            </a:avLst>
          </a:pr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03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658676C-CB33-E73A-41B0-E193017A65C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888935" y="1276882"/>
            <a:ext cx="3574178" cy="7733236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B78D3CA-8953-3531-671E-ECACDA45DD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86499" y="2162688"/>
            <a:ext cx="2755366" cy="5961621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6CC314C-3861-9368-F632-E29709AC96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10181" y="2162688"/>
            <a:ext cx="2755366" cy="5961621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13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052B20-8E22-5C0E-79D8-F22D94096F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900000">
            <a:off x="5077397" y="1168401"/>
            <a:ext cx="3574178" cy="7733236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E5A1AD0-FBF2-6312-9013-4547117E3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20700000">
            <a:off x="2466404" y="2378708"/>
            <a:ext cx="3147117" cy="6809230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22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57DA91-75EA-603A-14F9-5B87345AE0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83217" y="1007642"/>
            <a:ext cx="3820404" cy="8265981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09DA5E31-77EC-8CF4-A9A1-5B506FAD5A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707155" y="2567291"/>
            <a:ext cx="3099559" cy="6706332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66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D150D93-D7F1-C83A-93BE-30E1F9FD5C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64538" y="2063116"/>
            <a:ext cx="2886256" cy="6244821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5F742BD-3DB1-6C4C-BEE8-3EDCA2E242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61514" y="2438456"/>
            <a:ext cx="2539303" cy="5494140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41500E4-5C0E-D863-C51A-629E62C485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15143" y="2941204"/>
            <a:ext cx="2074577" cy="4488640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5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EE9D064-1330-3059-D6D0-C2413F6A41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84836" y="1070366"/>
            <a:ext cx="3765074" cy="8146267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BBDA925-6BB8-E278-FBFC-CB8781236F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785854" y="1070366"/>
            <a:ext cx="3765072" cy="8146267"/>
          </a:xfrm>
          <a:prstGeom prst="roundRect">
            <a:avLst>
              <a:gd name="adj" fmla="val 12028"/>
            </a:avLst>
          </a:pr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19F1BDE-6945-9487-BE1F-2935FA95C9D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7286870" y="1070366"/>
            <a:ext cx="3765072" cy="8146267"/>
          </a:xfrm>
          <a:prstGeom prst="roundRect">
            <a:avLst>
              <a:gd name="adj" fmla="val 12028"/>
            </a:avLst>
          </a:pr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307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C9F8C4-7B70-6DC7-F06C-B0EB7F9744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45336" y="2732972"/>
            <a:ext cx="7546843" cy="4810816"/>
          </a:xfrm>
          <a:custGeom>
            <a:avLst/>
            <a:gdLst>
              <a:gd name="connsiteX0" fmla="*/ 97034 w 7546843"/>
              <a:gd name="connsiteY0" fmla="*/ 0 h 4810816"/>
              <a:gd name="connsiteX1" fmla="*/ 7449809 w 7546843"/>
              <a:gd name="connsiteY1" fmla="*/ 0 h 4810816"/>
              <a:gd name="connsiteX2" fmla="*/ 7546843 w 7546843"/>
              <a:gd name="connsiteY2" fmla="*/ 97033 h 4810816"/>
              <a:gd name="connsiteX3" fmla="*/ 7546843 w 7546843"/>
              <a:gd name="connsiteY3" fmla="*/ 4713782 h 4810816"/>
              <a:gd name="connsiteX4" fmla="*/ 7449809 w 7546843"/>
              <a:gd name="connsiteY4" fmla="*/ 4810816 h 4810816"/>
              <a:gd name="connsiteX5" fmla="*/ 97034 w 7546843"/>
              <a:gd name="connsiteY5" fmla="*/ 4810816 h 4810816"/>
              <a:gd name="connsiteX6" fmla="*/ 0 w 7546843"/>
              <a:gd name="connsiteY6" fmla="*/ 4713782 h 4810816"/>
              <a:gd name="connsiteX7" fmla="*/ 0 w 7546843"/>
              <a:gd name="connsiteY7" fmla="*/ 97033 h 4810816"/>
              <a:gd name="connsiteX8" fmla="*/ 97034 w 7546843"/>
              <a:gd name="connsiteY8" fmla="*/ 0 h 4810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46843" h="4810816">
                <a:moveTo>
                  <a:pt x="97034" y="0"/>
                </a:moveTo>
                <a:lnTo>
                  <a:pt x="7449809" y="0"/>
                </a:lnTo>
                <a:cubicBezTo>
                  <a:pt x="7503399" y="0"/>
                  <a:pt x="7546843" y="43443"/>
                  <a:pt x="7546843" y="97033"/>
                </a:cubicBezTo>
                <a:lnTo>
                  <a:pt x="7546843" y="4713782"/>
                </a:lnTo>
                <a:cubicBezTo>
                  <a:pt x="7546843" y="4767372"/>
                  <a:pt x="7503399" y="4810816"/>
                  <a:pt x="7449809" y="4810816"/>
                </a:cubicBezTo>
                <a:lnTo>
                  <a:pt x="97034" y="4810816"/>
                </a:lnTo>
                <a:cubicBezTo>
                  <a:pt x="43444" y="4810816"/>
                  <a:pt x="0" y="4767372"/>
                  <a:pt x="0" y="4713782"/>
                </a:cubicBezTo>
                <a:lnTo>
                  <a:pt x="0" y="97033"/>
                </a:lnTo>
                <a:cubicBezTo>
                  <a:pt x="0" y="43443"/>
                  <a:pt x="43444" y="0"/>
                  <a:pt x="970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0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4DB994-0424-2342-9C5E-5952B37DF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32009" y="502890"/>
            <a:ext cx="4289630" cy="9281218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35BA426-859F-EDD7-9C8F-7437950E9B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245212" y="572215"/>
            <a:ext cx="4225548" cy="9142570"/>
          </a:xfrm>
          <a:prstGeom prst="roundRect">
            <a:avLst>
              <a:gd name="adj" fmla="val 12028"/>
            </a:avLst>
          </a:pr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25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DE4EF1D-4143-DA1C-8A60-248CAB8C5E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87677" y="3440783"/>
            <a:ext cx="4112648" cy="8898292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91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AAFDE88-6B92-62A5-21E1-3B7F97015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71987" y="2260032"/>
            <a:ext cx="4870340" cy="10537665"/>
          </a:xfrm>
          <a:custGeom>
            <a:avLst/>
            <a:gdLst>
              <a:gd name="connsiteX0" fmla="*/ 435643 w 3793598"/>
              <a:gd name="connsiteY0" fmla="*/ 0 h 8207985"/>
              <a:gd name="connsiteX1" fmla="*/ 804130 w 3793598"/>
              <a:gd name="connsiteY1" fmla="*/ 0 h 8207985"/>
              <a:gd name="connsiteX2" fmla="*/ 863780 w 3793598"/>
              <a:gd name="connsiteY2" fmla="*/ 59653 h 8207985"/>
              <a:gd name="connsiteX3" fmla="*/ 863780 w 3793598"/>
              <a:gd name="connsiteY3" fmla="*/ 82587 h 8207985"/>
              <a:gd name="connsiteX4" fmla="*/ 867003 w 3793598"/>
              <a:gd name="connsiteY4" fmla="*/ 82587 h 8207985"/>
              <a:gd name="connsiteX5" fmla="*/ 867003 w 3793598"/>
              <a:gd name="connsiteY5" fmla="*/ 89468 h 8207985"/>
              <a:gd name="connsiteX6" fmla="*/ 1088620 w 3793598"/>
              <a:gd name="connsiteY6" fmla="*/ 311084 h 8207985"/>
              <a:gd name="connsiteX7" fmla="*/ 2700941 w 3793598"/>
              <a:gd name="connsiteY7" fmla="*/ 311084 h 8207985"/>
              <a:gd name="connsiteX8" fmla="*/ 2922557 w 3793598"/>
              <a:gd name="connsiteY8" fmla="*/ 89468 h 8207985"/>
              <a:gd name="connsiteX9" fmla="*/ 2922557 w 3793598"/>
              <a:gd name="connsiteY9" fmla="*/ 82587 h 8207985"/>
              <a:gd name="connsiteX10" fmla="*/ 2922557 w 3793598"/>
              <a:gd name="connsiteY10" fmla="*/ 59653 h 8207985"/>
              <a:gd name="connsiteX11" fmla="*/ 2982210 w 3793598"/>
              <a:gd name="connsiteY11" fmla="*/ 0 h 8207985"/>
              <a:gd name="connsiteX12" fmla="*/ 3357952 w 3793598"/>
              <a:gd name="connsiteY12" fmla="*/ 0 h 8207985"/>
              <a:gd name="connsiteX13" fmla="*/ 3515029 w 3793598"/>
              <a:gd name="connsiteY13" fmla="*/ 31713 h 8207985"/>
              <a:gd name="connsiteX14" fmla="*/ 3793598 w 3793598"/>
              <a:gd name="connsiteY14" fmla="*/ 451973 h 8207985"/>
              <a:gd name="connsiteX15" fmla="*/ 3793598 w 3793598"/>
              <a:gd name="connsiteY15" fmla="*/ 7751881 h 8207985"/>
              <a:gd name="connsiteX16" fmla="*/ 3337493 w 3793598"/>
              <a:gd name="connsiteY16" fmla="*/ 8207985 h 8207985"/>
              <a:gd name="connsiteX17" fmla="*/ 456104 w 3793598"/>
              <a:gd name="connsiteY17" fmla="*/ 8207985 h 8207985"/>
              <a:gd name="connsiteX18" fmla="*/ 0 w 3793598"/>
              <a:gd name="connsiteY18" fmla="*/ 7751881 h 8207985"/>
              <a:gd name="connsiteX19" fmla="*/ 0 w 3793598"/>
              <a:gd name="connsiteY19" fmla="*/ 451973 h 8207985"/>
              <a:gd name="connsiteX20" fmla="*/ 278568 w 3793598"/>
              <a:gd name="connsiteY20" fmla="*/ 31713 h 820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3598" h="8207985">
                <a:moveTo>
                  <a:pt x="435643" y="0"/>
                </a:moveTo>
                <a:lnTo>
                  <a:pt x="804130" y="0"/>
                </a:lnTo>
                <a:cubicBezTo>
                  <a:pt x="837075" y="0"/>
                  <a:pt x="863780" y="26708"/>
                  <a:pt x="863780" y="59653"/>
                </a:cubicBezTo>
                <a:lnTo>
                  <a:pt x="863780" y="82587"/>
                </a:lnTo>
                <a:lnTo>
                  <a:pt x="867003" y="82587"/>
                </a:lnTo>
                <a:lnTo>
                  <a:pt x="867003" y="89468"/>
                </a:lnTo>
                <a:cubicBezTo>
                  <a:pt x="867003" y="211862"/>
                  <a:pt x="966225" y="311084"/>
                  <a:pt x="1088620" y="311084"/>
                </a:cubicBezTo>
                <a:lnTo>
                  <a:pt x="2700941" y="311084"/>
                </a:lnTo>
                <a:cubicBezTo>
                  <a:pt x="2823335" y="311084"/>
                  <a:pt x="2922557" y="211862"/>
                  <a:pt x="2922557" y="89468"/>
                </a:cubicBezTo>
                <a:lnTo>
                  <a:pt x="2922557" y="82587"/>
                </a:lnTo>
                <a:lnTo>
                  <a:pt x="2922557" y="59653"/>
                </a:lnTo>
                <a:cubicBezTo>
                  <a:pt x="2922557" y="26708"/>
                  <a:pt x="2949262" y="0"/>
                  <a:pt x="2982210" y="0"/>
                </a:cubicBezTo>
                <a:lnTo>
                  <a:pt x="3357952" y="0"/>
                </a:lnTo>
                <a:lnTo>
                  <a:pt x="3515029" y="31713"/>
                </a:lnTo>
                <a:cubicBezTo>
                  <a:pt x="3678733" y="100954"/>
                  <a:pt x="3793598" y="263050"/>
                  <a:pt x="3793598" y="451973"/>
                </a:cubicBezTo>
                <a:lnTo>
                  <a:pt x="3793598" y="7751881"/>
                </a:lnTo>
                <a:cubicBezTo>
                  <a:pt x="3793598" y="8003781"/>
                  <a:pt x="3589393" y="8207985"/>
                  <a:pt x="3337493" y="8207985"/>
                </a:cubicBezTo>
                <a:lnTo>
                  <a:pt x="456104" y="8207985"/>
                </a:lnTo>
                <a:cubicBezTo>
                  <a:pt x="204206" y="8207985"/>
                  <a:pt x="0" y="8003781"/>
                  <a:pt x="0" y="7751881"/>
                </a:cubicBezTo>
                <a:lnTo>
                  <a:pt x="0" y="451973"/>
                </a:lnTo>
                <a:cubicBezTo>
                  <a:pt x="0" y="263050"/>
                  <a:pt x="114866" y="100954"/>
                  <a:pt x="278568" y="31713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943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247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0356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22103-D532-4458-B31C-76ADFEB8BFB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104E-DC07-4262-A83A-4F0BFC0B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00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jpe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4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svg"/><Relationship Id="rId5" Type="http://schemas.openxmlformats.org/officeDocument/2006/relationships/image" Target="../media/image20.svg"/><Relationship Id="rId6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svg"/><Relationship Id="rId9" Type="http://schemas.openxmlformats.org/officeDocument/2006/relationships/image" Target="../media/image2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jpg"/><Relationship Id="rId5" Type="http://schemas.openxmlformats.org/officeDocument/2006/relationships/image" Target="../media/image31.png"/><Relationship Id="rId6" Type="http://schemas.openxmlformats.org/officeDocument/2006/relationships/image" Target="../media/image6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_rels/slide1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5" Type="http://schemas.openxmlformats.org/officeDocument/2006/relationships/image" Target="../media/image15.jpg"/><Relationship Id="rId6" Type="http://schemas.openxmlformats.org/officeDocument/2006/relationships/image" Target="../media/image32.png"/><Relationship Id="rId7" Type="http://schemas.openxmlformats.org/officeDocument/2006/relationships/image" Target="../media/image3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3.png"/><Relationship Id="rId4" Type="http://schemas.openxmlformats.org/officeDocument/2006/relationships/hyperlink" Target="https://www.who.int/en/news-room/fact-sheets/detail/deafness-and-hearing-loss" TargetMode="External"/><Relationship Id="rId5" Type="http://schemas.openxmlformats.org/officeDocument/2006/relationships/hyperlink" Target="https://machinelearning.apple.com/research/ai-sign-language-generation" TargetMode="External"/><Relationship Id="rId6" Type="http://schemas.openxmlformats.org/officeDocument/2006/relationships/hyperlink" Target="https://www.researchgate.net/publication/386188981_signmt_Real-Time_Multilingual_Sign_Language_Translation_Application" TargetMode="External"/><Relationship Id="rId7" Type="http://schemas.openxmlformats.org/officeDocument/2006/relationships/hyperlink" Target="https://nationalcentreforai.jiscinvolve.org/wp/2025/09/16/ai-sign-language-translation-ready-for-education/" TargetMode="External"/><Relationship Id="rId8" Type="http://schemas.openxmlformats.org/officeDocument/2006/relationships/hyperlink" Target="https://www.fau.edu/engineering/eecs/news/2504-american-sign-language/" TargetMode="External"/><Relationship Id="rId9" Type="http://schemas.openxmlformats.org/officeDocument/2006/relationships/hyperlink" Target="https://www.tandfonline.com/doi/full/10.1080/09687599.2024.2412271" TargetMode="External"/><Relationship Id="rId10" Type="http://schemas.openxmlformats.org/officeDocument/2006/relationships/hyperlink" Target="http://www.moe.gov.cn/jyb_sjzl/sjzl_fztjgb/202607/t20260706_1442870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4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E11630-9E76-8B24-3241-C9BF22D854D8}"/>
              </a:ext>
            </a:extLst>
          </p:cNvPr>
          <p:cNvSpPr/>
          <p:nvPr/>
        </p:nvSpPr>
        <p:spPr>
          <a:xfrm flipH="1">
            <a:off x="-254207" y="-2323"/>
            <a:ext cx="10343501" cy="10287000"/>
          </a:xfrm>
          <a:custGeom>
            <a:avLst/>
            <a:gdLst>
              <a:gd name="connsiteX0" fmla="*/ 10343499 w 10343501"/>
              <a:gd name="connsiteY0" fmla="*/ 0 h 10287000"/>
              <a:gd name="connsiteX1" fmla="*/ 10343501 w 10343501"/>
              <a:gd name="connsiteY1" fmla="*/ 10286999 h 10287000"/>
              <a:gd name="connsiteX2" fmla="*/ 8640723 w 10343501"/>
              <a:gd name="connsiteY2" fmla="*/ 10287000 h 10287000"/>
              <a:gd name="connsiteX3" fmla="*/ 8428697 w 10343501"/>
              <a:gd name="connsiteY3" fmla="*/ 10179855 h 10287000"/>
              <a:gd name="connsiteX4" fmla="*/ 3306609 w 10343501"/>
              <a:gd name="connsiteY4" fmla="*/ 9216090 h 10287000"/>
              <a:gd name="connsiteX5" fmla="*/ 102475 w 10343501"/>
              <a:gd name="connsiteY5" fmla="*/ 6199158 h 10287000"/>
              <a:gd name="connsiteX6" fmla="*/ 1971726 w 10343501"/>
              <a:gd name="connsiteY6" fmla="*/ 1998975 h 10287000"/>
              <a:gd name="connsiteX7" fmla="*/ 3783076 w 10343501"/>
              <a:gd name="connsiteY7" fmla="*/ 161062 h 10287000"/>
              <a:gd name="connsiteX8" fmla="*/ 3895998 w 10343501"/>
              <a:gd name="connsiteY8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43501" h="10287000">
                <a:moveTo>
                  <a:pt x="10343499" y="0"/>
                </a:moveTo>
                <a:lnTo>
                  <a:pt x="10343501" y="10286999"/>
                </a:lnTo>
                <a:lnTo>
                  <a:pt x="8640723" y="10287000"/>
                </a:lnTo>
                <a:lnTo>
                  <a:pt x="8428697" y="10179855"/>
                </a:lnTo>
                <a:cubicBezTo>
                  <a:pt x="6010717" y="9026066"/>
                  <a:pt x="3755966" y="9475527"/>
                  <a:pt x="3306609" y="9216090"/>
                </a:cubicBezTo>
                <a:cubicBezTo>
                  <a:pt x="2681418" y="8855136"/>
                  <a:pt x="734917" y="8953920"/>
                  <a:pt x="102475" y="6199158"/>
                </a:cubicBezTo>
                <a:cubicBezTo>
                  <a:pt x="-529966" y="3444398"/>
                  <a:pt x="1971726" y="1998975"/>
                  <a:pt x="1971726" y="1998975"/>
                </a:cubicBezTo>
                <a:cubicBezTo>
                  <a:pt x="1971726" y="1998975"/>
                  <a:pt x="3080429" y="1107365"/>
                  <a:pt x="3783076" y="161062"/>
                </a:cubicBezTo>
                <a:lnTo>
                  <a:pt x="3895998" y="0"/>
                </a:lnTo>
                <a:close/>
              </a:path>
            </a:pathLst>
          </a:cu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F7E3AA8A-81CB-9D65-3102-4F54C666DDFB}"/>
              </a:ext>
            </a:extLst>
          </p:cNvPr>
          <p:cNvSpPr txBox="1"/>
          <p:nvPr/>
        </p:nvSpPr>
        <p:spPr>
          <a:xfrm>
            <a:off x="787400" y="9151973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9C1C6-6348-9129-FBA5-5133B0FF398F}"/>
              </a:ext>
            </a:extLst>
          </p:cNvPr>
          <p:cNvSpPr txBox="1"/>
          <p:nvPr/>
        </p:nvSpPr>
        <p:spPr>
          <a:xfrm>
            <a:off x="10176454" y="2322462"/>
            <a:ext cx="7534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err="1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Echo</a:t>
            </a:r>
            <a:endParaRPr lang="en-US" sz="7200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1493AD-4766-24E9-70DF-A27BE7E5E7EA}"/>
              </a:ext>
            </a:extLst>
          </p:cNvPr>
          <p:cNvGrpSpPr/>
          <p:nvPr/>
        </p:nvGrpSpPr>
        <p:grpSpPr>
          <a:xfrm rot="5400000">
            <a:off x="1771677" y="-484128"/>
            <a:ext cx="5771428" cy="8667280"/>
            <a:chOff x="14825143" y="2866848"/>
            <a:chExt cx="5771428" cy="866728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B956BE-E3E1-EFEE-597D-CFBEA9D66A07}"/>
                </a:ext>
              </a:extLst>
            </p:cNvPr>
            <p:cNvSpPr/>
            <p:nvPr/>
          </p:nvSpPr>
          <p:spPr>
            <a:xfrm>
              <a:off x="15979429" y="2866848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E8D4ADE-42DC-CE7E-3271-C170D60EE950}"/>
                </a:ext>
              </a:extLst>
            </p:cNvPr>
            <p:cNvSpPr/>
            <p:nvPr/>
          </p:nvSpPr>
          <p:spPr>
            <a:xfrm>
              <a:off x="18288000" y="2866848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458829E-195F-B693-4F47-BCB1C99810A1}"/>
                </a:ext>
              </a:extLst>
            </p:cNvPr>
            <p:cNvSpPr/>
            <p:nvPr/>
          </p:nvSpPr>
          <p:spPr>
            <a:xfrm>
              <a:off x="17133714" y="4866059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ADFA89-E2DF-5FDB-95BF-495A6DCB656B}"/>
                </a:ext>
              </a:extLst>
            </p:cNvPr>
            <p:cNvSpPr/>
            <p:nvPr/>
          </p:nvSpPr>
          <p:spPr>
            <a:xfrm>
              <a:off x="15979429" y="6869210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280612C-AF2E-458C-30F8-B71E7E25BF17}"/>
                </a:ext>
              </a:extLst>
            </p:cNvPr>
            <p:cNvSpPr/>
            <p:nvPr/>
          </p:nvSpPr>
          <p:spPr>
            <a:xfrm>
              <a:off x="18288000" y="6869210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BC9FF81-6BB1-04B9-4F6F-83631942BA0E}"/>
                </a:ext>
              </a:extLst>
            </p:cNvPr>
            <p:cNvSpPr/>
            <p:nvPr/>
          </p:nvSpPr>
          <p:spPr>
            <a:xfrm>
              <a:off x="17133714" y="8868421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2609584-8E6F-AB61-8839-9EBA9A73E36A}"/>
                </a:ext>
              </a:extLst>
            </p:cNvPr>
            <p:cNvSpPr/>
            <p:nvPr/>
          </p:nvSpPr>
          <p:spPr>
            <a:xfrm>
              <a:off x="14825143" y="4866059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B4F3651-9B12-873F-84B3-63043F5F02BB}"/>
                </a:ext>
              </a:extLst>
            </p:cNvPr>
            <p:cNvSpPr/>
            <p:nvPr/>
          </p:nvSpPr>
          <p:spPr>
            <a:xfrm>
              <a:off x="14825143" y="8868421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0449F6E-6F6C-6D60-D718-5CF20944CD69}"/>
              </a:ext>
            </a:extLst>
          </p:cNvPr>
          <p:cNvSpPr txBox="1"/>
          <p:nvPr/>
        </p:nvSpPr>
        <p:spPr>
          <a:xfrm>
            <a:off x="5216400" y="6528146"/>
            <a:ext cx="955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PAY</a:t>
            </a:r>
          </a:p>
        </p:txBody>
      </p:sp>
      <p:pic>
        <p:nvPicPr>
          <p:cNvPr id="1707" name="Picture 1706" descr="Echo app on three phones: Spanish, English and Twi board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" y="431800"/>
            <a:ext cx="7111999" cy="8432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ED32B8-E3D7-BE9C-F61E-588A6C01938E}"/>
              </a:ext>
            </a:extLst>
          </p:cNvPr>
          <p:cNvSpPr txBox="1"/>
          <p:nvPr/>
        </p:nvSpPr>
        <p:spPr>
          <a:xfrm>
            <a:off x="9920217" y="3952824"/>
            <a:ext cx="9107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Poppins" panose="00000500000000000000" pitchFamily="2" charset="0"/>
                <a:cs typeface="Poppins" panose="00000500000000000000" pitchFamily="2" charset="0"/>
              </a:rPr>
              <a:t>Offline-first AAC</a:t>
            </a:r>
            <a:endParaRPr lang="en-US" sz="3600" b="1" spc="3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ea typeface="Open Sans" pitchFamily="2" charset="0"/>
              <a:cs typeface="Poppins" panose="00000500000000000000" pitchFamily="2" charset="0"/>
            </a:endParaRPr>
          </a:p>
          <a:p>
            <a:r>
              <a:rPr lang="en-US" sz="3600" dirty="0">
                <a:latin typeface="Poppins" panose="00000500000000000000" pitchFamily="2" charset="0"/>
                <a:cs typeface="Poppins" panose="00000500000000000000" pitchFamily="2" charset="0"/>
              </a:rPr>
              <a:t>in your own language</a:t>
            </a:r>
            <a:endParaRPr lang="en-US" sz="3600" b="1" spc="3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ea typeface="Open Sans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61A73-4EE8-075A-ADFE-17238A470024}"/>
              </a:ext>
            </a:extLst>
          </p:cNvPr>
          <p:cNvSpPr txBox="1"/>
          <p:nvPr/>
        </p:nvSpPr>
        <p:spPr>
          <a:xfrm>
            <a:off x="9920217" y="7514995"/>
            <a:ext cx="9107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Team Handwave | Giving out voice</a:t>
            </a:r>
          </a:p>
          <a:p>
            <a:r>
              <a:rPr lang="en-GB" sz="3600" b="1" dirty="0">
                <a:latin typeface="Poppins" panose="00000500000000000000" pitchFamily="2" charset="0"/>
                <a:cs typeface="Poppins" panose="00000500000000000000" pitchFamily="2" charset="0"/>
              </a:rPr>
              <a:t>to everyone</a:t>
            </a:r>
            <a:endParaRPr lang="en-US" sz="3600" b="1" spc="3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ea typeface="Open Sans" pitchFamily="2" charset="0"/>
              <a:cs typeface="Poppins" panose="000005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0F014A-F0C6-0103-1449-AA945B00B0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785" y="9129831"/>
            <a:ext cx="11586949" cy="115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38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C74B33B9-20F1-4705-6416-8CABAA9F1F9A}"/>
              </a:ext>
            </a:extLst>
          </p:cNvPr>
          <p:cNvGrpSpPr/>
          <p:nvPr/>
        </p:nvGrpSpPr>
        <p:grpSpPr>
          <a:xfrm rot="5400000">
            <a:off x="8909172" y="-409421"/>
            <a:ext cx="5771428" cy="8667280"/>
            <a:chOff x="14825143" y="2866848"/>
            <a:chExt cx="5771428" cy="8667280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B27C62D-661B-B855-DACA-6179530BA5B4}"/>
                </a:ext>
              </a:extLst>
            </p:cNvPr>
            <p:cNvSpPr/>
            <p:nvPr/>
          </p:nvSpPr>
          <p:spPr>
            <a:xfrm>
              <a:off x="15979429" y="2866848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BC20073-87DC-B34A-4BEF-8DA4D60E84BE}"/>
                </a:ext>
              </a:extLst>
            </p:cNvPr>
            <p:cNvSpPr/>
            <p:nvPr/>
          </p:nvSpPr>
          <p:spPr>
            <a:xfrm>
              <a:off x="18288000" y="2866848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EC8F4D8-19E8-5A3D-97A0-F3BEB60595F0}"/>
                </a:ext>
              </a:extLst>
            </p:cNvPr>
            <p:cNvSpPr/>
            <p:nvPr/>
          </p:nvSpPr>
          <p:spPr>
            <a:xfrm>
              <a:off x="17133714" y="4866059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5059785-2CA5-6B20-D4F3-A584FD15A194}"/>
                </a:ext>
              </a:extLst>
            </p:cNvPr>
            <p:cNvSpPr/>
            <p:nvPr/>
          </p:nvSpPr>
          <p:spPr>
            <a:xfrm>
              <a:off x="15979429" y="6869210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F7BD244-0BB8-9D71-9E09-6CC6CD1797CE}"/>
                </a:ext>
              </a:extLst>
            </p:cNvPr>
            <p:cNvSpPr/>
            <p:nvPr/>
          </p:nvSpPr>
          <p:spPr>
            <a:xfrm>
              <a:off x="18288000" y="6869210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925C5F5-33EE-5948-09BA-CA0B5A9B408B}"/>
                </a:ext>
              </a:extLst>
            </p:cNvPr>
            <p:cNvSpPr/>
            <p:nvPr/>
          </p:nvSpPr>
          <p:spPr>
            <a:xfrm>
              <a:off x="17133714" y="8868421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B9839E4-A163-90C9-9C08-79BD9E2A1E34}"/>
                </a:ext>
              </a:extLst>
            </p:cNvPr>
            <p:cNvSpPr/>
            <p:nvPr/>
          </p:nvSpPr>
          <p:spPr>
            <a:xfrm>
              <a:off x="14825143" y="4866059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4C27292-D6D5-2B80-BFFF-ABFFC12982AB}"/>
                </a:ext>
              </a:extLst>
            </p:cNvPr>
            <p:cNvSpPr/>
            <p:nvPr/>
          </p:nvSpPr>
          <p:spPr>
            <a:xfrm>
              <a:off x="14825143" y="8868421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23F8C23-D68E-D06F-B642-D304CCE79527}"/>
              </a:ext>
            </a:extLst>
          </p:cNvPr>
          <p:cNvSpPr txBox="1"/>
          <p:nvPr/>
        </p:nvSpPr>
        <p:spPr>
          <a:xfrm>
            <a:off x="6073086" y="174428"/>
            <a:ext cx="6141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spc="3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TEAM HANDWAVE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37A0EF-A6E3-A19A-7A18-3DAF1737999B}"/>
              </a:ext>
            </a:extLst>
          </p:cNvPr>
          <p:cNvSpPr txBox="1"/>
          <p:nvPr/>
        </p:nvSpPr>
        <p:spPr>
          <a:xfrm>
            <a:off x="5591155" y="474078"/>
            <a:ext cx="7791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PROFESSIONAL</a:t>
            </a:r>
            <a:r>
              <a:rPr lang="en-US" sz="5400" b="1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TEAM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E3D24A-D1F0-F4D9-031A-D96954772722}"/>
              </a:ext>
            </a:extLst>
          </p:cNvPr>
          <p:cNvSpPr/>
          <p:nvPr/>
        </p:nvSpPr>
        <p:spPr>
          <a:xfrm>
            <a:off x="1304228" y="1458138"/>
            <a:ext cx="3646303" cy="4356948"/>
          </a:xfrm>
          <a:prstGeom prst="roundRect">
            <a:avLst>
              <a:gd name="adj" fmla="val 13403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17512C-D880-6EDC-9DE9-635AAAB3C3FF}"/>
              </a:ext>
            </a:extLst>
          </p:cNvPr>
          <p:cNvSpPr/>
          <p:nvPr/>
        </p:nvSpPr>
        <p:spPr>
          <a:xfrm>
            <a:off x="1500892" y="1623909"/>
            <a:ext cx="3287727" cy="2589716"/>
          </a:xfrm>
          <a:prstGeom prst="roundRect">
            <a:avLst>
              <a:gd name="adj" fmla="val 10960"/>
            </a:avLst>
          </a:prstGeom>
          <a:solidFill>
            <a:srgbClr val="F07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300F1-3239-EEE2-EB80-EA82AB90AA35}"/>
              </a:ext>
            </a:extLst>
          </p:cNvPr>
          <p:cNvSpPr txBox="1"/>
          <p:nvPr/>
        </p:nvSpPr>
        <p:spPr>
          <a:xfrm>
            <a:off x="1708731" y="5316491"/>
            <a:ext cx="2922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bg1">
                    <a:lumMod val="6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Mobile Developer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A4F74F-C0F9-E56D-9FFB-F299223D7D89}"/>
              </a:ext>
            </a:extLst>
          </p:cNvPr>
          <p:cNvSpPr txBox="1"/>
          <p:nvPr/>
        </p:nvSpPr>
        <p:spPr>
          <a:xfrm>
            <a:off x="1428715" y="4616494"/>
            <a:ext cx="3397328" cy="76944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CLARENCE DANKWA MANU</a:t>
            </a:r>
          </a:p>
        </p:txBody>
      </p:sp>
      <p:pic>
        <p:nvPicPr>
          <p:cNvPr id="19" name="Picture Placeholder 27">
            <a:extLst>
              <a:ext uri="{FF2B5EF4-FFF2-40B4-BE49-F238E27FC236}">
                <a16:creationId xmlns:a16="http://schemas.microsoft.com/office/drawing/2014/main" id="{4E4EA9D9-0AD0-A2A9-00E8-06B378175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4" r="13204"/>
          <a:stretch/>
        </p:blipFill>
        <p:spPr>
          <a:xfrm>
            <a:off x="1497062" y="1623364"/>
            <a:ext cx="3288823" cy="2771823"/>
          </a:xfrm>
          <a:prstGeom prst="roundRect">
            <a:avLst>
              <a:gd name="adj" fmla="val 11438"/>
            </a:avLst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948A6D-45EE-9C8A-BCF5-71B410DFD731}"/>
              </a:ext>
            </a:extLst>
          </p:cNvPr>
          <p:cNvSpPr/>
          <p:nvPr/>
        </p:nvSpPr>
        <p:spPr>
          <a:xfrm>
            <a:off x="7196265" y="3144316"/>
            <a:ext cx="3646303" cy="4356948"/>
          </a:xfrm>
          <a:prstGeom prst="roundRect">
            <a:avLst>
              <a:gd name="adj" fmla="val 13403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3896DE-5833-2DE9-7C75-7D6F92FC6121}"/>
              </a:ext>
            </a:extLst>
          </p:cNvPr>
          <p:cNvSpPr/>
          <p:nvPr/>
        </p:nvSpPr>
        <p:spPr>
          <a:xfrm>
            <a:off x="7392929" y="3310087"/>
            <a:ext cx="3287727" cy="2589716"/>
          </a:xfrm>
          <a:prstGeom prst="roundRect">
            <a:avLst>
              <a:gd name="adj" fmla="val 10960"/>
            </a:avLst>
          </a:prstGeom>
          <a:solidFill>
            <a:srgbClr val="F07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56388-0CF5-6E12-ECFB-1775AA872180}"/>
              </a:ext>
            </a:extLst>
          </p:cNvPr>
          <p:cNvSpPr txBox="1"/>
          <p:nvPr/>
        </p:nvSpPr>
        <p:spPr>
          <a:xfrm>
            <a:off x="7461246" y="6830367"/>
            <a:ext cx="3241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bg1">
                    <a:lumMod val="65000"/>
                  </a:schemeClr>
                </a:solidFill>
                <a:latin typeface="Open Sans Medium" pitchFamily="2" charset="0"/>
              </a:rPr>
              <a:t>Special Education Consultant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A65937-3489-1A03-B2CD-69C464333B62}"/>
              </a:ext>
            </a:extLst>
          </p:cNvPr>
          <p:cNvSpPr txBox="1"/>
          <p:nvPr/>
        </p:nvSpPr>
        <p:spPr>
          <a:xfrm>
            <a:off x="7297412" y="6140357"/>
            <a:ext cx="3397328" cy="76944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SYDNOR TWENEBOA OFORI- HANSON</a:t>
            </a:r>
          </a:p>
        </p:txBody>
      </p:sp>
      <p:pic>
        <p:nvPicPr>
          <p:cNvPr id="38" name="Picture Placeholder 27">
            <a:extLst>
              <a:ext uri="{FF2B5EF4-FFF2-40B4-BE49-F238E27FC236}">
                <a16:creationId xmlns:a16="http://schemas.microsoft.com/office/drawing/2014/main" id="{39988A3F-AD42-5796-F2C0-CECBB9AEF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80" b="16280"/>
          <a:stretch/>
        </p:blipFill>
        <p:spPr>
          <a:xfrm>
            <a:off x="7389099" y="3309542"/>
            <a:ext cx="3288823" cy="2771823"/>
          </a:xfrm>
          <a:prstGeom prst="roundRect">
            <a:avLst>
              <a:gd name="adj" fmla="val 11438"/>
            </a:avLst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C8C266E-F261-6F8D-74CC-99A18A477808}"/>
              </a:ext>
            </a:extLst>
          </p:cNvPr>
          <p:cNvSpPr/>
          <p:nvPr/>
        </p:nvSpPr>
        <p:spPr>
          <a:xfrm>
            <a:off x="12345721" y="1315460"/>
            <a:ext cx="3646303" cy="4356948"/>
          </a:xfrm>
          <a:prstGeom prst="roundRect">
            <a:avLst>
              <a:gd name="adj" fmla="val 13403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83FF48D-EF78-4F67-A3D7-F1B021FE4D91}"/>
              </a:ext>
            </a:extLst>
          </p:cNvPr>
          <p:cNvSpPr/>
          <p:nvPr/>
        </p:nvSpPr>
        <p:spPr>
          <a:xfrm>
            <a:off x="12542385" y="1481231"/>
            <a:ext cx="3287727" cy="2589716"/>
          </a:xfrm>
          <a:prstGeom prst="roundRect">
            <a:avLst>
              <a:gd name="adj" fmla="val 10960"/>
            </a:avLst>
          </a:prstGeom>
          <a:solidFill>
            <a:srgbClr val="F071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E098FA-AD75-5696-F30A-F0BAA20D6EAF}"/>
              </a:ext>
            </a:extLst>
          </p:cNvPr>
          <p:cNvSpPr txBox="1"/>
          <p:nvPr/>
        </p:nvSpPr>
        <p:spPr>
          <a:xfrm>
            <a:off x="12727292" y="5043714"/>
            <a:ext cx="30771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bg1">
                    <a:lumMod val="6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Machine learning Engineer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400244-FF7F-D9BF-EFAC-458EF2D263BD}"/>
              </a:ext>
            </a:extLst>
          </p:cNvPr>
          <p:cNvSpPr txBox="1"/>
          <p:nvPr/>
        </p:nvSpPr>
        <p:spPr>
          <a:xfrm>
            <a:off x="12426711" y="4353464"/>
            <a:ext cx="3397328" cy="76944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OFEI OBUOBISAH BEKOE</a:t>
            </a:r>
          </a:p>
        </p:txBody>
      </p:sp>
      <p:pic>
        <p:nvPicPr>
          <p:cNvPr id="44" name="Picture Placeholder 27">
            <a:extLst>
              <a:ext uri="{FF2B5EF4-FFF2-40B4-BE49-F238E27FC236}">
                <a16:creationId xmlns:a16="http://schemas.microsoft.com/office/drawing/2014/main" id="{81449D31-AA31-DB4E-AD39-9471C702D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7" b="8837"/>
          <a:stretch/>
        </p:blipFill>
        <p:spPr>
          <a:xfrm>
            <a:off x="12538555" y="1480686"/>
            <a:ext cx="3288823" cy="2771823"/>
          </a:xfrm>
          <a:prstGeom prst="roundRect">
            <a:avLst>
              <a:gd name="adj" fmla="val 11438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D3E4BF-258D-2DC9-61D2-7BCF0DEA7A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425" y="9248171"/>
            <a:ext cx="9986832" cy="8954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1D22FB-B04F-CC76-4031-566E911DFD00}"/>
              </a:ext>
            </a:extLst>
          </p:cNvPr>
          <p:cNvSpPr txBox="1"/>
          <p:nvPr/>
        </p:nvSpPr>
        <p:spPr>
          <a:xfrm>
            <a:off x="120604" y="970222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11CC6-2CBB-D568-C5CF-D5908B2C7AFC}"/>
              </a:ext>
            </a:extLst>
          </p:cNvPr>
          <p:cNvSpPr txBox="1"/>
          <p:nvPr/>
        </p:nvSpPr>
        <p:spPr>
          <a:xfrm>
            <a:off x="960092" y="5909337"/>
            <a:ext cx="440438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Open Sans Medium"/>
                <a:cs typeface="Times New Roman" panose="02020603050405020304" pitchFamily="18" charset="0"/>
              </a:rPr>
              <a:t>Built the Flutter app: the communication board, Twi and Ga translation and speech through Khaya AI, and offline pictograms.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A90F37-38DE-22B3-3557-726338ECA69B}"/>
              </a:ext>
            </a:extLst>
          </p:cNvPr>
          <p:cNvSpPr txBox="1"/>
          <p:nvPr/>
        </p:nvSpPr>
        <p:spPr>
          <a:xfrm>
            <a:off x="12214914" y="6048361"/>
            <a:ext cx="55208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Open Sans Medium"/>
                <a:cs typeface="Times New Roman" panose="02020603050405020304" pitchFamily="18" charset="0"/>
              </a:rPr>
              <a:t>[Add this member’s role on Echo]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63D3D5-679E-3AB0-64F9-3BE65C663A49}"/>
              </a:ext>
            </a:extLst>
          </p:cNvPr>
          <p:cNvSpPr txBox="1"/>
          <p:nvPr/>
        </p:nvSpPr>
        <p:spPr>
          <a:xfrm>
            <a:off x="6941806" y="7494911"/>
            <a:ext cx="440438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Open Sans Medium"/>
                <a:cs typeface="Times New Roman" panose="02020603050405020304" pitchFamily="18" charset="0"/>
              </a:rPr>
              <a:t>[Add this member’s role on Echo]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F8D39B3-2439-A0E7-F830-6D68887EC5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3336" y="3289108"/>
            <a:ext cx="3304586" cy="27738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CA859F-50CE-F0F5-C40F-E710EF942B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7062" y="1623364"/>
            <a:ext cx="3384376" cy="279169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7F55D32-FA20-011C-E3B5-977B42CB95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8555" y="1458137"/>
            <a:ext cx="3265891" cy="281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4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98482FC6-03AB-DC25-1679-B8B27C5A1AA9}"/>
              </a:ext>
            </a:extLst>
          </p:cNvPr>
          <p:cNvGrpSpPr/>
          <p:nvPr/>
        </p:nvGrpSpPr>
        <p:grpSpPr>
          <a:xfrm rot="5400000">
            <a:off x="5287589" y="-445083"/>
            <a:ext cx="5771428" cy="8667280"/>
            <a:chOff x="14825143" y="2866848"/>
            <a:chExt cx="5771428" cy="8667280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8269D68-5288-0227-839C-FC92246813C3}"/>
                </a:ext>
              </a:extLst>
            </p:cNvPr>
            <p:cNvSpPr/>
            <p:nvPr/>
          </p:nvSpPr>
          <p:spPr>
            <a:xfrm>
              <a:off x="15979429" y="2866848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FEB5757-B051-9783-C403-7CC399F4ABC1}"/>
                </a:ext>
              </a:extLst>
            </p:cNvPr>
            <p:cNvSpPr/>
            <p:nvPr/>
          </p:nvSpPr>
          <p:spPr>
            <a:xfrm>
              <a:off x="18288000" y="2866848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CA3E23D-2303-0EA0-3A7D-E23DC457549F}"/>
                </a:ext>
              </a:extLst>
            </p:cNvPr>
            <p:cNvSpPr/>
            <p:nvPr/>
          </p:nvSpPr>
          <p:spPr>
            <a:xfrm>
              <a:off x="17133714" y="4866059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38F8333-3FDF-AA93-AA2B-80A9AC2A25F9}"/>
                </a:ext>
              </a:extLst>
            </p:cNvPr>
            <p:cNvSpPr/>
            <p:nvPr/>
          </p:nvSpPr>
          <p:spPr>
            <a:xfrm>
              <a:off x="15979429" y="6869210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F6E5C99-B501-9AEA-B53E-B5EB6B5579AE}"/>
                </a:ext>
              </a:extLst>
            </p:cNvPr>
            <p:cNvSpPr/>
            <p:nvPr/>
          </p:nvSpPr>
          <p:spPr>
            <a:xfrm>
              <a:off x="18288000" y="6869210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EDFD897-7DB5-9B66-CA3D-3E734A433B8B}"/>
                </a:ext>
              </a:extLst>
            </p:cNvPr>
            <p:cNvSpPr/>
            <p:nvPr/>
          </p:nvSpPr>
          <p:spPr>
            <a:xfrm>
              <a:off x="17133714" y="8868421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11FCFE1-A45A-E04D-C200-BD8D09365C49}"/>
                </a:ext>
              </a:extLst>
            </p:cNvPr>
            <p:cNvSpPr/>
            <p:nvPr/>
          </p:nvSpPr>
          <p:spPr>
            <a:xfrm>
              <a:off x="14825143" y="4866059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BDCEB5A-1F53-9668-30FC-E5FA1D029BD1}"/>
                </a:ext>
              </a:extLst>
            </p:cNvPr>
            <p:cNvSpPr/>
            <p:nvPr/>
          </p:nvSpPr>
          <p:spPr>
            <a:xfrm>
              <a:off x="14825143" y="8868421"/>
              <a:ext cx="2308571" cy="2665707"/>
            </a:xfrm>
            <a:custGeom>
              <a:avLst/>
              <a:gdLst>
                <a:gd name="connsiteX0" fmla="*/ 1017639 w 2035278"/>
                <a:gd name="connsiteY0" fmla="*/ 0 h 2350136"/>
                <a:gd name="connsiteX1" fmla="*/ 2035278 w 2035278"/>
                <a:gd name="connsiteY1" fmla="*/ 587534 h 2350136"/>
                <a:gd name="connsiteX2" fmla="*/ 2035278 w 2035278"/>
                <a:gd name="connsiteY2" fmla="*/ 1762602 h 2350136"/>
                <a:gd name="connsiteX3" fmla="*/ 1017639 w 2035278"/>
                <a:gd name="connsiteY3" fmla="*/ 2350136 h 2350136"/>
                <a:gd name="connsiteX4" fmla="*/ 0 w 2035278"/>
                <a:gd name="connsiteY4" fmla="*/ 1762602 h 2350136"/>
                <a:gd name="connsiteX5" fmla="*/ 0 w 2035278"/>
                <a:gd name="connsiteY5" fmla="*/ 587534 h 235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5278" h="2350136">
                  <a:moveTo>
                    <a:pt x="1017639" y="0"/>
                  </a:moveTo>
                  <a:lnTo>
                    <a:pt x="2035278" y="587534"/>
                  </a:lnTo>
                  <a:lnTo>
                    <a:pt x="2035278" y="1762602"/>
                  </a:lnTo>
                  <a:lnTo>
                    <a:pt x="1017639" y="2350136"/>
                  </a:lnTo>
                  <a:lnTo>
                    <a:pt x="0" y="1762602"/>
                  </a:lnTo>
                  <a:lnTo>
                    <a:pt x="0" y="587534"/>
                  </a:lnTo>
                  <a:close/>
                </a:path>
              </a:pathLst>
            </a:custGeom>
            <a:noFill/>
            <a:ln w="38100">
              <a:solidFill>
                <a:srgbClr val="F9F8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9AF008E-1EA9-FE60-5A26-3F8D1DD85C5A}"/>
              </a:ext>
            </a:extLst>
          </p:cNvPr>
          <p:cNvSpPr txBox="1"/>
          <p:nvPr/>
        </p:nvSpPr>
        <p:spPr>
          <a:xfrm>
            <a:off x="2578629" y="1806880"/>
            <a:ext cx="7070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3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TEAM HANDWAVE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3AA507-1A24-AB9D-1762-289DD0609B1C}"/>
              </a:ext>
            </a:extLst>
          </p:cNvPr>
          <p:cNvSpPr txBox="1"/>
          <p:nvPr/>
        </p:nvSpPr>
        <p:spPr>
          <a:xfrm>
            <a:off x="2578629" y="2145433"/>
            <a:ext cx="9463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97EF01-68C4-BA67-16A2-2DC22A446E6E}"/>
              </a:ext>
            </a:extLst>
          </p:cNvPr>
          <p:cNvSpPr txBox="1"/>
          <p:nvPr/>
        </p:nvSpPr>
        <p:spPr>
          <a:xfrm>
            <a:off x="1225289" y="787400"/>
            <a:ext cx="18501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5951ED-CC20-ED46-E064-2595E79CFC0F}"/>
              </a:ext>
            </a:extLst>
          </p:cNvPr>
          <p:cNvSpPr txBox="1"/>
          <p:nvPr/>
        </p:nvSpPr>
        <p:spPr>
          <a:xfrm>
            <a:off x="787400" y="9151973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755662-23C2-2703-A520-E8E51F05728D}"/>
              </a:ext>
            </a:extLst>
          </p:cNvPr>
          <p:cNvSpPr txBox="1"/>
          <p:nvPr/>
        </p:nvSpPr>
        <p:spPr>
          <a:xfrm>
            <a:off x="2578629" y="3334388"/>
            <a:ext cx="1237386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About 1.3 billion people (1 in 6) live with significant disability (WHO), and up to 1% have a speech, language or communication need, yet most communication apps are English-first, need the internet, and cover few languages.</a:t>
            </a:r>
          </a:p>
          <a:p>
            <a:pPr>
              <a:lnSpc>
                <a:spcPct val="100000"/>
              </a:lnSpc>
            </a:pPr>
            <a:endParaRPr lang="en-US" sz="2800" dirty="0">
              <a:latin typeface="Open Sans Medium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800" dirty="0" err="1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Echo</a:t>
            </a:r>
            <a:r>
              <a:rPr lang="en-US" sz="2800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 xml:space="preserve"> is an offline-first augmentative and alternative communication (AAC) app. Users tap pictogram tiles, choose their language, and hear the message spoken aloud. It is designed for any language.</a:t>
            </a:r>
          </a:p>
          <a:p>
            <a:pPr>
              <a:lnSpc>
                <a:spcPct val="100000"/>
              </a:lnSpc>
            </a:pPr>
            <a:endParaRPr lang="en-US" sz="2800" dirty="0">
              <a:latin typeface="Open Sans Medium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800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 xml:space="preserve">Built by Team Handwave, </a:t>
            </a:r>
            <a:r>
              <a:rPr lang="en-US" sz="2800" dirty="0" err="1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Echo</a:t>
            </a:r>
            <a:r>
              <a:rPr lang="en-US" sz="2800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 xml:space="preserve"> keeps the user in control of every word. We launch with English, Twi and Ga, then Spanish and French, advancing SDG 10: Reduced Inequalities.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C65464C-C7DE-DA34-AB0C-AA8832044F5C}"/>
              </a:ext>
            </a:extLst>
          </p:cNvPr>
          <p:cNvSpPr/>
          <p:nvPr/>
        </p:nvSpPr>
        <p:spPr>
          <a:xfrm>
            <a:off x="3046301" y="7667515"/>
            <a:ext cx="328724" cy="246812"/>
          </a:xfrm>
          <a:custGeom>
            <a:avLst/>
            <a:gdLst>
              <a:gd name="connsiteX0" fmla="*/ 676988 w 838200"/>
              <a:gd name="connsiteY0" fmla="*/ 306226 h 629338"/>
              <a:gd name="connsiteX1" fmla="*/ 696468 w 838200"/>
              <a:gd name="connsiteY1" fmla="*/ 313896 h 629338"/>
              <a:gd name="connsiteX2" fmla="*/ 829818 w 838200"/>
              <a:gd name="connsiteY2" fmla="*/ 447246 h 629338"/>
              <a:gd name="connsiteX3" fmla="*/ 829818 w 838200"/>
              <a:gd name="connsiteY3" fmla="*/ 487632 h 629338"/>
              <a:gd name="connsiteX4" fmla="*/ 696468 w 838200"/>
              <a:gd name="connsiteY4" fmla="*/ 620982 h 629338"/>
              <a:gd name="connsiteX5" fmla="*/ 656082 w 838200"/>
              <a:gd name="connsiteY5" fmla="*/ 620982 h 629338"/>
              <a:gd name="connsiteX6" fmla="*/ 656082 w 838200"/>
              <a:gd name="connsiteY6" fmla="*/ 580596 h 629338"/>
              <a:gd name="connsiteX7" fmla="*/ 740664 w 838200"/>
              <a:gd name="connsiteY7" fmla="*/ 496014 h 629338"/>
              <a:gd name="connsiteX8" fmla="*/ 28575 w 838200"/>
              <a:gd name="connsiteY8" fmla="*/ 496014 h 629338"/>
              <a:gd name="connsiteX9" fmla="*/ 0 w 838200"/>
              <a:gd name="connsiteY9" fmla="*/ 467439 h 629338"/>
              <a:gd name="connsiteX10" fmla="*/ 28575 w 838200"/>
              <a:gd name="connsiteY10" fmla="*/ 438864 h 629338"/>
              <a:gd name="connsiteX11" fmla="*/ 740664 w 838200"/>
              <a:gd name="connsiteY11" fmla="*/ 438864 h 629338"/>
              <a:gd name="connsiteX12" fmla="*/ 656082 w 838200"/>
              <a:gd name="connsiteY12" fmla="*/ 354282 h 629338"/>
              <a:gd name="connsiteX13" fmla="*/ 657508 w 838200"/>
              <a:gd name="connsiteY13" fmla="*/ 313896 h 629338"/>
              <a:gd name="connsiteX14" fmla="*/ 676988 w 838200"/>
              <a:gd name="connsiteY14" fmla="*/ 306226 h 629338"/>
              <a:gd name="connsiteX15" fmla="*/ 163646 w 838200"/>
              <a:gd name="connsiteY15" fmla="*/ 18 h 629338"/>
              <a:gd name="connsiteX16" fmla="*/ 183544 w 838200"/>
              <a:gd name="connsiteY16" fmla="*/ 9095 h 629338"/>
              <a:gd name="connsiteX17" fmla="*/ 182118 w 838200"/>
              <a:gd name="connsiteY17" fmla="*/ 49481 h 629338"/>
              <a:gd name="connsiteX18" fmla="*/ 97536 w 838200"/>
              <a:gd name="connsiteY18" fmla="*/ 134063 h 629338"/>
              <a:gd name="connsiteX19" fmla="*/ 809625 w 838200"/>
              <a:gd name="connsiteY19" fmla="*/ 134063 h 629338"/>
              <a:gd name="connsiteX20" fmla="*/ 838200 w 838200"/>
              <a:gd name="connsiteY20" fmla="*/ 162638 h 629338"/>
              <a:gd name="connsiteX21" fmla="*/ 809625 w 838200"/>
              <a:gd name="connsiteY21" fmla="*/ 191213 h 629338"/>
              <a:gd name="connsiteX22" fmla="*/ 97536 w 838200"/>
              <a:gd name="connsiteY22" fmla="*/ 191213 h 629338"/>
              <a:gd name="connsiteX23" fmla="*/ 182118 w 838200"/>
              <a:gd name="connsiteY23" fmla="*/ 275795 h 629338"/>
              <a:gd name="connsiteX24" fmla="*/ 182118 w 838200"/>
              <a:gd name="connsiteY24" fmla="*/ 316181 h 629338"/>
              <a:gd name="connsiteX25" fmla="*/ 141732 w 838200"/>
              <a:gd name="connsiteY25" fmla="*/ 316181 h 629338"/>
              <a:gd name="connsiteX26" fmla="*/ 8382 w 838200"/>
              <a:gd name="connsiteY26" fmla="*/ 182831 h 629338"/>
              <a:gd name="connsiteX27" fmla="*/ 8382 w 838200"/>
              <a:gd name="connsiteY27" fmla="*/ 142445 h 629338"/>
              <a:gd name="connsiteX28" fmla="*/ 141732 w 838200"/>
              <a:gd name="connsiteY28" fmla="*/ 9095 h 629338"/>
              <a:gd name="connsiteX29" fmla="*/ 143158 w 838200"/>
              <a:gd name="connsiteY29" fmla="*/ 7669 h 629338"/>
              <a:gd name="connsiteX30" fmla="*/ 163646 w 838200"/>
              <a:gd name="connsiteY30" fmla="*/ 18 h 629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38200" h="629338">
                <a:moveTo>
                  <a:pt x="676988" y="306226"/>
                </a:moveTo>
                <a:cubicBezTo>
                  <a:pt x="683985" y="306226"/>
                  <a:pt x="690981" y="308783"/>
                  <a:pt x="696468" y="313896"/>
                </a:cubicBezTo>
                <a:lnTo>
                  <a:pt x="829818" y="447246"/>
                </a:lnTo>
                <a:cubicBezTo>
                  <a:pt x="840960" y="458402"/>
                  <a:pt x="840960" y="476475"/>
                  <a:pt x="829818" y="487632"/>
                </a:cubicBezTo>
                <a:lnTo>
                  <a:pt x="696468" y="620982"/>
                </a:lnTo>
                <a:cubicBezTo>
                  <a:pt x="685311" y="632124"/>
                  <a:pt x="667239" y="632124"/>
                  <a:pt x="656082" y="620982"/>
                </a:cubicBezTo>
                <a:cubicBezTo>
                  <a:pt x="644940" y="609825"/>
                  <a:pt x="644940" y="591752"/>
                  <a:pt x="656082" y="580596"/>
                </a:cubicBezTo>
                <a:lnTo>
                  <a:pt x="740664" y="496014"/>
                </a:lnTo>
                <a:lnTo>
                  <a:pt x="28575" y="496014"/>
                </a:lnTo>
                <a:cubicBezTo>
                  <a:pt x="12794" y="496014"/>
                  <a:pt x="0" y="483220"/>
                  <a:pt x="0" y="467439"/>
                </a:cubicBezTo>
                <a:cubicBezTo>
                  <a:pt x="0" y="451657"/>
                  <a:pt x="12794" y="438864"/>
                  <a:pt x="28575" y="438864"/>
                </a:cubicBezTo>
                <a:lnTo>
                  <a:pt x="740664" y="438864"/>
                </a:lnTo>
                <a:lnTo>
                  <a:pt x="656082" y="354282"/>
                </a:lnTo>
                <a:cubicBezTo>
                  <a:pt x="645324" y="342735"/>
                  <a:pt x="645962" y="324654"/>
                  <a:pt x="657508" y="313896"/>
                </a:cubicBezTo>
                <a:cubicBezTo>
                  <a:pt x="662995" y="308783"/>
                  <a:pt x="669992" y="306226"/>
                  <a:pt x="676988" y="306226"/>
                </a:cubicBezTo>
                <a:close/>
                <a:moveTo>
                  <a:pt x="163646" y="18"/>
                </a:moveTo>
                <a:cubicBezTo>
                  <a:pt x="170955" y="276"/>
                  <a:pt x="178165" y="3322"/>
                  <a:pt x="183544" y="9095"/>
                </a:cubicBezTo>
                <a:cubicBezTo>
                  <a:pt x="194302" y="20641"/>
                  <a:pt x="193664" y="38723"/>
                  <a:pt x="182118" y="49481"/>
                </a:cubicBezTo>
                <a:lnTo>
                  <a:pt x="97536" y="134063"/>
                </a:lnTo>
                <a:lnTo>
                  <a:pt x="809625" y="134063"/>
                </a:lnTo>
                <a:cubicBezTo>
                  <a:pt x="825407" y="134063"/>
                  <a:pt x="838200" y="146856"/>
                  <a:pt x="838200" y="162638"/>
                </a:cubicBezTo>
                <a:cubicBezTo>
                  <a:pt x="838200" y="178420"/>
                  <a:pt x="825407" y="191213"/>
                  <a:pt x="809625" y="191213"/>
                </a:cubicBezTo>
                <a:lnTo>
                  <a:pt x="97536" y="191213"/>
                </a:lnTo>
                <a:lnTo>
                  <a:pt x="182118" y="275795"/>
                </a:lnTo>
                <a:cubicBezTo>
                  <a:pt x="193260" y="286952"/>
                  <a:pt x="193260" y="305024"/>
                  <a:pt x="182118" y="316181"/>
                </a:cubicBezTo>
                <a:cubicBezTo>
                  <a:pt x="170961" y="327323"/>
                  <a:pt x="152888" y="327323"/>
                  <a:pt x="141732" y="316181"/>
                </a:cubicBezTo>
                <a:lnTo>
                  <a:pt x="8382" y="182831"/>
                </a:lnTo>
                <a:cubicBezTo>
                  <a:pt x="-2761" y="171674"/>
                  <a:pt x="-2761" y="153602"/>
                  <a:pt x="8382" y="142445"/>
                </a:cubicBezTo>
                <a:lnTo>
                  <a:pt x="141732" y="9095"/>
                </a:lnTo>
                <a:cubicBezTo>
                  <a:pt x="142190" y="8604"/>
                  <a:pt x="142665" y="8127"/>
                  <a:pt x="143158" y="7669"/>
                </a:cubicBezTo>
                <a:cubicBezTo>
                  <a:pt x="148931" y="2290"/>
                  <a:pt x="156338" y="-240"/>
                  <a:pt x="163646" y="1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E1ED274-0385-D17A-20E4-D515F7697F55}"/>
              </a:ext>
            </a:extLst>
          </p:cNvPr>
          <p:cNvGrpSpPr/>
          <p:nvPr/>
        </p:nvGrpSpPr>
        <p:grpSpPr>
          <a:xfrm>
            <a:off x="3056636" y="5885370"/>
            <a:ext cx="308055" cy="308105"/>
            <a:chOff x="2851243" y="10780713"/>
            <a:chExt cx="5939428" cy="5940413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A4401D1-7BB5-D7FE-9EF6-2D6790548C62}"/>
                </a:ext>
              </a:extLst>
            </p:cNvPr>
            <p:cNvSpPr/>
            <p:nvPr/>
          </p:nvSpPr>
          <p:spPr>
            <a:xfrm>
              <a:off x="4266264" y="11911939"/>
              <a:ext cx="4522930" cy="4808694"/>
            </a:xfrm>
            <a:custGeom>
              <a:avLst/>
              <a:gdLst>
                <a:gd name="connsiteX0" fmla="*/ 218313 w 872871"/>
                <a:gd name="connsiteY0" fmla="*/ 764476 h 928020"/>
                <a:gd name="connsiteX1" fmla="*/ 218313 w 872871"/>
                <a:gd name="connsiteY1" fmla="*/ 655606 h 928020"/>
                <a:gd name="connsiteX2" fmla="*/ 218313 w 872871"/>
                <a:gd name="connsiteY2" fmla="*/ 655606 h 928020"/>
                <a:gd name="connsiteX3" fmla="*/ 272701 w 872871"/>
                <a:gd name="connsiteY3" fmla="*/ 655606 h 928020"/>
                <a:gd name="connsiteX4" fmla="*/ 272701 w 872871"/>
                <a:gd name="connsiteY4" fmla="*/ 600837 h 928020"/>
                <a:gd name="connsiteX5" fmla="*/ 218504 w 872871"/>
                <a:gd name="connsiteY5" fmla="*/ 600837 h 928020"/>
                <a:gd name="connsiteX6" fmla="*/ 218504 w 872871"/>
                <a:gd name="connsiteY6" fmla="*/ 546164 h 928020"/>
                <a:gd name="connsiteX7" fmla="*/ 327565 w 872871"/>
                <a:gd name="connsiteY7" fmla="*/ 546164 h 928020"/>
                <a:gd name="connsiteX8" fmla="*/ 327565 w 872871"/>
                <a:gd name="connsiteY8" fmla="*/ 491776 h 928020"/>
                <a:gd name="connsiteX9" fmla="*/ 382048 w 872871"/>
                <a:gd name="connsiteY9" fmla="*/ 491776 h 928020"/>
                <a:gd name="connsiteX10" fmla="*/ 382048 w 872871"/>
                <a:gd name="connsiteY10" fmla="*/ 545878 h 928020"/>
                <a:gd name="connsiteX11" fmla="*/ 436721 w 872871"/>
                <a:gd name="connsiteY11" fmla="*/ 545878 h 928020"/>
                <a:gd name="connsiteX12" fmla="*/ 436721 w 872871"/>
                <a:gd name="connsiteY12" fmla="*/ 436531 h 928020"/>
                <a:gd name="connsiteX13" fmla="*/ 600551 w 872871"/>
                <a:gd name="connsiteY13" fmla="*/ 436531 h 928020"/>
                <a:gd name="connsiteX14" fmla="*/ 600551 w 872871"/>
                <a:gd name="connsiteY14" fmla="*/ 490919 h 928020"/>
                <a:gd name="connsiteX15" fmla="*/ 654748 w 872871"/>
                <a:gd name="connsiteY15" fmla="*/ 490919 h 928020"/>
                <a:gd name="connsiteX16" fmla="*/ 654748 w 872871"/>
                <a:gd name="connsiteY16" fmla="*/ 436531 h 928020"/>
                <a:gd name="connsiteX17" fmla="*/ 600361 w 872871"/>
                <a:gd name="connsiteY17" fmla="*/ 436531 h 928020"/>
                <a:gd name="connsiteX18" fmla="*/ 600361 w 872871"/>
                <a:gd name="connsiteY18" fmla="*/ 381667 h 928020"/>
                <a:gd name="connsiteX19" fmla="*/ 491109 w 872871"/>
                <a:gd name="connsiteY19" fmla="*/ 381667 h 928020"/>
                <a:gd name="connsiteX20" fmla="*/ 491109 w 872871"/>
                <a:gd name="connsiteY20" fmla="*/ 273272 h 928020"/>
                <a:gd name="connsiteX21" fmla="*/ 327184 w 872871"/>
                <a:gd name="connsiteY21" fmla="*/ 273272 h 928020"/>
                <a:gd name="connsiteX22" fmla="*/ 327184 w 872871"/>
                <a:gd name="connsiteY22" fmla="*/ 327755 h 928020"/>
                <a:gd name="connsiteX23" fmla="*/ 218504 w 872871"/>
                <a:gd name="connsiteY23" fmla="*/ 327755 h 928020"/>
                <a:gd name="connsiteX24" fmla="*/ 218504 w 872871"/>
                <a:gd name="connsiteY24" fmla="*/ 437007 h 928020"/>
                <a:gd name="connsiteX25" fmla="*/ 272605 w 872871"/>
                <a:gd name="connsiteY25" fmla="*/ 437007 h 928020"/>
                <a:gd name="connsiteX26" fmla="*/ 272605 w 872871"/>
                <a:gd name="connsiteY26" fmla="*/ 491490 h 928020"/>
                <a:gd name="connsiteX27" fmla="*/ 218218 w 872871"/>
                <a:gd name="connsiteY27" fmla="*/ 491490 h 928020"/>
                <a:gd name="connsiteX28" fmla="*/ 218218 w 872871"/>
                <a:gd name="connsiteY28" fmla="*/ 546068 h 928020"/>
                <a:gd name="connsiteX29" fmla="*/ 163735 w 872871"/>
                <a:gd name="connsiteY29" fmla="*/ 546068 h 928020"/>
                <a:gd name="connsiteX30" fmla="*/ 163735 w 872871"/>
                <a:gd name="connsiteY30" fmla="*/ 491395 h 928020"/>
                <a:gd name="connsiteX31" fmla="*/ 0 w 872871"/>
                <a:gd name="connsiteY31" fmla="*/ 491395 h 928020"/>
                <a:gd name="connsiteX32" fmla="*/ 0 w 872871"/>
                <a:gd name="connsiteY32" fmla="*/ 437007 h 928020"/>
                <a:gd name="connsiteX33" fmla="*/ 163735 w 872871"/>
                <a:gd name="connsiteY33" fmla="*/ 437007 h 928020"/>
                <a:gd name="connsiteX34" fmla="*/ 163735 w 872871"/>
                <a:gd name="connsiteY34" fmla="*/ 0 h 928020"/>
                <a:gd name="connsiteX35" fmla="*/ 218504 w 872871"/>
                <a:gd name="connsiteY35" fmla="*/ 0 h 928020"/>
                <a:gd name="connsiteX36" fmla="*/ 218504 w 872871"/>
                <a:gd name="connsiteY36" fmla="*/ 0 h 928020"/>
                <a:gd name="connsiteX37" fmla="*/ 218504 w 872871"/>
                <a:gd name="connsiteY37" fmla="*/ 157734 h 928020"/>
                <a:gd name="connsiteX38" fmla="*/ 218504 w 872871"/>
                <a:gd name="connsiteY38" fmla="*/ 163640 h 928020"/>
                <a:gd name="connsiteX39" fmla="*/ 273082 w 872871"/>
                <a:gd name="connsiteY39" fmla="*/ 163640 h 928020"/>
                <a:gd name="connsiteX40" fmla="*/ 273082 w 872871"/>
                <a:gd name="connsiteY40" fmla="*/ 54769 h 928020"/>
                <a:gd name="connsiteX41" fmla="*/ 327470 w 872871"/>
                <a:gd name="connsiteY41" fmla="*/ 54769 h 928020"/>
                <a:gd name="connsiteX42" fmla="*/ 327470 w 872871"/>
                <a:gd name="connsiteY42" fmla="*/ 163830 h 928020"/>
                <a:gd name="connsiteX43" fmla="*/ 382334 w 872871"/>
                <a:gd name="connsiteY43" fmla="*/ 163830 h 928020"/>
                <a:gd name="connsiteX44" fmla="*/ 382334 w 872871"/>
                <a:gd name="connsiteY44" fmla="*/ 218218 h 928020"/>
                <a:gd name="connsiteX45" fmla="*/ 655320 w 872871"/>
                <a:gd name="connsiteY45" fmla="*/ 218218 h 928020"/>
                <a:gd name="connsiteX46" fmla="*/ 655320 w 872871"/>
                <a:gd name="connsiteY46" fmla="*/ 272701 h 928020"/>
                <a:gd name="connsiteX47" fmla="*/ 709994 w 872871"/>
                <a:gd name="connsiteY47" fmla="*/ 272701 h 928020"/>
                <a:gd name="connsiteX48" fmla="*/ 709994 w 872871"/>
                <a:gd name="connsiteY48" fmla="*/ 327660 h 928020"/>
                <a:gd name="connsiteX49" fmla="*/ 709994 w 872871"/>
                <a:gd name="connsiteY49" fmla="*/ 327660 h 928020"/>
                <a:gd name="connsiteX50" fmla="*/ 655606 w 872871"/>
                <a:gd name="connsiteY50" fmla="*/ 327660 h 928020"/>
                <a:gd name="connsiteX51" fmla="*/ 655606 w 872871"/>
                <a:gd name="connsiteY51" fmla="*/ 382429 h 928020"/>
                <a:gd name="connsiteX52" fmla="*/ 709803 w 872871"/>
                <a:gd name="connsiteY52" fmla="*/ 382429 h 928020"/>
                <a:gd name="connsiteX53" fmla="*/ 709803 w 872871"/>
                <a:gd name="connsiteY53" fmla="*/ 491776 h 928020"/>
                <a:gd name="connsiteX54" fmla="*/ 764572 w 872871"/>
                <a:gd name="connsiteY54" fmla="*/ 491776 h 928020"/>
                <a:gd name="connsiteX55" fmla="*/ 764572 w 872871"/>
                <a:gd name="connsiteY55" fmla="*/ 491776 h 928020"/>
                <a:gd name="connsiteX56" fmla="*/ 764572 w 872871"/>
                <a:gd name="connsiteY56" fmla="*/ 600932 h 928020"/>
                <a:gd name="connsiteX57" fmla="*/ 710375 w 872871"/>
                <a:gd name="connsiteY57" fmla="*/ 600932 h 928020"/>
                <a:gd name="connsiteX58" fmla="*/ 710375 w 872871"/>
                <a:gd name="connsiteY58" fmla="*/ 709898 h 928020"/>
                <a:gd name="connsiteX59" fmla="*/ 763810 w 872871"/>
                <a:gd name="connsiteY59" fmla="*/ 709898 h 928020"/>
                <a:gd name="connsiteX60" fmla="*/ 763810 w 872871"/>
                <a:gd name="connsiteY60" fmla="*/ 764476 h 928020"/>
                <a:gd name="connsiteX61" fmla="*/ 872871 w 872871"/>
                <a:gd name="connsiteY61" fmla="*/ 764476 h 928020"/>
                <a:gd name="connsiteX62" fmla="*/ 872871 w 872871"/>
                <a:gd name="connsiteY62" fmla="*/ 818959 h 928020"/>
                <a:gd name="connsiteX63" fmla="*/ 709803 w 872871"/>
                <a:gd name="connsiteY63" fmla="*/ 818959 h 928020"/>
                <a:gd name="connsiteX64" fmla="*/ 709803 w 872871"/>
                <a:gd name="connsiteY64" fmla="*/ 928021 h 928020"/>
                <a:gd name="connsiteX65" fmla="*/ 655320 w 872871"/>
                <a:gd name="connsiteY65" fmla="*/ 928021 h 928020"/>
                <a:gd name="connsiteX66" fmla="*/ 655320 w 872871"/>
                <a:gd name="connsiteY66" fmla="*/ 873538 h 928020"/>
                <a:gd name="connsiteX67" fmla="*/ 545782 w 872871"/>
                <a:gd name="connsiteY67" fmla="*/ 873538 h 928020"/>
                <a:gd name="connsiteX68" fmla="*/ 545782 w 872871"/>
                <a:gd name="connsiteY68" fmla="*/ 873538 h 928020"/>
                <a:gd name="connsiteX69" fmla="*/ 545782 w 872871"/>
                <a:gd name="connsiteY69" fmla="*/ 818959 h 928020"/>
                <a:gd name="connsiteX70" fmla="*/ 491300 w 872871"/>
                <a:gd name="connsiteY70" fmla="*/ 818959 h 928020"/>
                <a:gd name="connsiteX71" fmla="*/ 491300 w 872871"/>
                <a:gd name="connsiteY71" fmla="*/ 764476 h 928020"/>
                <a:gd name="connsiteX72" fmla="*/ 599980 w 872871"/>
                <a:gd name="connsiteY72" fmla="*/ 764476 h 928020"/>
                <a:gd name="connsiteX73" fmla="*/ 599980 w 872871"/>
                <a:gd name="connsiteY73" fmla="*/ 709898 h 928020"/>
                <a:gd name="connsiteX74" fmla="*/ 327660 w 872871"/>
                <a:gd name="connsiteY74" fmla="*/ 709898 h 928020"/>
                <a:gd name="connsiteX75" fmla="*/ 327660 w 872871"/>
                <a:gd name="connsiteY75" fmla="*/ 764191 h 928020"/>
                <a:gd name="connsiteX76" fmla="*/ 218313 w 872871"/>
                <a:gd name="connsiteY76" fmla="*/ 764191 h 928020"/>
                <a:gd name="connsiteX77" fmla="*/ 545782 w 872871"/>
                <a:gd name="connsiteY77" fmla="*/ 600647 h 928020"/>
                <a:gd name="connsiteX78" fmla="*/ 545782 w 872871"/>
                <a:gd name="connsiteY78" fmla="*/ 546354 h 928020"/>
                <a:gd name="connsiteX79" fmla="*/ 491585 w 872871"/>
                <a:gd name="connsiteY79" fmla="*/ 546354 h 928020"/>
                <a:gd name="connsiteX80" fmla="*/ 491585 w 872871"/>
                <a:gd name="connsiteY80" fmla="*/ 600551 h 928020"/>
                <a:gd name="connsiteX81" fmla="*/ 545973 w 872871"/>
                <a:gd name="connsiteY81" fmla="*/ 600551 h 928020"/>
                <a:gd name="connsiteX82" fmla="*/ 545973 w 872871"/>
                <a:gd name="connsiteY82" fmla="*/ 654939 h 928020"/>
                <a:gd name="connsiteX83" fmla="*/ 654748 w 872871"/>
                <a:gd name="connsiteY83" fmla="*/ 654939 h 928020"/>
                <a:gd name="connsiteX84" fmla="*/ 654748 w 872871"/>
                <a:gd name="connsiteY84" fmla="*/ 600647 h 928020"/>
                <a:gd name="connsiteX85" fmla="*/ 436436 w 872871"/>
                <a:gd name="connsiteY85" fmla="*/ 600647 h 928020"/>
                <a:gd name="connsiteX86" fmla="*/ 382810 w 872871"/>
                <a:gd name="connsiteY86" fmla="*/ 600647 h 928020"/>
                <a:gd name="connsiteX87" fmla="*/ 382810 w 872871"/>
                <a:gd name="connsiteY87" fmla="*/ 654653 h 928020"/>
                <a:gd name="connsiteX88" fmla="*/ 436817 w 872871"/>
                <a:gd name="connsiteY88" fmla="*/ 654653 h 928020"/>
                <a:gd name="connsiteX89" fmla="*/ 546068 w 872871"/>
                <a:gd name="connsiteY89" fmla="*/ 326993 h 928020"/>
                <a:gd name="connsiteX90" fmla="*/ 600075 w 872871"/>
                <a:gd name="connsiteY90" fmla="*/ 326993 h 928020"/>
                <a:gd name="connsiteX91" fmla="*/ 600075 w 872871"/>
                <a:gd name="connsiteY91" fmla="*/ 272891 h 928020"/>
                <a:gd name="connsiteX92" fmla="*/ 546068 w 872871"/>
                <a:gd name="connsiteY92" fmla="*/ 272891 h 928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872871" h="928020">
                  <a:moveTo>
                    <a:pt x="218313" y="764476"/>
                  </a:moveTo>
                  <a:lnTo>
                    <a:pt x="218313" y="655606"/>
                  </a:lnTo>
                  <a:lnTo>
                    <a:pt x="218313" y="655606"/>
                  </a:lnTo>
                  <a:lnTo>
                    <a:pt x="272701" y="655606"/>
                  </a:lnTo>
                  <a:lnTo>
                    <a:pt x="272701" y="600837"/>
                  </a:lnTo>
                  <a:lnTo>
                    <a:pt x="218504" y="600837"/>
                  </a:lnTo>
                  <a:cubicBezTo>
                    <a:pt x="218504" y="582644"/>
                    <a:pt x="218504" y="564356"/>
                    <a:pt x="218504" y="546164"/>
                  </a:cubicBezTo>
                  <a:lnTo>
                    <a:pt x="327565" y="546164"/>
                  </a:lnTo>
                  <a:lnTo>
                    <a:pt x="327565" y="491776"/>
                  </a:lnTo>
                  <a:lnTo>
                    <a:pt x="382048" y="491776"/>
                  </a:lnTo>
                  <a:lnTo>
                    <a:pt x="382048" y="545878"/>
                  </a:lnTo>
                  <a:lnTo>
                    <a:pt x="436721" y="545878"/>
                  </a:lnTo>
                  <a:lnTo>
                    <a:pt x="436721" y="436531"/>
                  </a:lnTo>
                  <a:lnTo>
                    <a:pt x="600551" y="436531"/>
                  </a:lnTo>
                  <a:lnTo>
                    <a:pt x="600551" y="490919"/>
                  </a:lnTo>
                  <a:lnTo>
                    <a:pt x="654748" y="490919"/>
                  </a:lnTo>
                  <a:lnTo>
                    <a:pt x="654748" y="436531"/>
                  </a:lnTo>
                  <a:lnTo>
                    <a:pt x="600361" y="436531"/>
                  </a:lnTo>
                  <a:lnTo>
                    <a:pt x="600361" y="381667"/>
                  </a:lnTo>
                  <a:lnTo>
                    <a:pt x="491109" y="381667"/>
                  </a:lnTo>
                  <a:lnTo>
                    <a:pt x="491109" y="273272"/>
                  </a:lnTo>
                  <a:lnTo>
                    <a:pt x="327184" y="273272"/>
                  </a:lnTo>
                  <a:lnTo>
                    <a:pt x="327184" y="327755"/>
                  </a:lnTo>
                  <a:lnTo>
                    <a:pt x="218504" y="327755"/>
                  </a:lnTo>
                  <a:lnTo>
                    <a:pt x="218504" y="437007"/>
                  </a:lnTo>
                  <a:lnTo>
                    <a:pt x="272605" y="437007"/>
                  </a:lnTo>
                  <a:lnTo>
                    <a:pt x="272605" y="491490"/>
                  </a:lnTo>
                  <a:lnTo>
                    <a:pt x="218218" y="491490"/>
                  </a:lnTo>
                  <a:lnTo>
                    <a:pt x="218218" y="546068"/>
                  </a:lnTo>
                  <a:lnTo>
                    <a:pt x="163735" y="546068"/>
                  </a:lnTo>
                  <a:lnTo>
                    <a:pt x="163735" y="491395"/>
                  </a:lnTo>
                  <a:lnTo>
                    <a:pt x="0" y="491395"/>
                  </a:lnTo>
                  <a:lnTo>
                    <a:pt x="0" y="437007"/>
                  </a:lnTo>
                  <a:lnTo>
                    <a:pt x="163735" y="437007"/>
                  </a:lnTo>
                  <a:lnTo>
                    <a:pt x="163735" y="0"/>
                  </a:lnTo>
                  <a:lnTo>
                    <a:pt x="218504" y="0"/>
                  </a:lnTo>
                  <a:lnTo>
                    <a:pt x="218504" y="0"/>
                  </a:lnTo>
                  <a:cubicBezTo>
                    <a:pt x="218504" y="52578"/>
                    <a:pt x="218504" y="105156"/>
                    <a:pt x="218504" y="157734"/>
                  </a:cubicBezTo>
                  <a:lnTo>
                    <a:pt x="218504" y="163640"/>
                  </a:lnTo>
                  <a:lnTo>
                    <a:pt x="273082" y="163640"/>
                  </a:lnTo>
                  <a:lnTo>
                    <a:pt x="273082" y="54769"/>
                  </a:lnTo>
                  <a:lnTo>
                    <a:pt x="327470" y="54769"/>
                  </a:lnTo>
                  <a:lnTo>
                    <a:pt x="327470" y="163830"/>
                  </a:lnTo>
                  <a:lnTo>
                    <a:pt x="382334" y="163830"/>
                  </a:lnTo>
                  <a:lnTo>
                    <a:pt x="382334" y="218218"/>
                  </a:lnTo>
                  <a:lnTo>
                    <a:pt x="655320" y="218218"/>
                  </a:lnTo>
                  <a:lnTo>
                    <a:pt x="655320" y="272701"/>
                  </a:lnTo>
                  <a:lnTo>
                    <a:pt x="709994" y="272701"/>
                  </a:lnTo>
                  <a:lnTo>
                    <a:pt x="709994" y="327660"/>
                  </a:lnTo>
                  <a:lnTo>
                    <a:pt x="709994" y="327660"/>
                  </a:lnTo>
                  <a:lnTo>
                    <a:pt x="655606" y="327660"/>
                  </a:lnTo>
                  <a:lnTo>
                    <a:pt x="655606" y="382429"/>
                  </a:lnTo>
                  <a:lnTo>
                    <a:pt x="709803" y="382429"/>
                  </a:lnTo>
                  <a:lnTo>
                    <a:pt x="709803" y="491776"/>
                  </a:lnTo>
                  <a:lnTo>
                    <a:pt x="764572" y="491776"/>
                  </a:lnTo>
                  <a:lnTo>
                    <a:pt x="764572" y="491776"/>
                  </a:lnTo>
                  <a:lnTo>
                    <a:pt x="764572" y="600932"/>
                  </a:lnTo>
                  <a:lnTo>
                    <a:pt x="710375" y="600932"/>
                  </a:lnTo>
                  <a:lnTo>
                    <a:pt x="710375" y="709898"/>
                  </a:lnTo>
                  <a:lnTo>
                    <a:pt x="763810" y="709898"/>
                  </a:lnTo>
                  <a:lnTo>
                    <a:pt x="763810" y="764476"/>
                  </a:lnTo>
                  <a:lnTo>
                    <a:pt x="872871" y="764476"/>
                  </a:lnTo>
                  <a:lnTo>
                    <a:pt x="872871" y="818959"/>
                  </a:lnTo>
                  <a:lnTo>
                    <a:pt x="709803" y="818959"/>
                  </a:lnTo>
                  <a:lnTo>
                    <a:pt x="709803" y="928021"/>
                  </a:lnTo>
                  <a:lnTo>
                    <a:pt x="655320" y="928021"/>
                  </a:lnTo>
                  <a:lnTo>
                    <a:pt x="655320" y="873538"/>
                  </a:lnTo>
                  <a:lnTo>
                    <a:pt x="545782" y="873538"/>
                  </a:lnTo>
                  <a:lnTo>
                    <a:pt x="545782" y="873538"/>
                  </a:lnTo>
                  <a:lnTo>
                    <a:pt x="545782" y="818959"/>
                  </a:lnTo>
                  <a:lnTo>
                    <a:pt x="491300" y="818959"/>
                  </a:lnTo>
                  <a:lnTo>
                    <a:pt x="491300" y="764476"/>
                  </a:lnTo>
                  <a:lnTo>
                    <a:pt x="599980" y="764476"/>
                  </a:lnTo>
                  <a:lnTo>
                    <a:pt x="599980" y="709898"/>
                  </a:lnTo>
                  <a:lnTo>
                    <a:pt x="327660" y="709898"/>
                  </a:lnTo>
                  <a:lnTo>
                    <a:pt x="327660" y="764191"/>
                  </a:lnTo>
                  <a:lnTo>
                    <a:pt x="218313" y="764191"/>
                  </a:lnTo>
                  <a:close/>
                  <a:moveTo>
                    <a:pt x="545782" y="600647"/>
                  </a:moveTo>
                  <a:lnTo>
                    <a:pt x="545782" y="546354"/>
                  </a:lnTo>
                  <a:lnTo>
                    <a:pt x="491585" y="546354"/>
                  </a:lnTo>
                  <a:lnTo>
                    <a:pt x="491585" y="600551"/>
                  </a:lnTo>
                  <a:lnTo>
                    <a:pt x="545973" y="600551"/>
                  </a:lnTo>
                  <a:lnTo>
                    <a:pt x="545973" y="654939"/>
                  </a:lnTo>
                  <a:lnTo>
                    <a:pt x="654748" y="654939"/>
                  </a:lnTo>
                  <a:lnTo>
                    <a:pt x="654748" y="600647"/>
                  </a:lnTo>
                  <a:close/>
                  <a:moveTo>
                    <a:pt x="436436" y="600647"/>
                  </a:moveTo>
                  <a:lnTo>
                    <a:pt x="382810" y="600647"/>
                  </a:lnTo>
                  <a:lnTo>
                    <a:pt x="382810" y="654653"/>
                  </a:lnTo>
                  <a:lnTo>
                    <a:pt x="436817" y="654653"/>
                  </a:lnTo>
                  <a:close/>
                  <a:moveTo>
                    <a:pt x="546068" y="326993"/>
                  </a:moveTo>
                  <a:lnTo>
                    <a:pt x="600075" y="326993"/>
                  </a:lnTo>
                  <a:lnTo>
                    <a:pt x="600075" y="272891"/>
                  </a:lnTo>
                  <a:lnTo>
                    <a:pt x="546068" y="27289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DBC3D01-393B-D3C1-A96F-1A34A13B9DB6}"/>
                </a:ext>
              </a:extLst>
            </p:cNvPr>
            <p:cNvSpPr/>
            <p:nvPr/>
          </p:nvSpPr>
          <p:spPr>
            <a:xfrm>
              <a:off x="2851243" y="10780713"/>
              <a:ext cx="1977667" cy="1978165"/>
            </a:xfrm>
            <a:custGeom>
              <a:avLst/>
              <a:gdLst>
                <a:gd name="connsiteX0" fmla="*/ 0 w 381666"/>
                <a:gd name="connsiteY0" fmla="*/ 381762 h 381762"/>
                <a:gd name="connsiteX1" fmla="*/ 0 w 381666"/>
                <a:gd name="connsiteY1" fmla="*/ 0 h 381762"/>
                <a:gd name="connsiteX2" fmla="*/ 381667 w 381666"/>
                <a:gd name="connsiteY2" fmla="*/ 0 h 381762"/>
                <a:gd name="connsiteX3" fmla="*/ 381667 w 381666"/>
                <a:gd name="connsiteY3" fmla="*/ 381762 h 381762"/>
                <a:gd name="connsiteX4" fmla="*/ 54769 w 381666"/>
                <a:gd name="connsiteY4" fmla="*/ 54769 h 381762"/>
                <a:gd name="connsiteX5" fmla="*/ 54769 w 381666"/>
                <a:gd name="connsiteY5" fmla="*/ 327279 h 381762"/>
                <a:gd name="connsiteX6" fmla="*/ 327184 w 381666"/>
                <a:gd name="connsiteY6" fmla="*/ 327279 h 381762"/>
                <a:gd name="connsiteX7" fmla="*/ 327184 w 381666"/>
                <a:gd name="connsiteY7" fmla="*/ 54769 h 38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666" h="381762">
                  <a:moveTo>
                    <a:pt x="0" y="381762"/>
                  </a:moveTo>
                  <a:lnTo>
                    <a:pt x="0" y="0"/>
                  </a:lnTo>
                  <a:lnTo>
                    <a:pt x="381667" y="0"/>
                  </a:lnTo>
                  <a:lnTo>
                    <a:pt x="381667" y="381762"/>
                  </a:lnTo>
                  <a:close/>
                  <a:moveTo>
                    <a:pt x="54769" y="54769"/>
                  </a:moveTo>
                  <a:lnTo>
                    <a:pt x="54769" y="327279"/>
                  </a:lnTo>
                  <a:lnTo>
                    <a:pt x="327184" y="327279"/>
                  </a:lnTo>
                  <a:lnTo>
                    <a:pt x="327184" y="547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61B9E95-415B-DF21-1483-664D3AC411EE}"/>
                </a:ext>
              </a:extLst>
            </p:cNvPr>
            <p:cNvSpPr/>
            <p:nvPr/>
          </p:nvSpPr>
          <p:spPr>
            <a:xfrm>
              <a:off x="6813003" y="10781698"/>
              <a:ext cx="1977667" cy="1977668"/>
            </a:xfrm>
            <a:custGeom>
              <a:avLst/>
              <a:gdLst>
                <a:gd name="connsiteX0" fmla="*/ 381667 w 381666"/>
                <a:gd name="connsiteY0" fmla="*/ 381667 h 381666"/>
                <a:gd name="connsiteX1" fmla="*/ 0 w 381666"/>
                <a:gd name="connsiteY1" fmla="*/ 381667 h 381666"/>
                <a:gd name="connsiteX2" fmla="*/ 0 w 381666"/>
                <a:gd name="connsiteY2" fmla="*/ 0 h 381666"/>
                <a:gd name="connsiteX3" fmla="*/ 381667 w 381666"/>
                <a:gd name="connsiteY3" fmla="*/ 0 h 381666"/>
                <a:gd name="connsiteX4" fmla="*/ 327184 w 381666"/>
                <a:gd name="connsiteY4" fmla="*/ 54578 h 381666"/>
                <a:gd name="connsiteX5" fmla="*/ 54769 w 381666"/>
                <a:gd name="connsiteY5" fmla="*/ 54578 h 381666"/>
                <a:gd name="connsiteX6" fmla="*/ 54769 w 381666"/>
                <a:gd name="connsiteY6" fmla="*/ 326993 h 381666"/>
                <a:gd name="connsiteX7" fmla="*/ 327184 w 381666"/>
                <a:gd name="connsiteY7" fmla="*/ 326993 h 38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666" h="381666">
                  <a:moveTo>
                    <a:pt x="381667" y="381667"/>
                  </a:moveTo>
                  <a:lnTo>
                    <a:pt x="0" y="381667"/>
                  </a:lnTo>
                  <a:lnTo>
                    <a:pt x="0" y="0"/>
                  </a:lnTo>
                  <a:lnTo>
                    <a:pt x="381667" y="0"/>
                  </a:lnTo>
                  <a:close/>
                  <a:moveTo>
                    <a:pt x="327184" y="54578"/>
                  </a:moveTo>
                  <a:lnTo>
                    <a:pt x="54769" y="54578"/>
                  </a:lnTo>
                  <a:lnTo>
                    <a:pt x="54769" y="326993"/>
                  </a:lnTo>
                  <a:lnTo>
                    <a:pt x="327184" y="32699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CDE9215-FF45-7010-0F41-D9655CB7C039}"/>
                </a:ext>
              </a:extLst>
            </p:cNvPr>
            <p:cNvSpPr/>
            <p:nvPr/>
          </p:nvSpPr>
          <p:spPr>
            <a:xfrm>
              <a:off x="2851735" y="14741976"/>
              <a:ext cx="1978165" cy="1978160"/>
            </a:xfrm>
            <a:custGeom>
              <a:avLst/>
              <a:gdLst>
                <a:gd name="connsiteX0" fmla="*/ 0 w 381762"/>
                <a:gd name="connsiteY0" fmla="*/ 0 h 381761"/>
                <a:gd name="connsiteX1" fmla="*/ 381762 w 381762"/>
                <a:gd name="connsiteY1" fmla="*/ 0 h 381761"/>
                <a:gd name="connsiteX2" fmla="*/ 381762 w 381762"/>
                <a:gd name="connsiteY2" fmla="*/ 381762 h 381761"/>
                <a:gd name="connsiteX3" fmla="*/ 0 w 381762"/>
                <a:gd name="connsiteY3" fmla="*/ 381762 h 381761"/>
                <a:gd name="connsiteX4" fmla="*/ 327184 w 381762"/>
                <a:gd name="connsiteY4" fmla="*/ 54769 h 381761"/>
                <a:gd name="connsiteX5" fmla="*/ 54674 w 381762"/>
                <a:gd name="connsiteY5" fmla="*/ 54769 h 381761"/>
                <a:gd name="connsiteX6" fmla="*/ 54674 w 381762"/>
                <a:gd name="connsiteY6" fmla="*/ 327279 h 381761"/>
                <a:gd name="connsiteX7" fmla="*/ 327184 w 381762"/>
                <a:gd name="connsiteY7" fmla="*/ 327279 h 381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762" h="381761">
                  <a:moveTo>
                    <a:pt x="0" y="0"/>
                  </a:moveTo>
                  <a:lnTo>
                    <a:pt x="381762" y="0"/>
                  </a:lnTo>
                  <a:lnTo>
                    <a:pt x="381762" y="381762"/>
                  </a:lnTo>
                  <a:lnTo>
                    <a:pt x="0" y="381762"/>
                  </a:lnTo>
                  <a:close/>
                  <a:moveTo>
                    <a:pt x="327184" y="54769"/>
                  </a:moveTo>
                  <a:lnTo>
                    <a:pt x="54674" y="54769"/>
                  </a:lnTo>
                  <a:lnTo>
                    <a:pt x="54674" y="327279"/>
                  </a:lnTo>
                  <a:lnTo>
                    <a:pt x="327184" y="3272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03DE6C-5262-7233-CA11-6AD56111EB37}"/>
                </a:ext>
              </a:extLst>
            </p:cNvPr>
            <p:cNvSpPr/>
            <p:nvPr/>
          </p:nvSpPr>
          <p:spPr>
            <a:xfrm>
              <a:off x="5114685" y="10781205"/>
              <a:ext cx="1415016" cy="1411565"/>
            </a:xfrm>
            <a:custGeom>
              <a:avLst/>
              <a:gdLst>
                <a:gd name="connsiteX0" fmla="*/ 54483 w 273081"/>
                <a:gd name="connsiteY0" fmla="*/ 218218 h 272415"/>
                <a:gd name="connsiteX1" fmla="*/ 54483 w 273081"/>
                <a:gd name="connsiteY1" fmla="*/ 108966 h 272415"/>
                <a:gd name="connsiteX2" fmla="*/ 0 w 273081"/>
                <a:gd name="connsiteY2" fmla="*/ 108966 h 272415"/>
                <a:gd name="connsiteX3" fmla="*/ 0 w 273081"/>
                <a:gd name="connsiteY3" fmla="*/ 0 h 272415"/>
                <a:gd name="connsiteX4" fmla="*/ 272510 w 273081"/>
                <a:gd name="connsiteY4" fmla="*/ 0 h 272415"/>
                <a:gd name="connsiteX5" fmla="*/ 272510 w 273081"/>
                <a:gd name="connsiteY5" fmla="*/ 108775 h 272415"/>
                <a:gd name="connsiteX6" fmla="*/ 219075 w 273081"/>
                <a:gd name="connsiteY6" fmla="*/ 108775 h 272415"/>
                <a:gd name="connsiteX7" fmla="*/ 219075 w 273081"/>
                <a:gd name="connsiteY7" fmla="*/ 163449 h 272415"/>
                <a:gd name="connsiteX8" fmla="*/ 273082 w 273081"/>
                <a:gd name="connsiteY8" fmla="*/ 163449 h 272415"/>
                <a:gd name="connsiteX9" fmla="*/ 273082 w 273081"/>
                <a:gd name="connsiteY9" fmla="*/ 272415 h 272415"/>
                <a:gd name="connsiteX10" fmla="*/ 218694 w 273081"/>
                <a:gd name="connsiteY10" fmla="*/ 272415 h 272415"/>
                <a:gd name="connsiteX11" fmla="*/ 218694 w 273081"/>
                <a:gd name="connsiteY11" fmla="*/ 218218 h 272415"/>
                <a:gd name="connsiteX12" fmla="*/ 163830 w 273081"/>
                <a:gd name="connsiteY12" fmla="*/ 218218 h 272415"/>
                <a:gd name="connsiteX13" fmla="*/ 163830 w 273081"/>
                <a:gd name="connsiteY13" fmla="*/ 163735 h 272415"/>
                <a:gd name="connsiteX14" fmla="*/ 109347 w 273081"/>
                <a:gd name="connsiteY14" fmla="*/ 163735 h 272415"/>
                <a:gd name="connsiteX15" fmla="*/ 109347 w 273081"/>
                <a:gd name="connsiteY15" fmla="*/ 218027 h 272415"/>
                <a:gd name="connsiteX16" fmla="*/ 54388 w 273081"/>
                <a:gd name="connsiteY16" fmla="*/ 218027 h 272415"/>
                <a:gd name="connsiteX17" fmla="*/ 109252 w 273081"/>
                <a:gd name="connsiteY17" fmla="*/ 108585 h 272415"/>
                <a:gd name="connsiteX18" fmla="*/ 163354 w 273081"/>
                <a:gd name="connsiteY18" fmla="*/ 108585 h 272415"/>
                <a:gd name="connsiteX19" fmla="*/ 163354 w 273081"/>
                <a:gd name="connsiteY19" fmla="*/ 54674 h 272415"/>
                <a:gd name="connsiteX20" fmla="*/ 109252 w 273081"/>
                <a:gd name="connsiteY20" fmla="*/ 54674 h 272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3081" h="272415">
                  <a:moveTo>
                    <a:pt x="54483" y="218218"/>
                  </a:moveTo>
                  <a:lnTo>
                    <a:pt x="54483" y="108966"/>
                  </a:lnTo>
                  <a:lnTo>
                    <a:pt x="0" y="108966"/>
                  </a:lnTo>
                  <a:lnTo>
                    <a:pt x="0" y="0"/>
                  </a:lnTo>
                  <a:lnTo>
                    <a:pt x="272510" y="0"/>
                  </a:lnTo>
                  <a:lnTo>
                    <a:pt x="272510" y="108775"/>
                  </a:lnTo>
                  <a:lnTo>
                    <a:pt x="219075" y="108775"/>
                  </a:lnTo>
                  <a:lnTo>
                    <a:pt x="219075" y="163449"/>
                  </a:lnTo>
                  <a:lnTo>
                    <a:pt x="273082" y="163449"/>
                  </a:lnTo>
                  <a:lnTo>
                    <a:pt x="273082" y="272415"/>
                  </a:lnTo>
                  <a:lnTo>
                    <a:pt x="218694" y="272415"/>
                  </a:lnTo>
                  <a:lnTo>
                    <a:pt x="218694" y="218218"/>
                  </a:lnTo>
                  <a:lnTo>
                    <a:pt x="163830" y="218218"/>
                  </a:lnTo>
                  <a:lnTo>
                    <a:pt x="163830" y="163735"/>
                  </a:lnTo>
                  <a:lnTo>
                    <a:pt x="109347" y="163735"/>
                  </a:lnTo>
                  <a:lnTo>
                    <a:pt x="109347" y="218027"/>
                  </a:lnTo>
                  <a:lnTo>
                    <a:pt x="54388" y="218027"/>
                  </a:lnTo>
                  <a:close/>
                  <a:moveTo>
                    <a:pt x="109252" y="108585"/>
                  </a:moveTo>
                  <a:lnTo>
                    <a:pt x="163354" y="108585"/>
                  </a:lnTo>
                  <a:lnTo>
                    <a:pt x="163354" y="54674"/>
                  </a:lnTo>
                  <a:lnTo>
                    <a:pt x="109252" y="546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F2AE38F-B6E3-B5A9-CD23-FFF33A3E4012}"/>
                </a:ext>
              </a:extLst>
            </p:cNvPr>
            <p:cNvSpPr/>
            <p:nvPr/>
          </p:nvSpPr>
          <p:spPr>
            <a:xfrm>
              <a:off x="2852233" y="13325971"/>
              <a:ext cx="1977667" cy="1130729"/>
            </a:xfrm>
            <a:custGeom>
              <a:avLst/>
              <a:gdLst>
                <a:gd name="connsiteX0" fmla="*/ 272605 w 381666"/>
                <a:gd name="connsiteY0" fmla="*/ 0 h 218217"/>
                <a:gd name="connsiteX1" fmla="*/ 272605 w 381666"/>
                <a:gd name="connsiteY1" fmla="*/ 54578 h 218217"/>
                <a:gd name="connsiteX2" fmla="*/ 381667 w 381666"/>
                <a:gd name="connsiteY2" fmla="*/ 54578 h 218217"/>
                <a:gd name="connsiteX3" fmla="*/ 381667 w 381666"/>
                <a:gd name="connsiteY3" fmla="*/ 109061 h 218217"/>
                <a:gd name="connsiteX4" fmla="*/ 218122 w 381666"/>
                <a:gd name="connsiteY4" fmla="*/ 109061 h 218217"/>
                <a:gd name="connsiteX5" fmla="*/ 218122 w 381666"/>
                <a:gd name="connsiteY5" fmla="*/ 218218 h 218217"/>
                <a:gd name="connsiteX6" fmla="*/ 0 w 381666"/>
                <a:gd name="connsiteY6" fmla="*/ 218218 h 218217"/>
                <a:gd name="connsiteX7" fmla="*/ 0 w 381666"/>
                <a:gd name="connsiteY7" fmla="*/ 109633 h 218217"/>
                <a:gd name="connsiteX8" fmla="*/ 54007 w 381666"/>
                <a:gd name="connsiteY8" fmla="*/ 109633 h 218217"/>
                <a:gd name="connsiteX9" fmla="*/ 54007 w 381666"/>
                <a:gd name="connsiteY9" fmla="*/ 163639 h 218217"/>
                <a:gd name="connsiteX10" fmla="*/ 163544 w 381666"/>
                <a:gd name="connsiteY10" fmla="*/ 163639 h 218217"/>
                <a:gd name="connsiteX11" fmla="*/ 163544 w 381666"/>
                <a:gd name="connsiteY11" fmla="*/ 0 h 218217"/>
                <a:gd name="connsiteX12" fmla="*/ 272701 w 381666"/>
                <a:gd name="connsiteY12" fmla="*/ 0 h 218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666" h="218217">
                  <a:moveTo>
                    <a:pt x="272605" y="0"/>
                  </a:moveTo>
                  <a:lnTo>
                    <a:pt x="272605" y="54578"/>
                  </a:lnTo>
                  <a:lnTo>
                    <a:pt x="381667" y="54578"/>
                  </a:lnTo>
                  <a:lnTo>
                    <a:pt x="381667" y="109061"/>
                  </a:lnTo>
                  <a:lnTo>
                    <a:pt x="218122" y="109061"/>
                  </a:lnTo>
                  <a:lnTo>
                    <a:pt x="218122" y="218218"/>
                  </a:lnTo>
                  <a:lnTo>
                    <a:pt x="0" y="218218"/>
                  </a:lnTo>
                  <a:lnTo>
                    <a:pt x="0" y="109633"/>
                  </a:lnTo>
                  <a:lnTo>
                    <a:pt x="54007" y="109633"/>
                  </a:lnTo>
                  <a:lnTo>
                    <a:pt x="54007" y="163639"/>
                  </a:lnTo>
                  <a:lnTo>
                    <a:pt x="163544" y="163639"/>
                  </a:lnTo>
                  <a:lnTo>
                    <a:pt x="163544" y="0"/>
                  </a:lnTo>
                  <a:lnTo>
                    <a:pt x="27270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46D8E4-2064-161D-7485-1AA981DA52D0}"/>
                </a:ext>
              </a:extLst>
            </p:cNvPr>
            <p:cNvSpPr/>
            <p:nvPr/>
          </p:nvSpPr>
          <p:spPr>
            <a:xfrm>
              <a:off x="5114685" y="15872710"/>
              <a:ext cx="846441" cy="847923"/>
            </a:xfrm>
            <a:custGeom>
              <a:avLst/>
              <a:gdLst>
                <a:gd name="connsiteX0" fmla="*/ 54388 w 163353"/>
                <a:gd name="connsiteY0" fmla="*/ 0 h 163639"/>
                <a:gd name="connsiteX1" fmla="*/ 54388 w 163353"/>
                <a:gd name="connsiteY1" fmla="*/ 54578 h 163639"/>
                <a:gd name="connsiteX2" fmla="*/ 108966 w 163353"/>
                <a:gd name="connsiteY2" fmla="*/ 54578 h 163639"/>
                <a:gd name="connsiteX3" fmla="*/ 108966 w 163353"/>
                <a:gd name="connsiteY3" fmla="*/ 109061 h 163639"/>
                <a:gd name="connsiteX4" fmla="*/ 163354 w 163353"/>
                <a:gd name="connsiteY4" fmla="*/ 109061 h 163639"/>
                <a:gd name="connsiteX5" fmla="*/ 163354 w 163353"/>
                <a:gd name="connsiteY5" fmla="*/ 163639 h 163639"/>
                <a:gd name="connsiteX6" fmla="*/ 0 w 163353"/>
                <a:gd name="connsiteY6" fmla="*/ 163639 h 163639"/>
                <a:gd name="connsiteX7" fmla="*/ 0 w 163353"/>
                <a:gd name="connsiteY7" fmla="*/ 95 h 163639"/>
                <a:gd name="connsiteX8" fmla="*/ 54197 w 163353"/>
                <a:gd name="connsiteY8" fmla="*/ 95 h 16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353" h="163639">
                  <a:moveTo>
                    <a:pt x="54388" y="0"/>
                  </a:moveTo>
                  <a:lnTo>
                    <a:pt x="54388" y="54578"/>
                  </a:lnTo>
                  <a:lnTo>
                    <a:pt x="108966" y="54578"/>
                  </a:lnTo>
                  <a:lnTo>
                    <a:pt x="108966" y="109061"/>
                  </a:lnTo>
                  <a:lnTo>
                    <a:pt x="163354" y="109061"/>
                  </a:lnTo>
                  <a:lnTo>
                    <a:pt x="163354" y="163639"/>
                  </a:lnTo>
                  <a:lnTo>
                    <a:pt x="0" y="163639"/>
                  </a:lnTo>
                  <a:lnTo>
                    <a:pt x="0" y="95"/>
                  </a:lnTo>
                  <a:lnTo>
                    <a:pt x="54197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4F513E8-7BAB-9ECF-575D-E6CA12E34C34}"/>
                </a:ext>
              </a:extLst>
            </p:cNvPr>
            <p:cNvSpPr/>
            <p:nvPr/>
          </p:nvSpPr>
          <p:spPr>
            <a:xfrm>
              <a:off x="2852233" y="13045140"/>
              <a:ext cx="847431" cy="562647"/>
            </a:xfrm>
            <a:custGeom>
              <a:avLst/>
              <a:gdLst>
                <a:gd name="connsiteX0" fmla="*/ 163544 w 163544"/>
                <a:gd name="connsiteY0" fmla="*/ 54197 h 108584"/>
                <a:gd name="connsiteX1" fmla="*/ 54388 w 163544"/>
                <a:gd name="connsiteY1" fmla="*/ 54197 h 108584"/>
                <a:gd name="connsiteX2" fmla="*/ 54388 w 163544"/>
                <a:gd name="connsiteY2" fmla="*/ 108585 h 108584"/>
                <a:gd name="connsiteX3" fmla="*/ 0 w 163544"/>
                <a:gd name="connsiteY3" fmla="*/ 108585 h 108584"/>
                <a:gd name="connsiteX4" fmla="*/ 0 w 163544"/>
                <a:gd name="connsiteY4" fmla="*/ 0 h 108584"/>
                <a:gd name="connsiteX5" fmla="*/ 163354 w 163544"/>
                <a:gd name="connsiteY5" fmla="*/ 0 h 108584"/>
                <a:gd name="connsiteX6" fmla="*/ 163354 w 163544"/>
                <a:gd name="connsiteY6" fmla="*/ 54292 h 108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544" h="108584">
                  <a:moveTo>
                    <a:pt x="163544" y="54197"/>
                  </a:moveTo>
                  <a:lnTo>
                    <a:pt x="54388" y="54197"/>
                  </a:lnTo>
                  <a:lnTo>
                    <a:pt x="54388" y="108585"/>
                  </a:lnTo>
                  <a:lnTo>
                    <a:pt x="0" y="108585"/>
                  </a:lnTo>
                  <a:lnTo>
                    <a:pt x="0" y="0"/>
                  </a:lnTo>
                  <a:lnTo>
                    <a:pt x="163354" y="0"/>
                  </a:lnTo>
                  <a:lnTo>
                    <a:pt x="163354" y="5429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1C2F08-2293-1F6A-C348-2C6C15567351}"/>
                </a:ext>
              </a:extLst>
            </p:cNvPr>
            <p:cNvSpPr/>
            <p:nvPr/>
          </p:nvSpPr>
          <p:spPr>
            <a:xfrm>
              <a:off x="8228019" y="13044642"/>
              <a:ext cx="562652" cy="846441"/>
            </a:xfrm>
            <a:custGeom>
              <a:avLst/>
              <a:gdLst>
                <a:gd name="connsiteX0" fmla="*/ 108585 w 108585"/>
                <a:gd name="connsiteY0" fmla="*/ 163354 h 163353"/>
                <a:gd name="connsiteX1" fmla="*/ 54483 w 108585"/>
                <a:gd name="connsiteY1" fmla="*/ 163354 h 163353"/>
                <a:gd name="connsiteX2" fmla="*/ 54483 w 108585"/>
                <a:gd name="connsiteY2" fmla="*/ 54483 h 163353"/>
                <a:gd name="connsiteX3" fmla="*/ 0 w 108585"/>
                <a:gd name="connsiteY3" fmla="*/ 54483 h 163353"/>
                <a:gd name="connsiteX4" fmla="*/ 0 w 108585"/>
                <a:gd name="connsiteY4" fmla="*/ 0 h 163353"/>
                <a:gd name="connsiteX5" fmla="*/ 108585 w 108585"/>
                <a:gd name="connsiteY5" fmla="*/ 0 h 163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8585" h="163353">
                  <a:moveTo>
                    <a:pt x="108585" y="163354"/>
                  </a:moveTo>
                  <a:lnTo>
                    <a:pt x="54483" y="163354"/>
                  </a:lnTo>
                  <a:lnTo>
                    <a:pt x="54483" y="54483"/>
                  </a:lnTo>
                  <a:lnTo>
                    <a:pt x="0" y="54483"/>
                  </a:lnTo>
                  <a:lnTo>
                    <a:pt x="0" y="0"/>
                  </a:lnTo>
                  <a:lnTo>
                    <a:pt x="10858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FA305A6-F751-FA01-EBD9-DD8B8124A941}"/>
                </a:ext>
              </a:extLst>
            </p:cNvPr>
            <p:cNvSpPr/>
            <p:nvPr/>
          </p:nvSpPr>
          <p:spPr>
            <a:xfrm>
              <a:off x="4264782" y="13045140"/>
              <a:ext cx="564626" cy="281816"/>
            </a:xfrm>
            <a:custGeom>
              <a:avLst/>
              <a:gdLst>
                <a:gd name="connsiteX0" fmla="*/ 95 w 108966"/>
                <a:gd name="connsiteY0" fmla="*/ 54388 h 54387"/>
                <a:gd name="connsiteX1" fmla="*/ 95 w 108966"/>
                <a:gd name="connsiteY1" fmla="*/ 0 h 54387"/>
                <a:gd name="connsiteX2" fmla="*/ 108966 w 108966"/>
                <a:gd name="connsiteY2" fmla="*/ 0 h 54387"/>
                <a:gd name="connsiteX3" fmla="*/ 108966 w 108966"/>
                <a:gd name="connsiteY3" fmla="*/ 54197 h 54387"/>
                <a:gd name="connsiteX4" fmla="*/ 0 w 108966"/>
                <a:gd name="connsiteY4" fmla="*/ 54197 h 5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966" h="54387">
                  <a:moveTo>
                    <a:pt x="95" y="54388"/>
                  </a:moveTo>
                  <a:lnTo>
                    <a:pt x="95" y="0"/>
                  </a:lnTo>
                  <a:lnTo>
                    <a:pt x="108966" y="0"/>
                  </a:lnTo>
                  <a:lnTo>
                    <a:pt x="108966" y="54197"/>
                  </a:lnTo>
                  <a:lnTo>
                    <a:pt x="0" y="5419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402865C-872B-A648-F32C-7263317AEAD6}"/>
                </a:ext>
              </a:extLst>
            </p:cNvPr>
            <p:cNvSpPr/>
            <p:nvPr/>
          </p:nvSpPr>
          <p:spPr>
            <a:xfrm>
              <a:off x="8224075" y="14176858"/>
              <a:ext cx="283790" cy="281816"/>
            </a:xfrm>
            <a:custGeom>
              <a:avLst/>
              <a:gdLst>
                <a:gd name="connsiteX0" fmla="*/ 571 w 54768"/>
                <a:gd name="connsiteY0" fmla="*/ 54388 h 54387"/>
                <a:gd name="connsiteX1" fmla="*/ 571 w 54768"/>
                <a:gd name="connsiteY1" fmla="*/ 0 h 54387"/>
                <a:gd name="connsiteX2" fmla="*/ 54769 w 54768"/>
                <a:gd name="connsiteY2" fmla="*/ 0 h 54387"/>
                <a:gd name="connsiteX3" fmla="*/ 54769 w 54768"/>
                <a:gd name="connsiteY3" fmla="*/ 54197 h 54387"/>
                <a:gd name="connsiteX4" fmla="*/ 0 w 54768"/>
                <a:gd name="connsiteY4" fmla="*/ 54197 h 5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68" h="54387">
                  <a:moveTo>
                    <a:pt x="571" y="54388"/>
                  </a:moveTo>
                  <a:lnTo>
                    <a:pt x="571" y="0"/>
                  </a:lnTo>
                  <a:lnTo>
                    <a:pt x="54769" y="0"/>
                  </a:lnTo>
                  <a:lnTo>
                    <a:pt x="54769" y="54197"/>
                  </a:lnTo>
                  <a:lnTo>
                    <a:pt x="0" y="5419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45CC0E2-1E12-B1B6-D42D-9B0C5E281A1F}"/>
                </a:ext>
              </a:extLst>
            </p:cNvPr>
            <p:cNvSpPr/>
            <p:nvPr/>
          </p:nvSpPr>
          <p:spPr>
            <a:xfrm>
              <a:off x="8510829" y="14742468"/>
              <a:ext cx="279841" cy="280339"/>
            </a:xfrm>
            <a:custGeom>
              <a:avLst/>
              <a:gdLst>
                <a:gd name="connsiteX0" fmla="*/ 0 w 54006"/>
                <a:gd name="connsiteY0" fmla="*/ 0 h 54102"/>
                <a:gd name="connsiteX1" fmla="*/ 54007 w 54006"/>
                <a:gd name="connsiteY1" fmla="*/ 0 h 54102"/>
                <a:gd name="connsiteX2" fmla="*/ 54007 w 54006"/>
                <a:gd name="connsiteY2" fmla="*/ 54102 h 54102"/>
                <a:gd name="connsiteX3" fmla="*/ 0 w 54006"/>
                <a:gd name="connsiteY3" fmla="*/ 54102 h 54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006" h="54102">
                  <a:moveTo>
                    <a:pt x="0" y="0"/>
                  </a:moveTo>
                  <a:lnTo>
                    <a:pt x="54007" y="0"/>
                  </a:lnTo>
                  <a:lnTo>
                    <a:pt x="54007" y="54102"/>
                  </a:lnTo>
                  <a:lnTo>
                    <a:pt x="0" y="54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ECB4DDB-2F7C-4C5F-7DD3-A408441A1FC2}"/>
                </a:ext>
              </a:extLst>
            </p:cNvPr>
            <p:cNvSpPr/>
            <p:nvPr/>
          </p:nvSpPr>
          <p:spPr>
            <a:xfrm>
              <a:off x="6245413" y="12479032"/>
              <a:ext cx="281816" cy="281816"/>
            </a:xfrm>
            <a:custGeom>
              <a:avLst/>
              <a:gdLst>
                <a:gd name="connsiteX0" fmla="*/ 95 w 54387"/>
                <a:gd name="connsiteY0" fmla="*/ 54388 h 54387"/>
                <a:gd name="connsiteX1" fmla="*/ 95 w 54387"/>
                <a:gd name="connsiteY1" fmla="*/ 0 h 54387"/>
                <a:gd name="connsiteX2" fmla="*/ 54388 w 54387"/>
                <a:gd name="connsiteY2" fmla="*/ 0 h 54387"/>
                <a:gd name="connsiteX3" fmla="*/ 54388 w 54387"/>
                <a:gd name="connsiteY3" fmla="*/ 54197 h 54387"/>
                <a:gd name="connsiteX4" fmla="*/ 0 w 54387"/>
                <a:gd name="connsiteY4" fmla="*/ 54197 h 5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" h="54387">
                  <a:moveTo>
                    <a:pt x="95" y="54388"/>
                  </a:moveTo>
                  <a:lnTo>
                    <a:pt x="95" y="0"/>
                  </a:lnTo>
                  <a:lnTo>
                    <a:pt x="54388" y="0"/>
                  </a:lnTo>
                  <a:lnTo>
                    <a:pt x="54388" y="54197"/>
                  </a:lnTo>
                  <a:lnTo>
                    <a:pt x="0" y="5419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1AAE2EA-F6F8-2F2B-B136-7DC6EB7FD745}"/>
                </a:ext>
              </a:extLst>
            </p:cNvPr>
            <p:cNvSpPr/>
            <p:nvPr/>
          </p:nvSpPr>
          <p:spPr>
            <a:xfrm>
              <a:off x="5114685" y="15026756"/>
              <a:ext cx="282805" cy="282313"/>
            </a:xfrm>
            <a:custGeom>
              <a:avLst/>
              <a:gdLst>
                <a:gd name="connsiteX0" fmla="*/ 54578 w 54578"/>
                <a:gd name="connsiteY0" fmla="*/ 54483 h 54483"/>
                <a:gd name="connsiteX1" fmla="*/ 0 w 54578"/>
                <a:gd name="connsiteY1" fmla="*/ 54483 h 54483"/>
                <a:gd name="connsiteX2" fmla="*/ 0 w 54578"/>
                <a:gd name="connsiteY2" fmla="*/ 0 h 54483"/>
                <a:gd name="connsiteX3" fmla="*/ 54197 w 54578"/>
                <a:gd name="connsiteY3" fmla="*/ 0 h 54483"/>
                <a:gd name="connsiteX4" fmla="*/ 54197 w 54578"/>
                <a:gd name="connsiteY4" fmla="*/ 54483 h 5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578" h="54483">
                  <a:moveTo>
                    <a:pt x="54578" y="54483"/>
                  </a:moveTo>
                  <a:lnTo>
                    <a:pt x="0" y="54483"/>
                  </a:lnTo>
                  <a:lnTo>
                    <a:pt x="0" y="0"/>
                  </a:lnTo>
                  <a:lnTo>
                    <a:pt x="54197" y="0"/>
                  </a:lnTo>
                  <a:lnTo>
                    <a:pt x="54197" y="544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CCB4B6A-1142-6D7D-E4AE-F51E03B52E58}"/>
                </a:ext>
              </a:extLst>
            </p:cNvPr>
            <p:cNvSpPr/>
            <p:nvPr/>
          </p:nvSpPr>
          <p:spPr>
            <a:xfrm>
              <a:off x="8227034" y="15309074"/>
              <a:ext cx="280831" cy="281323"/>
            </a:xfrm>
            <a:custGeom>
              <a:avLst/>
              <a:gdLst>
                <a:gd name="connsiteX0" fmla="*/ 0 w 54197"/>
                <a:gd name="connsiteY0" fmla="*/ 54293 h 54292"/>
                <a:gd name="connsiteX1" fmla="*/ 0 w 54197"/>
                <a:gd name="connsiteY1" fmla="*/ 0 h 54292"/>
                <a:gd name="connsiteX2" fmla="*/ 54197 w 54197"/>
                <a:gd name="connsiteY2" fmla="*/ 0 h 54292"/>
                <a:gd name="connsiteX3" fmla="*/ 54197 w 54197"/>
                <a:gd name="connsiteY3" fmla="*/ 54197 h 54292"/>
                <a:gd name="connsiteX4" fmla="*/ 0 w 54197"/>
                <a:gd name="connsiteY4" fmla="*/ 54197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97" h="54292">
                  <a:moveTo>
                    <a:pt x="0" y="54293"/>
                  </a:moveTo>
                  <a:lnTo>
                    <a:pt x="0" y="0"/>
                  </a:lnTo>
                  <a:lnTo>
                    <a:pt x="54197" y="0"/>
                  </a:lnTo>
                  <a:lnTo>
                    <a:pt x="54197" y="54197"/>
                  </a:lnTo>
                  <a:lnTo>
                    <a:pt x="0" y="5419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79583EC-395A-B534-02B3-DF370342586C}"/>
                </a:ext>
              </a:extLst>
            </p:cNvPr>
            <p:cNvSpPr/>
            <p:nvPr/>
          </p:nvSpPr>
          <p:spPr>
            <a:xfrm>
              <a:off x="7943239" y="13608284"/>
              <a:ext cx="280831" cy="283790"/>
            </a:xfrm>
            <a:custGeom>
              <a:avLst/>
              <a:gdLst>
                <a:gd name="connsiteX0" fmla="*/ 0 w 54197"/>
                <a:gd name="connsiteY0" fmla="*/ 286 h 54768"/>
                <a:gd name="connsiteX1" fmla="*/ 54197 w 54197"/>
                <a:gd name="connsiteY1" fmla="*/ 286 h 54768"/>
                <a:gd name="connsiteX2" fmla="*/ 54197 w 54197"/>
                <a:gd name="connsiteY2" fmla="*/ 54769 h 54768"/>
                <a:gd name="connsiteX3" fmla="*/ 0 w 54197"/>
                <a:gd name="connsiteY3" fmla="*/ 54769 h 54768"/>
                <a:gd name="connsiteX4" fmla="*/ 0 w 54197"/>
                <a:gd name="connsiteY4" fmla="*/ 0 h 5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97" h="54768">
                  <a:moveTo>
                    <a:pt x="0" y="286"/>
                  </a:moveTo>
                  <a:lnTo>
                    <a:pt x="54197" y="286"/>
                  </a:lnTo>
                  <a:lnTo>
                    <a:pt x="54197" y="54769"/>
                  </a:lnTo>
                  <a:lnTo>
                    <a:pt x="0" y="5476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BEC1F80-543B-A993-C3B7-FF20438A5B8B}"/>
                </a:ext>
              </a:extLst>
            </p:cNvPr>
            <p:cNvSpPr/>
            <p:nvPr/>
          </p:nvSpPr>
          <p:spPr>
            <a:xfrm>
              <a:off x="6246895" y="16157987"/>
              <a:ext cx="280334" cy="279841"/>
            </a:xfrm>
            <a:custGeom>
              <a:avLst/>
              <a:gdLst>
                <a:gd name="connsiteX0" fmla="*/ 54102 w 54101"/>
                <a:gd name="connsiteY0" fmla="*/ 54007 h 54006"/>
                <a:gd name="connsiteX1" fmla="*/ 0 w 54101"/>
                <a:gd name="connsiteY1" fmla="*/ 54007 h 54006"/>
                <a:gd name="connsiteX2" fmla="*/ 0 w 54101"/>
                <a:gd name="connsiteY2" fmla="*/ 0 h 54006"/>
                <a:gd name="connsiteX3" fmla="*/ 54102 w 54101"/>
                <a:gd name="connsiteY3" fmla="*/ 0 h 5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101" h="54006">
                  <a:moveTo>
                    <a:pt x="54102" y="54007"/>
                  </a:moveTo>
                  <a:lnTo>
                    <a:pt x="0" y="54007"/>
                  </a:lnTo>
                  <a:lnTo>
                    <a:pt x="0" y="0"/>
                  </a:lnTo>
                  <a:lnTo>
                    <a:pt x="5410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9CA4B19-B6FE-C221-5517-0E70C684E068}"/>
                </a:ext>
              </a:extLst>
            </p:cNvPr>
            <p:cNvSpPr/>
            <p:nvPr/>
          </p:nvSpPr>
          <p:spPr>
            <a:xfrm>
              <a:off x="6813495" y="16438326"/>
              <a:ext cx="281816" cy="281816"/>
            </a:xfrm>
            <a:custGeom>
              <a:avLst/>
              <a:gdLst>
                <a:gd name="connsiteX0" fmla="*/ 54197 w 54387"/>
                <a:gd name="connsiteY0" fmla="*/ 0 h 54387"/>
                <a:gd name="connsiteX1" fmla="*/ 54197 w 54387"/>
                <a:gd name="connsiteY1" fmla="*/ 54388 h 54387"/>
                <a:gd name="connsiteX2" fmla="*/ 0 w 54387"/>
                <a:gd name="connsiteY2" fmla="*/ 54388 h 54387"/>
                <a:gd name="connsiteX3" fmla="*/ 0 w 54387"/>
                <a:gd name="connsiteY3" fmla="*/ 190 h 54387"/>
                <a:gd name="connsiteX4" fmla="*/ 54388 w 54387"/>
                <a:gd name="connsiteY4" fmla="*/ 190 h 5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87" h="54387">
                  <a:moveTo>
                    <a:pt x="54197" y="0"/>
                  </a:moveTo>
                  <a:lnTo>
                    <a:pt x="54197" y="54388"/>
                  </a:lnTo>
                  <a:lnTo>
                    <a:pt x="0" y="54388"/>
                  </a:lnTo>
                  <a:lnTo>
                    <a:pt x="0" y="190"/>
                  </a:lnTo>
                  <a:lnTo>
                    <a:pt x="54388" y="19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88A658F-D738-9451-489B-E75B6B679F27}"/>
                </a:ext>
              </a:extLst>
            </p:cNvPr>
            <p:cNvSpPr/>
            <p:nvPr/>
          </p:nvSpPr>
          <p:spPr>
            <a:xfrm>
              <a:off x="8510829" y="16440792"/>
              <a:ext cx="279841" cy="280334"/>
            </a:xfrm>
            <a:custGeom>
              <a:avLst/>
              <a:gdLst>
                <a:gd name="connsiteX0" fmla="*/ 54007 w 54006"/>
                <a:gd name="connsiteY0" fmla="*/ 54102 h 54101"/>
                <a:gd name="connsiteX1" fmla="*/ 0 w 54006"/>
                <a:gd name="connsiteY1" fmla="*/ 54102 h 54101"/>
                <a:gd name="connsiteX2" fmla="*/ 0 w 54006"/>
                <a:gd name="connsiteY2" fmla="*/ 0 h 54101"/>
                <a:gd name="connsiteX3" fmla="*/ 54007 w 54006"/>
                <a:gd name="connsiteY3" fmla="*/ 0 h 54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006" h="54101">
                  <a:moveTo>
                    <a:pt x="54007" y="54102"/>
                  </a:moveTo>
                  <a:lnTo>
                    <a:pt x="0" y="54102"/>
                  </a:lnTo>
                  <a:lnTo>
                    <a:pt x="0" y="0"/>
                  </a:lnTo>
                  <a:lnTo>
                    <a:pt x="5400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CC697EB-1353-2E09-2997-BD5721FAAB60}"/>
                </a:ext>
              </a:extLst>
            </p:cNvPr>
            <p:cNvSpPr/>
            <p:nvPr/>
          </p:nvSpPr>
          <p:spPr>
            <a:xfrm>
              <a:off x="6249859" y="13893063"/>
              <a:ext cx="281323" cy="280831"/>
            </a:xfrm>
            <a:custGeom>
              <a:avLst/>
              <a:gdLst>
                <a:gd name="connsiteX0" fmla="*/ 53912 w 54292"/>
                <a:gd name="connsiteY0" fmla="*/ 54197 h 54197"/>
                <a:gd name="connsiteX1" fmla="*/ 0 w 54292"/>
                <a:gd name="connsiteY1" fmla="*/ 54197 h 54197"/>
                <a:gd name="connsiteX2" fmla="*/ 0 w 54292"/>
                <a:gd name="connsiteY2" fmla="*/ 0 h 54197"/>
                <a:gd name="connsiteX3" fmla="*/ 54293 w 54292"/>
                <a:gd name="connsiteY3" fmla="*/ 0 h 54197"/>
                <a:gd name="connsiteX4" fmla="*/ 54293 w 54292"/>
                <a:gd name="connsiteY4" fmla="*/ 54197 h 54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292" h="54197">
                  <a:moveTo>
                    <a:pt x="53912" y="54197"/>
                  </a:moveTo>
                  <a:lnTo>
                    <a:pt x="0" y="54197"/>
                  </a:lnTo>
                  <a:lnTo>
                    <a:pt x="0" y="0"/>
                  </a:lnTo>
                  <a:lnTo>
                    <a:pt x="54293" y="0"/>
                  </a:lnTo>
                  <a:lnTo>
                    <a:pt x="54293" y="5419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0730D16-BBB4-3EF3-8269-215B3980AF3D}"/>
                </a:ext>
              </a:extLst>
            </p:cNvPr>
            <p:cNvSpPr/>
            <p:nvPr/>
          </p:nvSpPr>
          <p:spPr>
            <a:xfrm>
              <a:off x="3417351" y="11347313"/>
              <a:ext cx="845949" cy="845949"/>
            </a:xfrm>
            <a:custGeom>
              <a:avLst/>
              <a:gdLst>
                <a:gd name="connsiteX0" fmla="*/ 163259 w 163258"/>
                <a:gd name="connsiteY0" fmla="*/ 163259 h 163258"/>
                <a:gd name="connsiteX1" fmla="*/ 0 w 163258"/>
                <a:gd name="connsiteY1" fmla="*/ 163259 h 163258"/>
                <a:gd name="connsiteX2" fmla="*/ 0 w 163258"/>
                <a:gd name="connsiteY2" fmla="*/ 0 h 163258"/>
                <a:gd name="connsiteX3" fmla="*/ 163259 w 163258"/>
                <a:gd name="connsiteY3" fmla="*/ 0 h 1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258" h="163258">
                  <a:moveTo>
                    <a:pt x="163259" y="163259"/>
                  </a:moveTo>
                  <a:lnTo>
                    <a:pt x="0" y="163259"/>
                  </a:lnTo>
                  <a:lnTo>
                    <a:pt x="0" y="0"/>
                  </a:lnTo>
                  <a:lnTo>
                    <a:pt x="163259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F486E73-C08E-7866-F73A-D8CAC653BDFC}"/>
                </a:ext>
              </a:extLst>
            </p:cNvPr>
            <p:cNvSpPr/>
            <p:nvPr/>
          </p:nvSpPr>
          <p:spPr>
            <a:xfrm>
              <a:off x="7378613" y="11346821"/>
              <a:ext cx="845457" cy="845949"/>
            </a:xfrm>
            <a:custGeom>
              <a:avLst/>
              <a:gdLst>
                <a:gd name="connsiteX0" fmla="*/ 0 w 163163"/>
                <a:gd name="connsiteY0" fmla="*/ 163259 h 163258"/>
                <a:gd name="connsiteX1" fmla="*/ 0 w 163163"/>
                <a:gd name="connsiteY1" fmla="*/ 0 h 163258"/>
                <a:gd name="connsiteX2" fmla="*/ 163163 w 163163"/>
                <a:gd name="connsiteY2" fmla="*/ 0 h 163258"/>
                <a:gd name="connsiteX3" fmla="*/ 163163 w 163163"/>
                <a:gd name="connsiteY3" fmla="*/ 163259 h 1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163" h="163258">
                  <a:moveTo>
                    <a:pt x="0" y="163259"/>
                  </a:moveTo>
                  <a:lnTo>
                    <a:pt x="0" y="0"/>
                  </a:lnTo>
                  <a:lnTo>
                    <a:pt x="163163" y="0"/>
                  </a:lnTo>
                  <a:lnTo>
                    <a:pt x="163163" y="1632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D4E5545-1D78-EA8B-3AF9-50A2CE2840F0}"/>
                </a:ext>
              </a:extLst>
            </p:cNvPr>
            <p:cNvSpPr/>
            <p:nvPr/>
          </p:nvSpPr>
          <p:spPr>
            <a:xfrm>
              <a:off x="3417351" y="15309074"/>
              <a:ext cx="845949" cy="845949"/>
            </a:xfrm>
            <a:custGeom>
              <a:avLst/>
              <a:gdLst>
                <a:gd name="connsiteX0" fmla="*/ 0 w 163258"/>
                <a:gd name="connsiteY0" fmla="*/ 163163 h 163258"/>
                <a:gd name="connsiteX1" fmla="*/ 0 w 163258"/>
                <a:gd name="connsiteY1" fmla="*/ 0 h 163258"/>
                <a:gd name="connsiteX2" fmla="*/ 163259 w 163258"/>
                <a:gd name="connsiteY2" fmla="*/ 0 h 163258"/>
                <a:gd name="connsiteX3" fmla="*/ 163259 w 163258"/>
                <a:gd name="connsiteY3" fmla="*/ 163259 h 1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258" h="163258">
                  <a:moveTo>
                    <a:pt x="0" y="163163"/>
                  </a:moveTo>
                  <a:lnTo>
                    <a:pt x="0" y="0"/>
                  </a:lnTo>
                  <a:lnTo>
                    <a:pt x="163259" y="0"/>
                  </a:lnTo>
                  <a:lnTo>
                    <a:pt x="163259" y="1632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6D45A0C-DC9E-C366-7C9E-3061436B4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663" y="9226489"/>
            <a:ext cx="11586949" cy="93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54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4EDF1D-F59C-6D79-0F03-4A03B254B0ED}"/>
              </a:ext>
            </a:extLst>
          </p:cNvPr>
          <p:cNvSpPr txBox="1"/>
          <p:nvPr/>
        </p:nvSpPr>
        <p:spPr>
          <a:xfrm>
            <a:off x="3583911" y="1121919"/>
            <a:ext cx="11120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PROBLEM</a:t>
            </a:r>
            <a:r>
              <a:rPr lang="en-US" sz="4800" b="1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554D29-6A3D-C5A7-B8A7-EB1CAB8C48D7}"/>
              </a:ext>
            </a:extLst>
          </p:cNvPr>
          <p:cNvSpPr txBox="1"/>
          <p:nvPr/>
        </p:nvSpPr>
        <p:spPr>
          <a:xfrm>
            <a:off x="1225289" y="787400"/>
            <a:ext cx="18501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8A3034-DA38-7E66-F254-53200C622DB5}"/>
              </a:ext>
            </a:extLst>
          </p:cNvPr>
          <p:cNvSpPr txBox="1"/>
          <p:nvPr/>
        </p:nvSpPr>
        <p:spPr>
          <a:xfrm>
            <a:off x="288172" y="9695669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A6052-4952-DBF4-2BCC-77654D453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208" y="9363670"/>
            <a:ext cx="11586949" cy="923330"/>
          </a:xfrm>
          <a:prstGeom prst="rect">
            <a:avLst/>
          </a:prstGeom>
        </p:spPr>
      </p:pic>
      <p:sp>
        <p:nvSpPr>
          <p:cNvPr id="8" name="TextBox 12">
            <a:extLst>
              <a:ext uri="{FF2B5EF4-FFF2-40B4-BE49-F238E27FC236}">
                <a16:creationId xmlns:a16="http://schemas.microsoft.com/office/drawing/2014/main" id="{752312C0-57E2-3DC4-3D72-63469C9DB4A3}"/>
              </a:ext>
            </a:extLst>
          </p:cNvPr>
          <p:cNvSpPr txBox="1"/>
          <p:nvPr/>
        </p:nvSpPr>
        <p:spPr>
          <a:xfrm>
            <a:off x="447472" y="2112962"/>
            <a:ext cx="7629728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Most AAC apps are English-first, so millions of people must communicate in a language that is not their own.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Support for African and other underserved languages is limited, and many tools depend on an internet connection that is unreliable for many users.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Crowded screens with hundreds of buttons overwhelm users and caregivers, with little personalization beyond adding words.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Generic robotic voices and symbol libraries with no local foods, places or people do not reflect who the user is.</a:t>
            </a:r>
          </a:p>
        </p:txBody>
      </p:sp>
      <p:sp>
        <p:nvSpPr>
          <p:cNvPr id="9" name="Shape 9"/>
          <p:cNvSpPr/>
          <p:nvPr/>
        </p:nvSpPr>
        <p:spPr>
          <a:xfrm>
            <a:off x="8445500" y="2540000"/>
            <a:ext cx="4508500" cy="2921000"/>
          </a:xfrm>
          <a:prstGeom prst="roundRect">
            <a:avLst/>
          </a:prstGeom>
          <a:solidFill>
            <a:srgbClr val="EEF4F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674100" y="2819400"/>
            <a:ext cx="4051300" cy="889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Open Sans Medium"/>
              </a:rPr>
              <a:t>1.3 billion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74100" y="3873500"/>
            <a:ext cx="4051300" cy="14986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2000" b="0" dirty="0">
                <a:solidFill>
                  <a:srgbClr val="1A1A1A"/>
                </a:solidFill>
                <a:latin typeface="Open Sans Medium"/>
              </a:rPr>
              <a:t>people live with significant disability, 1 in 6 worldwide (WHO)</a:t>
            </a:r>
          </a:p>
        </p:txBody>
      </p:sp>
      <p:sp>
        <p:nvSpPr>
          <p:cNvPr id="12" name="Shape 12"/>
          <p:cNvSpPr/>
          <p:nvPr/>
        </p:nvSpPr>
        <p:spPr>
          <a:xfrm>
            <a:off x="13208000" y="2540000"/>
            <a:ext cx="4508500" cy="2921000"/>
          </a:xfrm>
          <a:prstGeom prst="roundRect">
            <a:avLst/>
          </a:prstGeom>
          <a:solidFill>
            <a:srgbClr val="EEF4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436600" y="2819400"/>
            <a:ext cx="4051300" cy="889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Open Sans Medium"/>
              </a:rPr>
              <a:t>1 in 127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36600" y="3873500"/>
            <a:ext cx="4051300" cy="14986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2000" b="0" dirty="0">
                <a:solidFill>
                  <a:srgbClr val="1A1A1A"/>
                </a:solidFill>
                <a:latin typeface="Open Sans Medium"/>
              </a:rPr>
              <a:t>people is autistic (WHO, 2021)</a:t>
            </a:r>
          </a:p>
        </p:txBody>
      </p:sp>
      <p:sp>
        <p:nvSpPr>
          <p:cNvPr id="15" name="Shape 15"/>
          <p:cNvSpPr/>
          <p:nvPr/>
        </p:nvSpPr>
        <p:spPr>
          <a:xfrm>
            <a:off x="8445500" y="5715000"/>
            <a:ext cx="4508500" cy="2921000"/>
          </a:xfrm>
          <a:prstGeom prst="roundRect">
            <a:avLst/>
          </a:prstGeom>
          <a:solidFill>
            <a:srgbClr val="EEF4F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674100" y="5994400"/>
            <a:ext cx="4051300" cy="889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Open Sans Medium"/>
              </a:rPr>
              <a:t>Up to 1%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74100" y="7048500"/>
            <a:ext cx="4051300" cy="14986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2000" b="0" dirty="0">
                <a:solidFill>
                  <a:srgbClr val="1A1A1A"/>
                </a:solidFill>
                <a:latin typeface="Open Sans Medium"/>
              </a:rPr>
              <a:t>of people have a speech, language or communication need (Elsahar et al., 2019)</a:t>
            </a:r>
          </a:p>
        </p:txBody>
      </p:sp>
      <p:sp>
        <p:nvSpPr>
          <p:cNvPr id="18" name="Shape 18"/>
          <p:cNvSpPr/>
          <p:nvPr/>
        </p:nvSpPr>
        <p:spPr>
          <a:xfrm>
            <a:off x="13208000" y="5715000"/>
            <a:ext cx="4508500" cy="2921000"/>
          </a:xfrm>
          <a:prstGeom prst="roundRect">
            <a:avLst/>
          </a:prstGeom>
          <a:solidFill>
            <a:srgbClr val="EEF4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436600" y="5994400"/>
            <a:ext cx="4051300" cy="889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Open Sans Medium"/>
              </a:rPr>
              <a:t>1 in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36600" y="7048500"/>
            <a:ext cx="4051300" cy="14986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2000" b="0" dirty="0">
                <a:solidFill>
                  <a:srgbClr val="1A1A1A"/>
                </a:solidFill>
                <a:latin typeface="Open Sans Medium"/>
              </a:rPr>
              <a:t>stroke survivors has aphasia (NIDCD)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45500" y="8737600"/>
            <a:ext cx="9271000" cy="508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1100" b="0" dirty="0">
                <a:solidFill>
                  <a:srgbClr val="595959"/>
                </a:solidFill>
                <a:latin typeface="Open Sans Medium"/>
              </a:rPr>
              <a:t>Sources: WHO Disability fact sheet (2023); WHO Autism fact sheet (2025); Elsahar et al. (2019); NIDCD Aphasia.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94E8744-B8C3-8E12-5EE4-BACEA8DA7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525" y="9132154"/>
            <a:ext cx="11586949" cy="1154846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9477375" y="228601"/>
            <a:ext cx="7781929" cy="9029700"/>
            <a:chOff x="0" y="-38100"/>
            <a:chExt cx="2049561" cy="22055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9561" cy="2167467"/>
            </a:xfrm>
            <a:custGeom>
              <a:avLst/>
              <a:gdLst/>
              <a:ahLst/>
              <a:cxnLst/>
              <a:rect l="l" t="t" r="r" b="b"/>
              <a:pathLst>
                <a:path w="2049561" h="2167467">
                  <a:moveTo>
                    <a:pt x="24871" y="0"/>
                  </a:moveTo>
                  <a:lnTo>
                    <a:pt x="2024689" y="0"/>
                  </a:lnTo>
                  <a:cubicBezTo>
                    <a:pt x="2031285" y="0"/>
                    <a:pt x="2037611" y="2620"/>
                    <a:pt x="2042276" y="7285"/>
                  </a:cubicBezTo>
                  <a:cubicBezTo>
                    <a:pt x="2046940" y="11949"/>
                    <a:pt x="2049561" y="18275"/>
                    <a:pt x="2049561" y="24871"/>
                  </a:cubicBezTo>
                  <a:lnTo>
                    <a:pt x="2049561" y="2142595"/>
                  </a:lnTo>
                  <a:cubicBezTo>
                    <a:pt x="2049561" y="2149191"/>
                    <a:pt x="2046940" y="2155518"/>
                    <a:pt x="2042276" y="2160182"/>
                  </a:cubicBezTo>
                  <a:cubicBezTo>
                    <a:pt x="2037611" y="2164846"/>
                    <a:pt x="2031285" y="2167467"/>
                    <a:pt x="2024689" y="2167467"/>
                  </a:cubicBezTo>
                  <a:lnTo>
                    <a:pt x="24871" y="2167467"/>
                  </a:lnTo>
                  <a:cubicBezTo>
                    <a:pt x="18275" y="2167467"/>
                    <a:pt x="11949" y="2164846"/>
                    <a:pt x="7285" y="2160182"/>
                  </a:cubicBezTo>
                  <a:cubicBezTo>
                    <a:pt x="2620" y="2155518"/>
                    <a:pt x="0" y="2149191"/>
                    <a:pt x="0" y="2142595"/>
                  </a:cubicBezTo>
                  <a:lnTo>
                    <a:pt x="0" y="24871"/>
                  </a:lnTo>
                  <a:cubicBezTo>
                    <a:pt x="0" y="18275"/>
                    <a:pt x="2620" y="11949"/>
                    <a:pt x="7285" y="7285"/>
                  </a:cubicBezTo>
                  <a:cubicBezTo>
                    <a:pt x="11949" y="2620"/>
                    <a:pt x="18275" y="0"/>
                    <a:pt x="248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41D15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49560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77375" y="6121894"/>
            <a:ext cx="196693" cy="2153822"/>
            <a:chOff x="0" y="0"/>
            <a:chExt cx="51804" cy="5672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804" cy="567262"/>
            </a:xfrm>
            <a:custGeom>
              <a:avLst/>
              <a:gdLst/>
              <a:ahLst/>
              <a:cxnLst/>
              <a:rect l="l" t="t" r="r" b="b"/>
              <a:pathLst>
                <a:path w="51804" h="567262">
                  <a:moveTo>
                    <a:pt x="0" y="0"/>
                  </a:moveTo>
                  <a:lnTo>
                    <a:pt x="51804" y="0"/>
                  </a:lnTo>
                  <a:lnTo>
                    <a:pt x="51804" y="567262"/>
                  </a:lnTo>
                  <a:lnTo>
                    <a:pt x="0" y="567262"/>
                  </a:lnTo>
                  <a:close/>
                </a:path>
              </a:pathLst>
            </a:custGeom>
            <a:solidFill>
              <a:srgbClr val="2CBF6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1804" cy="60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529764" y="633679"/>
            <a:ext cx="5867647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79"/>
              </a:lnSpc>
            </a:pPr>
            <a:r>
              <a:rPr lang="en-US" sz="3800" dirty="0">
                <a:solidFill>
                  <a:srgbClr val="341D15"/>
                </a:solidFill>
                <a:latin typeface="Open Sans Medium"/>
                <a:ea typeface="Shrikhand"/>
                <a:cs typeface="Shrikhand"/>
                <a:sym typeface="Shrikhand"/>
              </a:rPr>
              <a:t>Our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29764" y="1568926"/>
            <a:ext cx="6244174" cy="87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53"/>
              </a:lnSpc>
            </a:pPr>
            <a:r>
              <a:rPr lang="en-US" sz="2370" b="1" dirty="0">
                <a:solidFill>
                  <a:srgbClr val="341D15"/>
                </a:solidFill>
                <a:latin typeface="Open Sans Medium"/>
                <a:ea typeface="Poppins Bold"/>
                <a:cs typeface="Poppins Bold"/>
                <a:sym typeface="Poppins Bold"/>
              </a:rPr>
              <a:t>Echo is a mobile-first AAC app built with a user-first mindset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27206" y="2839678"/>
            <a:ext cx="7083622" cy="6370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Open Sans Medium"/>
              </a:rPr>
              <a:t>Fixed core vocabulary, four collections and seven contexts. [Built]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3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Open Sans Medium"/>
              </a:rPr>
              <a:t>Bilingual tiles and code-switching: English, Twi and Ga built, Spanish and French in progress.</a:t>
            </a:r>
          </a:p>
          <a:p>
            <a:pPr lvl="0"/>
            <a:endParaRPr lang="en-US" sz="23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Open Sans Medium"/>
              </a:rPr>
              <a:t>Speaks aloud through Khaya AI, with phone voices for offline use. [Built · phone voices in progress]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3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Open Sans Medium"/>
              </a:rPr>
              <a:t>Offline-first: 78 pictograms and photos ship in the app. [Built · data storage in progress]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3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Open Sans Medium"/>
              </a:rPr>
              <a:t>Natural Speech suggestions and switch scanning. [Built as prototype]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80F07F-3FE3-FED6-7149-E5459BB8C148}"/>
              </a:ext>
            </a:extLst>
          </p:cNvPr>
          <p:cNvSpPr txBox="1"/>
          <p:nvPr/>
        </p:nvSpPr>
        <p:spPr>
          <a:xfrm>
            <a:off x="4316489" y="6195598"/>
            <a:ext cx="955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PAY</a:t>
            </a:r>
          </a:p>
        </p:txBody>
      </p:sp>
      <p:pic>
        <p:nvPicPr>
          <p:cNvPr id="36" name="Picture 35" descr="Echo app on three phones: Spanish, English and Twi board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762000"/>
            <a:ext cx="8127999" cy="812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7B748C-0F6A-A1E2-6AF4-18919280B77A}"/>
              </a:ext>
            </a:extLst>
          </p:cNvPr>
          <p:cNvSpPr txBox="1"/>
          <p:nvPr/>
        </p:nvSpPr>
        <p:spPr>
          <a:xfrm>
            <a:off x="382995" y="650467"/>
            <a:ext cx="18501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8E37D8-F590-73EA-4EFD-05177DD00C8B}"/>
              </a:ext>
            </a:extLst>
          </p:cNvPr>
          <p:cNvSpPr txBox="1"/>
          <p:nvPr/>
        </p:nvSpPr>
        <p:spPr>
          <a:xfrm>
            <a:off x="347098" y="9539772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case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6072"/>
            <a:ext cx="891540" cy="8915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88820" y="548640"/>
            <a:ext cx="1440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at a Glance: What We Have Built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145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rgbClr val="5A6B75"/>
                </a:solidFill>
                <a:latin typeface="Open Sans Medium"/>
                <a:ea typeface="Calibri" pitchFamily="34" charset="-122"/>
                <a:cs typeface="Calibri" pitchFamily="34" charset="-120"/>
              </a:rPr>
              <a:t>A working prototype covering the core features, with the remaining items clearly in progress.</a:t>
            </a:r>
            <a:endParaRPr lang="en-US" sz="2400" dirty="0">
              <a:latin typeface="Open Sans Medium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00100" y="3329940"/>
            <a:ext cx="4663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0100" y="3242310"/>
            <a:ext cx="4663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251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pictograms and photos bundled offline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897880" y="3329940"/>
            <a:ext cx="4663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28360" y="3209925"/>
            <a:ext cx="4663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900" dirty="0"/>
          </a:p>
        </p:txBody>
      </p:sp>
      <p:sp>
        <p:nvSpPr>
          <p:cNvPr id="10" name="Text 7"/>
          <p:cNvSpPr txBox="1"/>
          <p:nvPr/>
        </p:nvSpPr>
        <p:spPr>
          <a:xfrm>
            <a:off x="5928360" y="41452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3 built, Spanish and French in progress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00100" y="6240780"/>
            <a:ext cx="4663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6376035"/>
            <a:ext cx="4663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880110" y="7162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contexts, plus 4 collections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172200" y="6227445"/>
            <a:ext cx="4663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939790" y="6227445"/>
            <a:ext cx="4663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9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7162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features: speech, scanning, offline, suggestions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1109960" y="1714500"/>
            <a:ext cx="6377940" cy="7406640"/>
          </a:xfrm>
          <a:prstGeom prst="roundRect">
            <a:avLst>
              <a:gd name="adj" fmla="val 1720"/>
            </a:avLst>
          </a:prstGeom>
          <a:solidFill>
            <a:srgbClr val="E8EEF1"/>
          </a:solidFill>
          <a:ln w="19050">
            <a:solidFill>
              <a:srgbClr val="1C7293"/>
            </a:solidFill>
            <a:prstDash val="dash"/>
          </a:ln>
        </p:spPr>
      </p:sp>
      <p:pic>
        <p:nvPicPr>
          <p:cNvPr id="21" name="Picture 20" descr="Echo communication board in English and Spanish with Natural Speech sugges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0136" y="1714500"/>
            <a:ext cx="6377587" cy="7406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7145000" y="98069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AB0A1-8D99-35C1-3E6E-871ADCF3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 descr="Echo screens: splash, language choice, communication board, word libra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952500"/>
            <a:ext cx="15493999" cy="800099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271C76AC-6E42-6193-642F-AFC0B6F4F213}"/>
              </a:ext>
            </a:extLst>
          </p:cNvPr>
          <p:cNvSpPr txBox="1"/>
          <p:nvPr/>
        </p:nvSpPr>
        <p:spPr>
          <a:xfrm>
            <a:off x="1225289" y="787400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4D659165-4895-2DA5-37D0-2C5BB6818EBB}"/>
              </a:ext>
            </a:extLst>
          </p:cNvPr>
          <p:cNvSpPr txBox="1"/>
          <p:nvPr/>
        </p:nvSpPr>
        <p:spPr>
          <a:xfrm>
            <a:off x="3276599" y="-209294"/>
            <a:ext cx="12305090" cy="85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9"/>
              </a:lnSpc>
            </a:pPr>
            <a:r>
              <a:rPr lang="en-US" sz="4800" b="1" dirty="0">
                <a:solidFill>
                  <a:srgbClr val="341D15"/>
                </a:solidFill>
                <a:latin typeface="Shrikhand"/>
                <a:ea typeface="Shrikhand"/>
                <a:cs typeface="Shrikhand"/>
                <a:sym typeface="Shrikhand"/>
              </a:rPr>
              <a:t>Echo App Prototype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964F396-DA34-8B40-3A4A-DAC8E1468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670" y="9211668"/>
            <a:ext cx="11586949" cy="11548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396AA6-C390-D2F3-93E9-2B1B9F9E976E}"/>
              </a:ext>
            </a:extLst>
          </p:cNvPr>
          <p:cNvSpPr txBox="1"/>
          <p:nvPr/>
        </p:nvSpPr>
        <p:spPr>
          <a:xfrm>
            <a:off x="376858" y="9496703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4199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0FDE57-55CE-F057-724E-4E2F1E0B8695}"/>
              </a:ext>
            </a:extLst>
          </p:cNvPr>
          <p:cNvSpPr/>
          <p:nvPr/>
        </p:nvSpPr>
        <p:spPr>
          <a:xfrm>
            <a:off x="368709" y="3510116"/>
            <a:ext cx="4116460" cy="5611076"/>
          </a:xfrm>
          <a:prstGeom prst="roundRect">
            <a:avLst>
              <a:gd name="adj" fmla="val 6532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16CCB4-7AC2-D155-691A-E5A53662CF74}"/>
              </a:ext>
            </a:extLst>
          </p:cNvPr>
          <p:cNvSpPr/>
          <p:nvPr/>
        </p:nvSpPr>
        <p:spPr>
          <a:xfrm>
            <a:off x="4846748" y="3480180"/>
            <a:ext cx="4116460" cy="5611076"/>
          </a:xfrm>
          <a:prstGeom prst="roundRect">
            <a:avLst>
              <a:gd name="adj" fmla="val 6532"/>
            </a:avLst>
          </a:prstGeom>
          <a:solidFill>
            <a:srgbClr val="0070C0"/>
          </a:solidFill>
          <a:ln>
            <a:noFill/>
          </a:ln>
          <a:effectLst>
            <a:outerShdw blurRad="177800" dist="165100" dir="2700000" algn="tl" rotWithShape="0">
              <a:srgbClr val="F071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A1D9E3-74CB-51ED-24D5-7500F0B0DDDE}"/>
              </a:ext>
            </a:extLst>
          </p:cNvPr>
          <p:cNvSpPr/>
          <p:nvPr/>
        </p:nvSpPr>
        <p:spPr>
          <a:xfrm>
            <a:off x="9324789" y="3510116"/>
            <a:ext cx="4116460" cy="5611076"/>
          </a:xfrm>
          <a:prstGeom prst="roundRect">
            <a:avLst>
              <a:gd name="adj" fmla="val 6532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6D9F7B-2879-DD6C-F3D8-67B500250061}"/>
              </a:ext>
            </a:extLst>
          </p:cNvPr>
          <p:cNvSpPr/>
          <p:nvPr/>
        </p:nvSpPr>
        <p:spPr>
          <a:xfrm>
            <a:off x="13802830" y="3510116"/>
            <a:ext cx="4116460" cy="5611076"/>
          </a:xfrm>
          <a:prstGeom prst="roundRect">
            <a:avLst>
              <a:gd name="adj" fmla="val 6532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FF802-8392-6A96-EB6D-A85F2B4CC532}"/>
              </a:ext>
            </a:extLst>
          </p:cNvPr>
          <p:cNvSpPr txBox="1"/>
          <p:nvPr/>
        </p:nvSpPr>
        <p:spPr>
          <a:xfrm>
            <a:off x="5672379" y="1489847"/>
            <a:ext cx="7579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CORE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AFFCE-793C-CB35-FAFE-12A18AC31358}"/>
              </a:ext>
            </a:extLst>
          </p:cNvPr>
          <p:cNvSpPr txBox="1"/>
          <p:nvPr/>
        </p:nvSpPr>
        <p:spPr>
          <a:xfrm>
            <a:off x="9691452" y="6693773"/>
            <a:ext cx="33831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Pictograms and photos are bundled in the app, so the board works without signal.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Status: Built, data storage in progress.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94F16-F39D-C544-C34D-12912B46FAE8}"/>
              </a:ext>
            </a:extLst>
          </p:cNvPr>
          <p:cNvSpPr txBox="1"/>
          <p:nvPr/>
        </p:nvSpPr>
        <p:spPr>
          <a:xfrm>
            <a:off x="5252755" y="6895914"/>
            <a:ext cx="34789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chemeClr val="bg1"/>
                </a:solidFill>
                <a:latin typeface="Open Sans Medium"/>
              </a:rPr>
              <a:t>Text-to-speech in English, Twi and Ga through Khaya AI, replayed from cache. Status: Built, device testing in progress.</a:t>
            </a:r>
            <a:endParaRPr lang="en-US" sz="2200" dirty="0">
              <a:solidFill>
                <a:schemeClr val="bg1"/>
              </a:solidFill>
              <a:latin typeface="Open Sans Medium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FCCDD-0406-73B1-122E-33D90436FE9C}"/>
              </a:ext>
            </a:extLst>
          </p:cNvPr>
          <p:cNvSpPr txBox="1"/>
          <p:nvPr/>
        </p:nvSpPr>
        <p:spPr>
          <a:xfrm>
            <a:off x="610968" y="6734420"/>
            <a:ext cx="39244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endParaRPr lang="en-US" sz="2200" dirty="0">
              <a:latin typeface="Open Sans Medium"/>
            </a:endParaRPr>
          </a:p>
          <a:p>
            <a:pPr>
              <a:lnSpc>
                <a:spcPct val="100000"/>
              </a:lnSpc>
            </a:pPr>
            <a:r>
              <a:rPr lang="en-US" sz="2200" dirty="0">
                <a:latin typeface="Open Sans Medium"/>
              </a:rPr>
              <a:t>English, Twi and Ga tiles with bilingual labels.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Open Sans Medium"/>
              </a:rPr>
              <a:t>Mix languages in one sentence. Status: Built.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Open Sans Medium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817D2-359A-6B01-2E77-2F5D31C19820}"/>
              </a:ext>
            </a:extLst>
          </p:cNvPr>
          <p:cNvSpPr txBox="1"/>
          <p:nvPr/>
        </p:nvSpPr>
        <p:spPr>
          <a:xfrm>
            <a:off x="14057158" y="6977637"/>
            <a:ext cx="3383131" cy="206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Suggests fuller phrasing. Status: Built (prototype).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1BAF21-41B5-267F-E0A1-4E2A401661D7}"/>
              </a:ext>
            </a:extLst>
          </p:cNvPr>
          <p:cNvSpPr/>
          <p:nvPr/>
        </p:nvSpPr>
        <p:spPr>
          <a:xfrm>
            <a:off x="1794904" y="4289151"/>
            <a:ext cx="1264068" cy="1264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177800" dist="165100" dir="5400000" algn="t" rotWithShape="0">
              <a:srgbClr val="F071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2DDE30D-8923-8338-E596-FD9A97B59E97}"/>
              </a:ext>
            </a:extLst>
          </p:cNvPr>
          <p:cNvSpPr/>
          <p:nvPr/>
        </p:nvSpPr>
        <p:spPr>
          <a:xfrm>
            <a:off x="6272944" y="4289151"/>
            <a:ext cx="1264068" cy="126406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9FEBCA-D366-D8A7-EDE4-D8642B63C8F7}"/>
              </a:ext>
            </a:extLst>
          </p:cNvPr>
          <p:cNvSpPr/>
          <p:nvPr/>
        </p:nvSpPr>
        <p:spPr>
          <a:xfrm>
            <a:off x="10750984" y="4289151"/>
            <a:ext cx="1264068" cy="1264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177800" dist="165100" dir="5400000" algn="t" rotWithShape="0">
              <a:srgbClr val="F071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4D1B3E-C2C2-9D9D-857F-BF315D6EE485}"/>
              </a:ext>
            </a:extLst>
          </p:cNvPr>
          <p:cNvSpPr/>
          <p:nvPr/>
        </p:nvSpPr>
        <p:spPr>
          <a:xfrm>
            <a:off x="15229026" y="4289151"/>
            <a:ext cx="1264068" cy="1264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177800" dist="165100" dir="5400000" algn="t" rotWithShape="0">
              <a:srgbClr val="F071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FBCB2-FB5D-9439-B9B4-7FA44ABC2CC0}"/>
              </a:ext>
            </a:extLst>
          </p:cNvPr>
          <p:cNvSpPr txBox="1"/>
          <p:nvPr/>
        </p:nvSpPr>
        <p:spPr>
          <a:xfrm>
            <a:off x="665534" y="5917513"/>
            <a:ext cx="3419470" cy="70788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Multilingual Board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10B3F2-7A17-5C3C-C363-46562D7E58A7}"/>
              </a:ext>
            </a:extLst>
          </p:cNvPr>
          <p:cNvSpPr txBox="1"/>
          <p:nvPr/>
        </p:nvSpPr>
        <p:spPr>
          <a:xfrm>
            <a:off x="5165519" y="5931775"/>
            <a:ext cx="3478920" cy="70788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Speak in Your Language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4EC4BD-9D54-B28D-12E1-A979682AA102}"/>
              </a:ext>
            </a:extLst>
          </p:cNvPr>
          <p:cNvSpPr txBox="1"/>
          <p:nvPr/>
        </p:nvSpPr>
        <p:spPr>
          <a:xfrm>
            <a:off x="9696085" y="5948605"/>
            <a:ext cx="3383131" cy="70788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Offline-First Design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8210B9-14A8-29CA-4CCA-F26343A8309F}"/>
              </a:ext>
            </a:extLst>
          </p:cNvPr>
          <p:cNvSpPr txBox="1"/>
          <p:nvPr/>
        </p:nvSpPr>
        <p:spPr>
          <a:xfrm>
            <a:off x="14158764" y="5882395"/>
            <a:ext cx="3627550" cy="70788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Natural Speech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F88A2E-7726-75B8-1B73-5E52E057673A}"/>
              </a:ext>
            </a:extLst>
          </p:cNvPr>
          <p:cNvSpPr txBox="1"/>
          <p:nvPr/>
        </p:nvSpPr>
        <p:spPr>
          <a:xfrm>
            <a:off x="1225289" y="787400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7797965-4FC6-5F60-9655-9F97E6EC2D8D}"/>
              </a:ext>
            </a:extLst>
          </p:cNvPr>
          <p:cNvSpPr txBox="1"/>
          <p:nvPr/>
        </p:nvSpPr>
        <p:spPr>
          <a:xfrm>
            <a:off x="787400" y="9151973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07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58E3DF8C-915F-F273-5470-7F46F38378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1493" y="4501362"/>
            <a:ext cx="776044" cy="77604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91ED19B9-D3BF-8631-7C34-87BB6325B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6802" y="4444119"/>
            <a:ext cx="868516" cy="86851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602533F7-889C-8549-86A2-6AC5661E5C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4789" y="4408044"/>
            <a:ext cx="1080379" cy="962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6487B1-A896-A6B5-905F-266D549E46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208" y="9259962"/>
            <a:ext cx="11586949" cy="1022599"/>
          </a:xfrm>
          <a:prstGeom prst="rect">
            <a:avLst/>
          </a:prstGeom>
        </p:spPr>
      </p:pic>
      <p:sp>
        <p:nvSpPr>
          <p:cNvPr id="99" name="TextBox 99"/>
          <p:cNvSpPr txBox="1"/>
          <p:nvPr/>
        </p:nvSpPr>
        <p:spPr>
          <a:xfrm>
            <a:off x="10744200" y="4724400"/>
            <a:ext cx="1270000" cy="381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Open Sans Medium"/>
              </a:rPr>
              <a:t>[ICON]</a:t>
            </a:r>
          </a:p>
        </p:txBody>
      </p:sp>
    </p:spTree>
    <p:extLst>
      <p:ext uri="{BB962C8B-B14F-4D97-AF65-F5344CB8AC3E}">
        <p14:creationId xmlns:p14="http://schemas.microsoft.com/office/powerpoint/2010/main" val="103798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779E-C183-A4CB-2D7E-577F34238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77B16F-2C33-EE45-F698-624441ECB24B}"/>
              </a:ext>
            </a:extLst>
          </p:cNvPr>
          <p:cNvSpPr/>
          <p:nvPr/>
        </p:nvSpPr>
        <p:spPr>
          <a:xfrm>
            <a:off x="4457338" y="3457535"/>
            <a:ext cx="3566967" cy="5611076"/>
          </a:xfrm>
          <a:prstGeom prst="roundRect">
            <a:avLst>
              <a:gd name="adj" fmla="val 6532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EFF321-D2F3-5F4B-A651-0C909928522B}"/>
              </a:ext>
            </a:extLst>
          </p:cNvPr>
          <p:cNvSpPr/>
          <p:nvPr/>
        </p:nvSpPr>
        <p:spPr>
          <a:xfrm>
            <a:off x="8424486" y="3409420"/>
            <a:ext cx="3552362" cy="5611076"/>
          </a:xfrm>
          <a:prstGeom prst="roundRect">
            <a:avLst>
              <a:gd name="adj" fmla="val 6532"/>
            </a:avLst>
          </a:prstGeom>
          <a:solidFill>
            <a:srgbClr val="0070C0"/>
          </a:solidFill>
          <a:ln>
            <a:noFill/>
          </a:ln>
          <a:effectLst>
            <a:outerShdw blurRad="177800" dist="165100" dir="2700000" algn="tl" rotWithShape="0">
              <a:srgbClr val="F071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415B7-0DCE-B6AB-A3BC-AC43B8F44540}"/>
              </a:ext>
            </a:extLst>
          </p:cNvPr>
          <p:cNvSpPr txBox="1"/>
          <p:nvPr/>
        </p:nvSpPr>
        <p:spPr>
          <a:xfrm>
            <a:off x="5672379" y="1171797"/>
            <a:ext cx="7579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CORE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E552D-26D9-2555-3E3E-D5327E3C5970}"/>
              </a:ext>
            </a:extLst>
          </p:cNvPr>
          <p:cNvSpPr txBox="1"/>
          <p:nvPr/>
        </p:nvSpPr>
        <p:spPr>
          <a:xfrm>
            <a:off x="8565956" y="6203733"/>
            <a:ext cx="3285959" cy="256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Real photos of fufu, banku, kenkey and trotro. Status: Built.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55BF1-13E3-2793-782F-76E31EA3FFC3}"/>
              </a:ext>
            </a:extLst>
          </p:cNvPr>
          <p:cNvSpPr txBox="1"/>
          <p:nvPr/>
        </p:nvSpPr>
        <p:spPr>
          <a:xfrm>
            <a:off x="4455964" y="6200470"/>
            <a:ext cx="3612739" cy="256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Learns your most-used words on the device. Status: Built.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DEE362-8447-8BB2-3129-EF24E12E954F}"/>
              </a:ext>
            </a:extLst>
          </p:cNvPr>
          <p:cNvSpPr/>
          <p:nvPr/>
        </p:nvSpPr>
        <p:spPr>
          <a:xfrm>
            <a:off x="5608787" y="3816315"/>
            <a:ext cx="1264068" cy="1264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177800" dist="165100" dir="5400000" algn="t" rotWithShape="0">
              <a:srgbClr val="F071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2CE5EF-E34C-60B6-3BC2-493718B2D360}"/>
              </a:ext>
            </a:extLst>
          </p:cNvPr>
          <p:cNvSpPr/>
          <p:nvPr/>
        </p:nvSpPr>
        <p:spPr>
          <a:xfrm>
            <a:off x="9568633" y="4048875"/>
            <a:ext cx="1264068" cy="126406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CB6BDB-8187-5E2A-7DC6-1119C8BD42C6}"/>
              </a:ext>
            </a:extLst>
          </p:cNvPr>
          <p:cNvSpPr txBox="1"/>
          <p:nvPr/>
        </p:nvSpPr>
        <p:spPr>
          <a:xfrm>
            <a:off x="4434870" y="5642040"/>
            <a:ext cx="3419470" cy="4001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Frequently Used Row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A48874-FC4B-B515-AEC7-16DEA8439373}"/>
              </a:ext>
            </a:extLst>
          </p:cNvPr>
          <p:cNvSpPr txBox="1"/>
          <p:nvPr/>
        </p:nvSpPr>
        <p:spPr>
          <a:xfrm>
            <a:off x="8248063" y="5883797"/>
            <a:ext cx="3478920" cy="4001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Ghanaian Content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FE43C4-EB45-0074-6EBF-5A48B3D40FF4}"/>
              </a:ext>
            </a:extLst>
          </p:cNvPr>
          <p:cNvSpPr txBox="1"/>
          <p:nvPr/>
        </p:nvSpPr>
        <p:spPr>
          <a:xfrm>
            <a:off x="1225289" y="787400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7983BAC-10A1-778C-BFEB-3071E636BD0D}"/>
              </a:ext>
            </a:extLst>
          </p:cNvPr>
          <p:cNvSpPr txBox="1"/>
          <p:nvPr/>
        </p:nvSpPr>
        <p:spPr>
          <a:xfrm>
            <a:off x="787400" y="9151973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68541-267E-26CC-71E5-4CF3A405A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208" y="9259962"/>
            <a:ext cx="11586949" cy="1022599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4D36070A-CE9A-DB52-1485-6A9E7C7DC8D0}"/>
              </a:ext>
            </a:extLst>
          </p:cNvPr>
          <p:cNvGrpSpPr/>
          <p:nvPr/>
        </p:nvGrpSpPr>
        <p:grpSpPr>
          <a:xfrm>
            <a:off x="12764295" y="2248593"/>
            <a:ext cx="5010103" cy="7239929"/>
            <a:chOff x="10343484" y="1267967"/>
            <a:chExt cx="5779524" cy="8351793"/>
          </a:xfrm>
        </p:grpSpPr>
        <p:sp>
          <p:nvSpPr>
            <p:cNvPr id="100" name="Image placeholder 100"/>
            <p:cNvSpPr/>
            <p:nvPr/>
          </p:nvSpPr>
          <p:spPr>
            <a:xfrm>
              <a:off x="10541000" y="1270000"/>
              <a:ext cx="5969000" cy="8255000"/>
            </a:xfrm>
            <a:prstGeom prst="roundRect">
              <a:avLst/>
            </a:prstGeom>
            <a:solidFill>
              <a:srgbClr val="EEF4FC"/>
            </a:solidFill>
            <a:ln w="25400">
              <a:solidFill>
                <a:srgbClr val="0070C0"/>
              </a:solidFill>
              <a:prstDash val="dash"/>
            </a:ln>
          </p:spPr>
          <p:txBody>
            <a:bodyPr wrap="square" lIns="91440" rIns="91440" anchor="ctr">
              <a:normAutofit/>
            </a:bodyPr>
            <a:lstStyle/>
            <a:p>
              <a:pPr algn="ctr"/>
              <a:r>
                <a:rPr lang="en-US" sz="1800" b="1" dirty="0">
                  <a:solidFill>
                    <a:srgbClr val="0070C0"/>
                  </a:solidFill>
                  <a:latin typeface="Open Sans Medium"/>
                </a:rPr>
                <a:t>[INSERT IMAGE]</a:t>
              </a:r>
            </a:p>
            <a:p>
              <a:pPr algn="ctr"/>
              <a:r>
                <a:rPr lang="en-US" sz="1296" dirty="0">
                  <a:solidFill>
                    <a:srgbClr val="4A5B70"/>
                  </a:solidFill>
                  <a:latin typeface="Open Sans Medium"/>
                </a:rPr>
                <a:t>App screenshots showing scanning and collections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4FBF82-5E27-FF22-8C79-F61A13503536}"/>
              </a:ext>
            </a:extLst>
          </p:cNvPr>
          <p:cNvCxnSpPr>
            <a:cxnSpLocks/>
          </p:cNvCxnSpPr>
          <p:nvPr/>
        </p:nvCxnSpPr>
        <p:spPr>
          <a:xfrm>
            <a:off x="11658600" y="6117568"/>
            <a:ext cx="123565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86349D31-97C7-FD48-FEC4-0D2BC3499F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43667" y="4297292"/>
            <a:ext cx="713999" cy="71399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AD5DDF-077D-0430-D5E1-88AA9AF480E9}"/>
              </a:ext>
            </a:extLst>
          </p:cNvPr>
          <p:cNvSpPr/>
          <p:nvPr/>
        </p:nvSpPr>
        <p:spPr>
          <a:xfrm>
            <a:off x="526724" y="3312030"/>
            <a:ext cx="3728785" cy="5611076"/>
          </a:xfrm>
          <a:prstGeom prst="roundRect">
            <a:avLst>
              <a:gd name="adj" fmla="val 6532"/>
            </a:avLst>
          </a:prstGeom>
          <a:solidFill>
            <a:srgbClr val="0070C0"/>
          </a:solidFill>
          <a:ln>
            <a:noFill/>
          </a:ln>
          <a:effectLst>
            <a:outerShdw blurRad="177800" dist="165100" dir="2700000" algn="tl" rotWithShape="0">
              <a:srgbClr val="F071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411407-86DA-4655-4475-043E3B2A86DE}"/>
              </a:ext>
            </a:extLst>
          </p:cNvPr>
          <p:cNvSpPr/>
          <p:nvPr/>
        </p:nvSpPr>
        <p:spPr>
          <a:xfrm>
            <a:off x="1452967" y="3816315"/>
            <a:ext cx="1264068" cy="126406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B05C53B1-B257-4F9C-D8E7-85AE64A20E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01771" y="3988485"/>
            <a:ext cx="776044" cy="77604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13194CC-3734-F4F8-A418-D2ADA9830085}"/>
              </a:ext>
            </a:extLst>
          </p:cNvPr>
          <p:cNvSpPr txBox="1"/>
          <p:nvPr/>
        </p:nvSpPr>
        <p:spPr>
          <a:xfrm>
            <a:off x="513603" y="5709373"/>
            <a:ext cx="3942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Switch Scanning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6FD23F-C835-971E-5AA5-57CB611FF255}"/>
              </a:ext>
            </a:extLst>
          </p:cNvPr>
          <p:cNvSpPr txBox="1"/>
          <p:nvPr/>
        </p:nvSpPr>
        <p:spPr>
          <a:xfrm>
            <a:off x="513602" y="6373893"/>
            <a:ext cx="354218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Tiles light up one by one;</a:t>
            </a:r>
          </a:p>
          <a:p>
            <a:r>
              <a:rPr lang="en-US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switch or the Space key picks. Status: Built.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588000" y="4216400"/>
            <a:ext cx="1270000" cy="381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Open Sans Medium"/>
              </a:rPr>
              <a:t>[ICON]</a:t>
            </a:r>
          </a:p>
        </p:txBody>
      </p:sp>
    </p:spTree>
    <p:extLst>
      <p:ext uri="{BB962C8B-B14F-4D97-AF65-F5344CB8AC3E}">
        <p14:creationId xmlns:p14="http://schemas.microsoft.com/office/powerpoint/2010/main" val="3556346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FDC33B0-EF9C-A468-7789-CB85AEC87546}"/>
              </a:ext>
            </a:extLst>
          </p:cNvPr>
          <p:cNvSpPr txBox="1"/>
          <p:nvPr/>
        </p:nvSpPr>
        <p:spPr>
          <a:xfrm>
            <a:off x="347103" y="969006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2CBF6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CDBC7CC-15B0-9507-D4C8-AE7976713E34}"/>
              </a:ext>
            </a:extLst>
          </p:cNvPr>
          <p:cNvSpPr/>
          <p:nvPr/>
        </p:nvSpPr>
        <p:spPr>
          <a:xfrm>
            <a:off x="1028700" y="991852"/>
            <a:ext cx="3859823" cy="3859823"/>
          </a:xfrm>
          <a:prstGeom prst="ellipse">
            <a:avLst/>
          </a:prstGeom>
          <a:solidFill>
            <a:srgbClr val="EEF4FC"/>
          </a:solidFill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Open Sans Medium"/>
              </a:rPr>
              <a:t>[INSERT IMAGE]</a:t>
            </a:r>
          </a:p>
          <a:p>
            <a:pPr algn="ctr"/>
            <a:r>
              <a:rPr lang="en-US" sz="1050" dirty="0">
                <a:solidFill>
                  <a:srgbClr val="4A5B70"/>
                </a:solidFill>
                <a:latin typeface="Open Sans Medium"/>
              </a:rPr>
              <a:t>Photo</a:t>
            </a:r>
          </a:p>
        </p:txBody>
      </p:sp>
      <p:pic>
        <p:nvPicPr>
          <p:cNvPr id="48" name="Picture 47" descr="Echo Feel collec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60171" y="1371600"/>
            <a:ext cx="3724658" cy="3175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6C275E8-17DD-139A-1E71-6D0B004FA574}"/>
              </a:ext>
            </a:extLst>
          </p:cNvPr>
          <p:cNvSpPr txBox="1"/>
          <p:nvPr/>
        </p:nvSpPr>
        <p:spPr>
          <a:xfrm>
            <a:off x="5442243" y="302216"/>
            <a:ext cx="7579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OUR JOURNEY SO FAR</a:t>
            </a:r>
          </a:p>
        </p:txBody>
      </p:sp>
      <p:pic>
        <p:nvPicPr>
          <p:cNvPr id="47" name="Picture 46" descr="Echo boards in Spanish, English and Tw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500" y="1130300"/>
            <a:ext cx="6857999" cy="34162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17884DF-4CC2-3C7F-C885-F7B4BFE525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487" y="9793114"/>
            <a:ext cx="9910634" cy="9877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4F883F-94F7-AFDD-D35E-97738FFDF313}"/>
              </a:ext>
            </a:extLst>
          </p:cNvPr>
          <p:cNvSpPr txBox="1"/>
          <p:nvPr/>
        </p:nvSpPr>
        <p:spPr>
          <a:xfrm>
            <a:off x="347103" y="363042"/>
            <a:ext cx="18501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19D8C-C4A7-9B88-93E9-EC063A6A7C00}"/>
              </a:ext>
            </a:extLst>
          </p:cNvPr>
          <p:cNvSpPr txBox="1"/>
          <p:nvPr/>
        </p:nvSpPr>
        <p:spPr>
          <a:xfrm>
            <a:off x="120604" y="9702225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09</a:t>
            </a:r>
          </a:p>
        </p:txBody>
      </p:sp>
      <p:sp>
        <p:nvSpPr>
          <p:cNvPr id="36" name="Shape 36"/>
          <p:cNvSpPr/>
          <p:nvPr/>
        </p:nvSpPr>
        <p:spPr>
          <a:xfrm>
            <a:off x="2413000" y="6921500"/>
            <a:ext cx="13716000" cy="101600"/>
          </a:xfrm>
          <a:prstGeom prst="rect">
            <a:avLst/>
          </a:prstGeom>
          <a:solidFill>
            <a:srgbClr val="BFD7F2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1981200" y="6591300"/>
            <a:ext cx="863600" cy="863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anchor="ctr" lIns="0" rIns="0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5500" y="7683500"/>
            <a:ext cx="3175000" cy="1651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Open Sans Medium"/>
              </a:rPr>
              <a:t>PRD and research</a:t>
            </a:r>
          </a:p>
          <a:p>
            <a:pPr algn="ctr"/>
            <a:r>
              <a:rPr lang="en-US" sz="1800" b="1" dirty="0">
                <a:solidFill>
                  <a:srgbClr val="2E9E5B"/>
                </a:solidFill>
                <a:latin typeface="Open Sans Medium"/>
              </a:rPr>
              <a:t>Built</a:t>
            </a:r>
          </a:p>
        </p:txBody>
      </p:sp>
      <p:sp>
        <p:nvSpPr>
          <p:cNvPr id="39" name="Shape 39"/>
          <p:cNvSpPr/>
          <p:nvPr/>
        </p:nvSpPr>
        <p:spPr>
          <a:xfrm>
            <a:off x="5410200" y="6591300"/>
            <a:ext cx="863600" cy="863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anchor="ctr" lIns="0" rIns="0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54500" y="7683500"/>
            <a:ext cx="3175000" cy="1651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Open Sans Medium"/>
              </a:rPr>
              <a:t>Flutter board and core vocabulary</a:t>
            </a:r>
          </a:p>
          <a:p>
            <a:pPr algn="ctr"/>
            <a:r>
              <a:rPr lang="en-US" sz="1800" b="1" dirty="0">
                <a:solidFill>
                  <a:srgbClr val="2E9E5B"/>
                </a:solidFill>
                <a:latin typeface="Open Sans Medium"/>
              </a:rPr>
              <a:t>Built</a:t>
            </a:r>
          </a:p>
        </p:txBody>
      </p:sp>
      <p:sp>
        <p:nvSpPr>
          <p:cNvPr id="41" name="Shape 41"/>
          <p:cNvSpPr/>
          <p:nvPr/>
        </p:nvSpPr>
        <p:spPr>
          <a:xfrm>
            <a:off x="8839200" y="6591300"/>
            <a:ext cx="863600" cy="863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anchor="ctr" lIns="0" rIns="0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683500" y="7683500"/>
            <a:ext cx="3175000" cy="1651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Open Sans Medium"/>
              </a:rPr>
              <a:t>Twi, Ga and speech with Khaya AI</a:t>
            </a:r>
          </a:p>
          <a:p>
            <a:pPr algn="ctr"/>
            <a:r>
              <a:rPr lang="en-US" sz="1800" b="1" dirty="0">
                <a:solidFill>
                  <a:srgbClr val="2E9E5B"/>
                </a:solidFill>
                <a:latin typeface="Open Sans Medium"/>
              </a:rPr>
              <a:t>Built</a:t>
            </a:r>
          </a:p>
        </p:txBody>
      </p:sp>
      <p:sp>
        <p:nvSpPr>
          <p:cNvPr id="43" name="Shape 43"/>
          <p:cNvSpPr/>
          <p:nvPr/>
        </p:nvSpPr>
        <p:spPr>
          <a:xfrm>
            <a:off x="12268200" y="6591300"/>
            <a:ext cx="863600" cy="863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anchor="ctr" lIns="0" rIns="0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12500" y="7683500"/>
            <a:ext cx="3175000" cy="1651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Open Sans Medium"/>
              </a:rPr>
              <a:t>Offline pictograms, photos, accessibility</a:t>
            </a:r>
          </a:p>
          <a:p>
            <a:pPr algn="ctr"/>
            <a:r>
              <a:rPr lang="en-US" sz="1800" b="1" dirty="0">
                <a:solidFill>
                  <a:srgbClr val="2E9E5B"/>
                </a:solidFill>
                <a:latin typeface="Open Sans Medium"/>
              </a:rPr>
              <a:t>Built</a:t>
            </a:r>
          </a:p>
        </p:txBody>
      </p:sp>
      <p:sp>
        <p:nvSpPr>
          <p:cNvPr id="45" name="Shape 45"/>
          <p:cNvSpPr/>
          <p:nvPr/>
        </p:nvSpPr>
        <p:spPr>
          <a:xfrm>
            <a:off x="15697200" y="6591300"/>
            <a:ext cx="863600" cy="8636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="ctr" lIns="0" rIns="0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541500" y="7683500"/>
            <a:ext cx="3175000" cy="16510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Open Sans Medium"/>
              </a:rPr>
              <a:t>Spanish, French and device testing</a:t>
            </a:r>
          </a:p>
          <a:p>
            <a:pPr algn="ctr"/>
            <a:r>
              <a:rPr lang="en-US" sz="1800" b="1" dirty="0">
                <a:solidFill>
                  <a:srgbClr val="E67E22"/>
                </a:solidFill>
                <a:latin typeface="Open Sans Medium"/>
              </a:rPr>
              <a:t>In progress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56E0-C2ED-EE2B-2F50-CD4EA9B7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4D66E8-6EDF-4321-35C4-BD6DEAC4540E}"/>
              </a:ext>
            </a:extLst>
          </p:cNvPr>
          <p:cNvSpPr/>
          <p:nvPr/>
        </p:nvSpPr>
        <p:spPr>
          <a:xfrm>
            <a:off x="368709" y="3510116"/>
            <a:ext cx="4116460" cy="5611076"/>
          </a:xfrm>
          <a:prstGeom prst="roundRect">
            <a:avLst>
              <a:gd name="adj" fmla="val 6532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CB270D-6DE4-44C2-DC54-8EFA18C34347}"/>
              </a:ext>
            </a:extLst>
          </p:cNvPr>
          <p:cNvSpPr txBox="1"/>
          <p:nvPr/>
        </p:nvSpPr>
        <p:spPr>
          <a:xfrm>
            <a:off x="3828529" y="1165808"/>
            <a:ext cx="11586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TESTING AND FEEDBACK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56EC0A-1AE4-0B85-0690-62094A203304}"/>
              </a:ext>
            </a:extLst>
          </p:cNvPr>
          <p:cNvSpPr txBox="1"/>
          <p:nvPr/>
        </p:nvSpPr>
        <p:spPr>
          <a:xfrm>
            <a:off x="1225289" y="787400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F39FAD4-6F39-61CF-0A7E-53CBD80600EC}"/>
              </a:ext>
            </a:extLst>
          </p:cNvPr>
          <p:cNvSpPr txBox="1"/>
          <p:nvPr/>
        </p:nvSpPr>
        <p:spPr>
          <a:xfrm>
            <a:off x="787400" y="9151973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D61582-9D49-3749-EB2F-7CFD695C3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208" y="9259962"/>
            <a:ext cx="11586949" cy="1022599"/>
          </a:xfrm>
          <a:prstGeom prst="rect">
            <a:avLst/>
          </a:prstGeom>
        </p:spPr>
      </p:pic>
      <p:sp>
        <p:nvSpPr>
          <p:cNvPr id="99" name="Image placeholder 99"/>
          <p:cNvSpPr/>
          <p:nvPr/>
        </p:nvSpPr>
        <p:spPr>
          <a:xfrm>
            <a:off x="368300" y="3340100"/>
            <a:ext cx="7569200" cy="4254500"/>
          </a:xfrm>
          <a:prstGeom prst="roundRect">
            <a:avLst/>
          </a:prstGeom>
          <a:solidFill>
            <a:srgbClr val="EEF4FC"/>
          </a:solidFill>
          <a:ln w="25400">
            <a:solidFill>
              <a:srgbClr val="0070C0"/>
            </a:solidFill>
            <a:prstDash val="dash"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  <a:latin typeface="Open Sans Medium"/>
              </a:rPr>
              <a:t>[INSERT IMAGE]</a:t>
            </a:r>
          </a:p>
          <a:p>
            <a:pPr algn="ctr"/>
            <a:r>
              <a:rPr lang="en-US" sz="1296" dirty="0">
                <a:solidFill>
                  <a:srgbClr val="4A5B70"/>
                </a:solidFill>
                <a:latin typeface="Open Sans Medium"/>
              </a:rPr>
              <a:t>Photo of Echo running on the phone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5E171-1909-D538-8D26-29EF4125BAE4}"/>
              </a:ext>
            </a:extLst>
          </p:cNvPr>
          <p:cNvSpPr txBox="1"/>
          <p:nvPr/>
        </p:nvSpPr>
        <p:spPr>
          <a:xfrm>
            <a:off x="223438" y="2613268"/>
            <a:ext cx="9190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ANDROID DEVICE TESTING (IN PROGRESS)</a:t>
            </a:r>
          </a:p>
        </p:txBody>
      </p:sp>
      <p:sp>
        <p:nvSpPr>
          <p:cNvPr id="100" name="Image placeholder 100"/>
          <p:cNvSpPr/>
          <p:nvPr/>
        </p:nvSpPr>
        <p:spPr>
          <a:xfrm>
            <a:off x="10312400" y="3162300"/>
            <a:ext cx="7658100" cy="6096000"/>
          </a:xfrm>
          <a:prstGeom prst="roundRect">
            <a:avLst/>
          </a:prstGeom>
          <a:solidFill>
            <a:srgbClr val="EEF4FC"/>
          </a:solidFill>
          <a:ln w="25400">
            <a:solidFill>
              <a:srgbClr val="0070C0"/>
            </a:solidFill>
            <a:prstDash val="dash"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0070C0"/>
                </a:solidFill>
                <a:latin typeface="Open Sans Medium"/>
              </a:rPr>
              <a:t>[INSERT IMAGE]</a:t>
            </a:r>
          </a:p>
          <a:p>
            <a:pPr algn="ctr"/>
            <a:r>
              <a:rPr lang="en-US" sz="1296" dirty="0">
                <a:solidFill>
                  <a:srgbClr val="4A5B70"/>
                </a:solidFill>
                <a:latin typeface="Open Sans Medium"/>
              </a:rPr>
              <a:t>Photo from review or testing session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63135-1BEC-127C-B17F-F9F4116882A7}"/>
              </a:ext>
            </a:extLst>
          </p:cNvPr>
          <p:cNvSpPr txBox="1"/>
          <p:nvPr/>
        </p:nvSpPr>
        <p:spPr>
          <a:xfrm>
            <a:off x="10316573" y="2499877"/>
            <a:ext cx="7891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EXPERT AND SPEAKER REVIEW (PLANNED)</a:t>
            </a:r>
          </a:p>
        </p:txBody>
      </p:sp>
    </p:spTree>
    <p:extLst>
      <p:ext uri="{BB962C8B-B14F-4D97-AF65-F5344CB8AC3E}">
        <p14:creationId xmlns:p14="http://schemas.microsoft.com/office/powerpoint/2010/main" val="54136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4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699" y="884039"/>
            <a:ext cx="16889649" cy="8374261"/>
            <a:chOff x="0" y="-38100"/>
            <a:chExt cx="4274726" cy="22055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1925" y="0"/>
                  </a:moveTo>
                  <a:lnTo>
                    <a:pt x="4262801" y="0"/>
                  </a:lnTo>
                  <a:cubicBezTo>
                    <a:pt x="4269387" y="0"/>
                    <a:pt x="4274726" y="5339"/>
                    <a:pt x="4274726" y="11925"/>
                  </a:cubicBezTo>
                  <a:lnTo>
                    <a:pt x="4274726" y="2155542"/>
                  </a:lnTo>
                  <a:cubicBezTo>
                    <a:pt x="4274726" y="2162128"/>
                    <a:pt x="4269387" y="2167467"/>
                    <a:pt x="4262801" y="2167467"/>
                  </a:cubicBezTo>
                  <a:lnTo>
                    <a:pt x="11925" y="2167467"/>
                  </a:lnTo>
                  <a:cubicBezTo>
                    <a:pt x="5339" y="2167467"/>
                    <a:pt x="0" y="2162128"/>
                    <a:pt x="0" y="2155542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41D1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968178" y="1368088"/>
            <a:ext cx="6291123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1" dirty="0">
                <a:solidFill>
                  <a:srgbClr val="0070C0"/>
                </a:solidFill>
                <a:latin typeface="Shrikhand"/>
                <a:cs typeface="Shrikhand"/>
                <a:sym typeface="Shrikhand"/>
              </a:rPr>
              <a:t>Global</a:t>
            </a:r>
            <a:r>
              <a:rPr lang="en-US" sz="4599" b="1" dirty="0">
                <a:solidFill>
                  <a:srgbClr val="0070C0"/>
                </a:solidFill>
                <a:latin typeface="Shrikhand"/>
                <a:ea typeface="Shrikhand"/>
                <a:cs typeface="Shrikhand"/>
                <a:sym typeface="Shrikhand"/>
              </a:rPr>
              <a:t xml:space="preserve"> Language</a:t>
            </a:r>
          </a:p>
          <a:p>
            <a:pPr algn="l">
              <a:lnSpc>
                <a:spcPts val="5519"/>
              </a:lnSpc>
            </a:pPr>
            <a:r>
              <a:rPr lang="en-US" sz="4599" b="1" dirty="0">
                <a:solidFill>
                  <a:srgbClr val="0070C0"/>
                </a:solidFill>
                <a:latin typeface="Shrikhand"/>
                <a:ea typeface="Shrikhand"/>
                <a:cs typeface="Shrikhand"/>
                <a:sym typeface="Shrikhand"/>
              </a:rPr>
              <a:t>Roadmap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68178" y="2941237"/>
            <a:ext cx="6517620" cy="4213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ct val="100000"/>
              </a:lnSpc>
              <a:buFont typeface="Arial"/>
              <a:buChar char="•"/>
            </a:pPr>
            <a:r>
              <a:rPr lang="en-US" sz="2200" dirty="0">
                <a:solidFill>
                  <a:srgbClr val="341D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Now: English, Twi and Ga, built.</a:t>
            </a:r>
          </a:p>
          <a:p>
            <a:pPr marL="302259" lvl="1">
              <a:lnSpc>
                <a:spcPct val="100000"/>
              </a:lnSpc>
            </a:pPr>
            <a:endParaRPr lang="en-US" sz="2200" dirty="0">
              <a:solidFill>
                <a:srgbClr val="341D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Poppins"/>
            </a:endParaRPr>
          </a:p>
          <a:p>
            <a:pPr marL="604519" lvl="1" indent="-302260">
              <a:lnSpc>
                <a:spcPts val="4199"/>
              </a:lnSpc>
              <a:buFont typeface="Arial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Next: Spanish (600M+ speakers) and French (321M speakers, 62% in Africa), using built-in phone voices.</a:t>
            </a:r>
          </a:p>
          <a:p>
            <a:pPr marL="302259" lvl="1">
              <a:lnSpc>
                <a:spcPts val="4199"/>
              </a:lnSpc>
            </a:pPr>
            <a:endParaRPr lang="en-US" sz="2200" b="1" dirty="0">
              <a:solidFill>
                <a:srgbClr val="341D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Poppins"/>
            </a:endParaRPr>
          </a:p>
          <a:p>
            <a:pPr marL="604519" lvl="1" indent="-302260">
              <a:lnSpc>
                <a:spcPts val="4199"/>
              </a:lnSpc>
              <a:buFont typeface="Arial"/>
              <a:buChar char="•"/>
            </a:pPr>
            <a:r>
              <a:rPr lang="en-US" sz="2200" dirty="0">
                <a:solidFill>
                  <a:srgbClr val="341D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Poppins"/>
              </a:rPr>
              <a:t>Then: any language, through community language packs that anyone can add.</a:t>
            </a:r>
          </a:p>
          <a:p>
            <a:pPr algn="just">
              <a:lnSpc>
                <a:spcPts val="4199"/>
              </a:lnSpc>
            </a:pPr>
            <a:endParaRPr lang="en-US" sz="2799" dirty="0">
              <a:solidFill>
                <a:srgbClr val="341D1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409F0-8154-816D-EE69-EA94B6E19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525" y="9020265"/>
            <a:ext cx="11586949" cy="115484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2C3333-C7A0-0AAB-AF6F-726E3D432527}"/>
              </a:ext>
            </a:extLst>
          </p:cNvPr>
          <p:cNvSpPr/>
          <p:nvPr/>
        </p:nvSpPr>
        <p:spPr>
          <a:xfrm>
            <a:off x="1437506" y="1642408"/>
            <a:ext cx="8871625" cy="5875507"/>
          </a:xfrm>
          <a:prstGeom prst="roundRect">
            <a:avLst/>
          </a:prstGeom>
          <a:solidFill>
            <a:srgbClr val="EEF4FC"/>
          </a:solidFill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Open Sans Medium"/>
              </a:rPr>
              <a:t>[INSERT IMAGE]</a:t>
            </a:r>
          </a:p>
          <a:p>
            <a:pPr algn="ctr"/>
            <a:r>
              <a:rPr lang="en-US" sz="1800" dirty="0">
                <a:solidFill>
                  <a:srgbClr val="4A5B70"/>
                </a:solidFill>
                <a:latin typeface="Open Sans Medium"/>
              </a:rPr>
              <a:t>World map or roadmap graphic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9E997-D670-1F74-3709-A0D2377831FC}"/>
              </a:ext>
            </a:extLst>
          </p:cNvPr>
          <p:cNvSpPr txBox="1"/>
          <p:nvPr/>
        </p:nvSpPr>
        <p:spPr>
          <a:xfrm>
            <a:off x="679886" y="396410"/>
            <a:ext cx="18501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spc="100" dirty="0">
                <a:solidFill>
                  <a:srgbClr val="338DCD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2E0C7-6A39-0377-2198-9FDBAE176F73}"/>
              </a:ext>
            </a:extLst>
          </p:cNvPr>
          <p:cNvSpPr txBox="1"/>
          <p:nvPr/>
        </p:nvSpPr>
        <p:spPr>
          <a:xfrm>
            <a:off x="120604" y="970222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75A65D-99D0-3207-826C-B28453619358}"/>
              </a:ext>
            </a:extLst>
          </p:cNvPr>
          <p:cNvSpPr txBox="1"/>
          <p:nvPr/>
        </p:nvSpPr>
        <p:spPr>
          <a:xfrm>
            <a:off x="1493520" y="288019"/>
            <a:ext cx="12588240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1" dirty="0">
                <a:solidFill>
                  <a:srgbClr val="0070C0"/>
                </a:solidFill>
                <a:latin typeface="Shrikhand"/>
                <a:cs typeface="Shrikhand"/>
                <a:sym typeface="Shrikhand"/>
              </a:rPr>
              <a:t>The</a:t>
            </a:r>
            <a:r>
              <a:rPr lang="en-US" sz="4599" b="1" dirty="0">
                <a:solidFill>
                  <a:srgbClr val="0070C0"/>
                </a:solidFill>
                <a:latin typeface="Shrikhand"/>
                <a:ea typeface="Shrikhand"/>
                <a:cs typeface="Shrikhand"/>
                <a:sym typeface="Shrikhand"/>
              </a:rPr>
              <a:t xml:space="preserve"> Future Vision Of Echo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B00FD-5276-76C4-CCA1-0F552B53308E}"/>
              </a:ext>
            </a:extLst>
          </p:cNvPr>
          <p:cNvSpPr txBox="1"/>
          <p:nvPr/>
        </p:nvSpPr>
        <p:spPr>
          <a:xfrm>
            <a:off x="1493520" y="1539241"/>
            <a:ext cx="13136880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More Languages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Add community language packs, starting with Spanish and French, then Ewe, Fante and Dagbani (supported by Khaya AI), each reviewed by native speakers.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600" dirty="0">
              <a:latin typeface="Open Sans Medium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600" dirty="0">
              <a:latin typeface="Open Sans Medium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Voice Profile and Cloning</a:t>
            </a:r>
            <a:br>
              <a:rPr lang="en-US" sz="2600" dirty="0">
                <a:latin typeface="Open Sans Medium"/>
              </a:rPr>
            </a:br>
            <a:r>
              <a:rPr lang="en-US" sz="2600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Let users record sample phrases so Echo speaks in their own voice, as an enhancement that never blocks communication.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600" dirty="0">
              <a:latin typeface="Open Sans Medium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Private and Offline by Design</a:t>
            </a:r>
            <a:br>
              <a:rPr lang="en-US" sz="2600" dirty="0">
                <a:latin typeface="Open Sans Medium"/>
              </a:rPr>
            </a:br>
            <a:r>
              <a:rPr lang="en-US" sz="2600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Keep user data on the device and cache speech, so nothing depends on a live connection and nothing leaves the phone.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600" dirty="0">
              <a:latin typeface="Open Sans Medium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Measured Real-World Impact</a:t>
            </a:r>
            <a:br>
              <a:rPr lang="en-US" sz="2600" dirty="0">
                <a:latin typeface="Open Sans Medium"/>
              </a:rPr>
            </a:br>
            <a:r>
              <a:rPr lang="en-US" sz="2600" dirty="0">
                <a:latin typeface="Open Sans Medium"/>
                <a:ea typeface="Open Sans" panose="020B0606030504020204" pitchFamily="34" charset="0"/>
                <a:cs typeface="Open Sans" panose="020B0606030504020204" pitchFamily="34" charset="0"/>
              </a:rPr>
              <a:t>Pilot with therapists, schools and families on affordable Android phones, tracking taps per message and words per minute.</a:t>
            </a:r>
          </a:p>
        </p:txBody>
      </p:sp>
    </p:spTree>
    <p:extLst>
      <p:ext uri="{BB962C8B-B14F-4D97-AF65-F5344CB8AC3E}">
        <p14:creationId xmlns:p14="http://schemas.microsoft.com/office/powerpoint/2010/main" val="78351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42585B-10A7-496B-42DF-C99AB8B7E2A9}"/>
              </a:ext>
            </a:extLst>
          </p:cNvPr>
          <p:cNvSpPr/>
          <p:nvPr/>
        </p:nvSpPr>
        <p:spPr>
          <a:xfrm>
            <a:off x="645321" y="7158890"/>
            <a:ext cx="5180713" cy="1264064"/>
          </a:xfrm>
          <a:prstGeom prst="roundRect">
            <a:avLst>
              <a:gd name="adj" fmla="val 50000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C3FA5-CA4E-89C0-7483-970049B08262}"/>
              </a:ext>
            </a:extLst>
          </p:cNvPr>
          <p:cNvSpPr txBox="1"/>
          <p:nvPr/>
        </p:nvSpPr>
        <p:spPr>
          <a:xfrm>
            <a:off x="2124618" y="7452239"/>
            <a:ext cx="3484202" cy="87203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EDUCATORS AND SPECIAL EDUCATION STAFF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1AAE2A-4D0D-EF19-D90B-BE3CA5AFC41D}"/>
              </a:ext>
            </a:extLst>
          </p:cNvPr>
          <p:cNvSpPr/>
          <p:nvPr/>
        </p:nvSpPr>
        <p:spPr>
          <a:xfrm>
            <a:off x="881506" y="7395074"/>
            <a:ext cx="791698" cy="79169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9F7B1B-5A2F-2338-F774-042BF8954133}"/>
              </a:ext>
            </a:extLst>
          </p:cNvPr>
          <p:cNvSpPr/>
          <p:nvPr/>
        </p:nvSpPr>
        <p:spPr>
          <a:xfrm>
            <a:off x="6644132" y="5407391"/>
            <a:ext cx="5177455" cy="1264064"/>
          </a:xfrm>
          <a:prstGeom prst="roundRect">
            <a:avLst>
              <a:gd name="adj" fmla="val 50000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7DCFAD-0440-3886-F34C-2D5052BE04B1}"/>
              </a:ext>
            </a:extLst>
          </p:cNvPr>
          <p:cNvSpPr txBox="1"/>
          <p:nvPr/>
        </p:nvSpPr>
        <p:spPr>
          <a:xfrm>
            <a:off x="8022449" y="5679625"/>
            <a:ext cx="3484202" cy="87203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STROKE SURVIVORS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26A0BE7-720E-BAE1-D3F8-D8711E205C10}"/>
              </a:ext>
            </a:extLst>
          </p:cNvPr>
          <p:cNvSpPr/>
          <p:nvPr/>
        </p:nvSpPr>
        <p:spPr>
          <a:xfrm>
            <a:off x="6880317" y="5643575"/>
            <a:ext cx="791698" cy="79169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FD354F1-0DAF-016A-5611-AA281538B21A}"/>
              </a:ext>
            </a:extLst>
          </p:cNvPr>
          <p:cNvSpPr/>
          <p:nvPr/>
        </p:nvSpPr>
        <p:spPr>
          <a:xfrm>
            <a:off x="6644132" y="7216055"/>
            <a:ext cx="5177455" cy="1264064"/>
          </a:xfrm>
          <a:prstGeom prst="roundRect">
            <a:avLst>
              <a:gd name="adj" fmla="val 50000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1DCED6-6B42-560C-E07E-0BEDA5DB3B74}"/>
              </a:ext>
            </a:extLst>
          </p:cNvPr>
          <p:cNvSpPr txBox="1"/>
          <p:nvPr/>
        </p:nvSpPr>
        <p:spPr>
          <a:xfrm>
            <a:off x="7930383" y="7726528"/>
            <a:ext cx="3484202" cy="87203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PEOPLE WITH ALS OR SPEECH APRAXIA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3CC58D3-066E-E90E-F829-1D86CF6DB8A0}"/>
              </a:ext>
            </a:extLst>
          </p:cNvPr>
          <p:cNvSpPr/>
          <p:nvPr/>
        </p:nvSpPr>
        <p:spPr>
          <a:xfrm>
            <a:off x="6880317" y="7452239"/>
            <a:ext cx="791698" cy="79169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BFCCBCE-717E-F993-B6DA-D85E96009C2E}"/>
              </a:ext>
            </a:extLst>
          </p:cNvPr>
          <p:cNvSpPr/>
          <p:nvPr/>
        </p:nvSpPr>
        <p:spPr>
          <a:xfrm>
            <a:off x="645321" y="5407391"/>
            <a:ext cx="5180713" cy="1264064"/>
          </a:xfrm>
          <a:prstGeom prst="roundRect">
            <a:avLst>
              <a:gd name="adj" fmla="val 50000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26020C-ADA7-7FBA-1AE6-6ACF79E58473}"/>
              </a:ext>
            </a:extLst>
          </p:cNvPr>
          <p:cNvSpPr txBox="1"/>
          <p:nvPr/>
        </p:nvSpPr>
        <p:spPr>
          <a:xfrm>
            <a:off x="2056386" y="5745579"/>
            <a:ext cx="3484202" cy="45621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PEOPLE WITH CEREBRAL PALSY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5542B1A-344F-758D-E860-408508F672C1}"/>
              </a:ext>
            </a:extLst>
          </p:cNvPr>
          <p:cNvSpPr/>
          <p:nvPr/>
        </p:nvSpPr>
        <p:spPr>
          <a:xfrm>
            <a:off x="881506" y="5643575"/>
            <a:ext cx="791698" cy="79169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3AA507-1A24-AB9D-1762-289DD0609B1C}"/>
              </a:ext>
            </a:extLst>
          </p:cNvPr>
          <p:cNvSpPr txBox="1"/>
          <p:nvPr/>
        </p:nvSpPr>
        <p:spPr>
          <a:xfrm>
            <a:off x="3651306" y="1430784"/>
            <a:ext cx="94636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Potential</a:t>
            </a:r>
            <a:r>
              <a:rPr lang="en-US" sz="5400" b="1" spc="30" dirty="0">
                <a:solidFill>
                  <a:srgbClr val="F07145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5400" b="1" spc="30" dirty="0"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User</a:t>
            </a:r>
            <a:r>
              <a:rPr lang="en-US" sz="5400" b="1" spc="30" dirty="0">
                <a:solidFill>
                  <a:srgbClr val="F07145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5400" b="1" spc="30" dirty="0"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Base</a:t>
            </a:r>
            <a:r>
              <a:rPr lang="en-US" sz="5400" b="1" spc="30" dirty="0">
                <a:solidFill>
                  <a:srgbClr val="F07145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54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and</a:t>
            </a:r>
            <a:r>
              <a:rPr lang="en-US" sz="5400" b="1" spc="30" dirty="0">
                <a:solidFill>
                  <a:srgbClr val="F07145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5400" b="1" spc="30" dirty="0">
                <a:solidFill>
                  <a:srgbClr val="0070C0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Target Market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28E5D6-4E39-8991-90A1-130D2EDEFD90}"/>
              </a:ext>
            </a:extLst>
          </p:cNvPr>
          <p:cNvSpPr/>
          <p:nvPr/>
        </p:nvSpPr>
        <p:spPr>
          <a:xfrm>
            <a:off x="12544203" y="5455287"/>
            <a:ext cx="5177455" cy="1264064"/>
          </a:xfrm>
          <a:prstGeom prst="roundRect">
            <a:avLst>
              <a:gd name="adj" fmla="val 50000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8DCD0F-5461-B4CF-7307-D02F96A2A51C}"/>
              </a:ext>
            </a:extLst>
          </p:cNvPr>
          <p:cNvSpPr txBox="1"/>
          <p:nvPr/>
        </p:nvSpPr>
        <p:spPr>
          <a:xfrm>
            <a:off x="14142435" y="5876695"/>
            <a:ext cx="3484202" cy="45621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AUTISTIC CHILDREN &amp; FAMILY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09D8D09-B9AA-0D3E-5C99-50E129F1CD73}"/>
              </a:ext>
            </a:extLst>
          </p:cNvPr>
          <p:cNvSpPr/>
          <p:nvPr/>
        </p:nvSpPr>
        <p:spPr>
          <a:xfrm>
            <a:off x="12780388" y="5691471"/>
            <a:ext cx="791698" cy="79169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0BC1CDB-610D-7CD8-EEFB-ACE5185B4ECC}"/>
              </a:ext>
            </a:extLst>
          </p:cNvPr>
          <p:cNvSpPr/>
          <p:nvPr/>
        </p:nvSpPr>
        <p:spPr>
          <a:xfrm>
            <a:off x="12544203" y="7263951"/>
            <a:ext cx="5177455" cy="1264064"/>
          </a:xfrm>
          <a:prstGeom prst="roundRect">
            <a:avLst>
              <a:gd name="adj" fmla="val 50000"/>
            </a:avLst>
          </a:prstGeom>
          <a:solidFill>
            <a:srgbClr val="F9F8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0449E8-7E3A-DE38-1269-3065446580C6}"/>
              </a:ext>
            </a:extLst>
          </p:cNvPr>
          <p:cNvSpPr txBox="1"/>
          <p:nvPr/>
        </p:nvSpPr>
        <p:spPr>
          <a:xfrm>
            <a:off x="13853067" y="7669570"/>
            <a:ext cx="3484202" cy="87203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SPEECH AND LANGUAGE PATHOLOGISTS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0F17997-4DB3-C670-A52C-40D21A365DEA}"/>
              </a:ext>
            </a:extLst>
          </p:cNvPr>
          <p:cNvSpPr/>
          <p:nvPr/>
        </p:nvSpPr>
        <p:spPr>
          <a:xfrm>
            <a:off x="12780388" y="7500135"/>
            <a:ext cx="791698" cy="79169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1CB575-23A1-6C44-E8FB-B51CAFC0C397}"/>
              </a:ext>
            </a:extLst>
          </p:cNvPr>
          <p:cNvSpPr txBox="1"/>
          <p:nvPr/>
        </p:nvSpPr>
        <p:spPr>
          <a:xfrm>
            <a:off x="1010272" y="5745896"/>
            <a:ext cx="371261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F7F3FC-FEE0-0F5D-C33C-D6AFB34027D6}"/>
              </a:ext>
            </a:extLst>
          </p:cNvPr>
          <p:cNvSpPr txBox="1"/>
          <p:nvPr/>
        </p:nvSpPr>
        <p:spPr>
          <a:xfrm>
            <a:off x="1058225" y="7498544"/>
            <a:ext cx="371261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BF2DFB-23BA-129D-29FE-CD8CA2CCABE4}"/>
              </a:ext>
            </a:extLst>
          </p:cNvPr>
          <p:cNvSpPr txBox="1"/>
          <p:nvPr/>
        </p:nvSpPr>
        <p:spPr>
          <a:xfrm>
            <a:off x="7080839" y="5764152"/>
            <a:ext cx="371261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023FDE-5FD4-B46A-2969-1953DDB4F267}"/>
              </a:ext>
            </a:extLst>
          </p:cNvPr>
          <p:cNvSpPr txBox="1"/>
          <p:nvPr/>
        </p:nvSpPr>
        <p:spPr>
          <a:xfrm>
            <a:off x="12990606" y="5785969"/>
            <a:ext cx="371261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50ACF4-8AFE-C8EF-A6CC-95FB2D330710}"/>
              </a:ext>
            </a:extLst>
          </p:cNvPr>
          <p:cNvSpPr txBox="1"/>
          <p:nvPr/>
        </p:nvSpPr>
        <p:spPr>
          <a:xfrm>
            <a:off x="7090535" y="7572816"/>
            <a:ext cx="371261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595FA9-9958-0ACE-D994-B67EA64F477A}"/>
              </a:ext>
            </a:extLst>
          </p:cNvPr>
          <p:cNvSpPr txBox="1"/>
          <p:nvPr/>
        </p:nvSpPr>
        <p:spPr>
          <a:xfrm>
            <a:off x="12932479" y="7645498"/>
            <a:ext cx="371261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F4212E-07BF-0B3D-077C-43B1EB96A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663" y="9010563"/>
            <a:ext cx="11586949" cy="1154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C82C61-6E30-16E6-6047-15CF0E2647CD}"/>
              </a:ext>
            </a:extLst>
          </p:cNvPr>
          <p:cNvSpPr txBox="1"/>
          <p:nvPr/>
        </p:nvSpPr>
        <p:spPr>
          <a:xfrm>
            <a:off x="748111" y="437224"/>
            <a:ext cx="18501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ECHO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FA6A5-DA4B-679F-BB46-BEA68996E73B}"/>
              </a:ext>
            </a:extLst>
          </p:cNvPr>
          <p:cNvSpPr txBox="1"/>
          <p:nvPr/>
        </p:nvSpPr>
        <p:spPr>
          <a:xfrm>
            <a:off x="120604" y="970222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4265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6072"/>
            <a:ext cx="891540" cy="8915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88820" y="548640"/>
            <a:ext cx="1440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1295C"/>
                </a:solidFill>
                <a:latin typeface="Open Sans Medium"/>
                <a:ea typeface="Cambria" pitchFamily="34" charset="-122"/>
                <a:cs typeface="Times New Roman" panose="02020603050405020304" pitchFamily="18" charset="0"/>
              </a:rPr>
              <a:t>Market Opportunity</a:t>
            </a:r>
            <a:endParaRPr lang="en-US" sz="4800" dirty="0">
              <a:latin typeface="Open Sans Medium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088967" y="2534031"/>
            <a:ext cx="16124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latin typeface="Open Sans Medium"/>
              </a:rPr>
              <a:t>Each tier below narrows the market down, from everyone who could benefit to who Echo can realistically reach first.</a:t>
            </a:r>
            <a:endParaRPr lang="en-US" sz="2400" dirty="0">
              <a:latin typeface="Open Sans Medium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088967" y="1570482"/>
            <a:ext cx="1645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1A"/>
                </a:solidFill>
                <a:latin typeface="Open Sans Medium"/>
                <a:ea typeface="Calibri" pitchFamily="34" charset="-122"/>
                <a:cs typeface="Times New Roman" panose="02020603050405020304" pitchFamily="18" charset="0"/>
              </a:rPr>
              <a:t>Sources: WHO (2023), Elsahar et al. (2019), Instituto Cervantes (2024), OIF (2022)</a:t>
            </a:r>
            <a:endParaRPr lang="en-US" sz="2400" dirty="0">
              <a:latin typeface="Open Sans Medium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3497580"/>
            <a:ext cx="2468880" cy="157734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3497580"/>
            <a:ext cx="24688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 dirty="0">
                <a:solidFill>
                  <a:srgbClr val="FFFFFF"/>
                </a:solidFill>
                <a:latin typeface="Open Sans Medium"/>
                <a:ea typeface="Cambria" pitchFamily="34" charset="-122"/>
                <a:cs typeface="Times New Roman" panose="02020603050405020304" pitchFamily="18" charset="0"/>
              </a:rPr>
              <a:t>TAM</a:t>
            </a:r>
          </a:p>
          <a:p>
            <a:pPr algn="ctr"/>
            <a:r>
              <a:rPr lang="en-US" sz="2250" dirty="0">
                <a:solidFill>
                  <a:schemeClr val="bg1"/>
                </a:solidFill>
                <a:latin typeface="Open Sans Medium"/>
                <a:cs typeface="Times New Roman" panose="02020603050405020304" pitchFamily="18" charset="0"/>
              </a:rPr>
              <a:t>Total Addressable Market</a:t>
            </a:r>
          </a:p>
        </p:txBody>
      </p:sp>
      <p:sp>
        <p:nvSpPr>
          <p:cNvPr id="8" name="Shape 5"/>
          <p:cNvSpPr/>
          <p:nvPr/>
        </p:nvSpPr>
        <p:spPr>
          <a:xfrm>
            <a:off x="3497580" y="3497580"/>
            <a:ext cx="13990320" cy="157734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771900" y="3497580"/>
            <a:ext cx="134416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dirty="0">
                <a:solidFill>
                  <a:srgbClr val="1A1A1A"/>
                </a:solidFill>
                <a:latin typeface="Open Sans Medium"/>
                <a:ea typeface="Calibri" pitchFamily="34" charset="-122"/>
                <a:cs typeface="Times New Roman" panose="02020603050405020304" pitchFamily="18" charset="0"/>
              </a:rPr>
              <a:t>1.3 billion people live with significant disability (WHO); up to 1% of people have a speech, language or communication need</a:t>
            </a:r>
            <a:endParaRPr lang="en-US" sz="2250" dirty="0">
              <a:latin typeface="Open Sans Medium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5417820"/>
            <a:ext cx="2468880" cy="157734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5417820"/>
            <a:ext cx="24688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 dirty="0">
                <a:solidFill>
                  <a:srgbClr val="FFFFFF"/>
                </a:solidFill>
                <a:latin typeface="Open Sans Medium"/>
                <a:ea typeface="Cambria" pitchFamily="34" charset="-122"/>
                <a:cs typeface="Times New Roman" panose="02020603050405020304" pitchFamily="18" charset="0"/>
              </a:rPr>
              <a:t>SAM</a:t>
            </a:r>
          </a:p>
          <a:p>
            <a:pPr algn="ctr"/>
            <a:r>
              <a:rPr lang="en-US" sz="2250" dirty="0">
                <a:solidFill>
                  <a:schemeClr val="bg1"/>
                </a:solidFill>
                <a:latin typeface="Open Sans Medium"/>
                <a:cs typeface="Times New Roman" panose="02020603050405020304" pitchFamily="18" charset="0"/>
              </a:rPr>
              <a:t>Serviceable Addressable Market</a:t>
            </a:r>
          </a:p>
        </p:txBody>
      </p:sp>
      <p:sp>
        <p:nvSpPr>
          <p:cNvPr id="12" name="Shape 9"/>
          <p:cNvSpPr/>
          <p:nvPr/>
        </p:nvSpPr>
        <p:spPr>
          <a:xfrm>
            <a:off x="3497580" y="5417820"/>
            <a:ext cx="13990320" cy="157734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771900" y="5417820"/>
            <a:ext cx="134416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dirty="0">
                <a:solidFill>
                  <a:srgbClr val="1A1A1A"/>
                </a:solidFill>
                <a:latin typeface="Open Sans Medium"/>
                <a:ea typeface="Calibri" pitchFamily="34" charset="-122"/>
                <a:cs typeface="Times New Roman" panose="02020603050405020304" pitchFamily="18" charset="0"/>
              </a:rPr>
              <a:t>Speakers of Twi, Ga, Spanish (600M+ speakers) and French (321M speakers, 62% in Africa): Echo’s first five languages</a:t>
            </a:r>
            <a:endParaRPr lang="en-US" sz="2250" dirty="0">
              <a:latin typeface="Open Sans Medium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2960" y="7338060"/>
            <a:ext cx="2468880" cy="1577340"/>
          </a:xfrm>
          <a:prstGeom prst="roundRect">
            <a:avLst>
              <a:gd name="adj" fmla="val 5217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2960" y="7338060"/>
            <a:ext cx="24688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 dirty="0">
                <a:solidFill>
                  <a:srgbClr val="FFFFFF"/>
                </a:solidFill>
                <a:latin typeface="Open Sans Medium"/>
                <a:ea typeface="Cambria" pitchFamily="34" charset="-122"/>
                <a:cs typeface="Times New Roman" panose="02020603050405020304" pitchFamily="18" charset="0"/>
              </a:rPr>
              <a:t>SOM</a:t>
            </a:r>
          </a:p>
          <a:p>
            <a:pPr algn="ctr"/>
            <a:r>
              <a:rPr lang="en-US" sz="2250" dirty="0">
                <a:solidFill>
                  <a:schemeClr val="bg1"/>
                </a:solidFill>
                <a:latin typeface="Open Sans Medium"/>
                <a:cs typeface="Times New Roman" panose="02020603050405020304" pitchFamily="18" charset="0"/>
              </a:rPr>
              <a:t>Serviceable Obtainable Market</a:t>
            </a:r>
          </a:p>
        </p:txBody>
      </p:sp>
      <p:sp>
        <p:nvSpPr>
          <p:cNvPr id="16" name="Shape 13"/>
          <p:cNvSpPr/>
          <p:nvPr/>
        </p:nvSpPr>
        <p:spPr>
          <a:xfrm>
            <a:off x="3497580" y="7338060"/>
            <a:ext cx="13990320" cy="157734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/>
          <a:effectLst>
            <a:outerShdw blurRad="76200" dist="25400" dir="5400000" algn="bl" rotWithShape="0">
              <a:srgbClr val="9AA5AD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771900" y="7338060"/>
            <a:ext cx="134416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dirty="0">
                <a:solidFill>
                  <a:srgbClr val="1A1A1A"/>
                </a:solidFill>
                <a:latin typeface="Open Sans Medium"/>
                <a:ea typeface="Calibri" pitchFamily="34" charset="-122"/>
                <a:cs typeface="Times New Roman" panose="02020603050405020304" pitchFamily="18" charset="0"/>
              </a:rPr>
              <a:t>Special-education schools, speech therapists and families in Ghana first, then pilots in Spanish- and French-speaking communities</a:t>
            </a:r>
            <a:endParaRPr lang="en-US" sz="2250" dirty="0">
              <a:latin typeface="Open Sans Medium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7145000" y="98069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5A6B75"/>
                </a:solidFill>
                <a:latin typeface="Open Sans Medium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350" dirty="0">
              <a:latin typeface="Open Sans Medium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" y="1028699"/>
            <a:ext cx="16230600" cy="7668533"/>
            <a:chOff x="0" y="0"/>
            <a:chExt cx="4274726" cy="10326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032679"/>
            </a:xfrm>
            <a:custGeom>
              <a:avLst/>
              <a:gdLst/>
              <a:ahLst/>
              <a:cxnLst/>
              <a:rect l="l" t="t" r="r" b="b"/>
              <a:pathLst>
                <a:path w="4274726" h="1032679">
                  <a:moveTo>
                    <a:pt x="11925" y="0"/>
                  </a:moveTo>
                  <a:lnTo>
                    <a:pt x="4262801" y="0"/>
                  </a:lnTo>
                  <a:cubicBezTo>
                    <a:pt x="4269387" y="0"/>
                    <a:pt x="4274726" y="5339"/>
                    <a:pt x="4274726" y="11925"/>
                  </a:cubicBezTo>
                  <a:lnTo>
                    <a:pt x="4274726" y="1020754"/>
                  </a:lnTo>
                  <a:cubicBezTo>
                    <a:pt x="4274726" y="1027340"/>
                    <a:pt x="4269387" y="1032679"/>
                    <a:pt x="4262801" y="1032679"/>
                  </a:cubicBezTo>
                  <a:lnTo>
                    <a:pt x="11925" y="1032679"/>
                  </a:lnTo>
                  <a:cubicBezTo>
                    <a:pt x="5339" y="1032679"/>
                    <a:pt x="0" y="1027340"/>
                    <a:pt x="0" y="1020754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41D15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1070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2882464"/>
            <a:ext cx="196693" cy="1410872"/>
            <a:chOff x="0" y="0"/>
            <a:chExt cx="51804" cy="3715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804" cy="371588"/>
            </a:xfrm>
            <a:custGeom>
              <a:avLst/>
              <a:gdLst/>
              <a:ahLst/>
              <a:cxnLst/>
              <a:rect l="l" t="t" r="r" b="b"/>
              <a:pathLst>
                <a:path w="51804" h="371588">
                  <a:moveTo>
                    <a:pt x="0" y="0"/>
                  </a:moveTo>
                  <a:lnTo>
                    <a:pt x="51804" y="0"/>
                  </a:lnTo>
                  <a:lnTo>
                    <a:pt x="51804" y="371588"/>
                  </a:lnTo>
                  <a:lnTo>
                    <a:pt x="0" y="371588"/>
                  </a:lnTo>
                  <a:close/>
                </a:path>
              </a:pathLst>
            </a:custGeom>
            <a:solidFill>
              <a:srgbClr val="2CBF6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1804" cy="409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91455" y="1028699"/>
            <a:ext cx="12305090" cy="89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79"/>
              </a:lnSpc>
            </a:pPr>
            <a:r>
              <a:rPr lang="en-US" sz="5899" dirty="0">
                <a:solidFill>
                  <a:srgbClr val="0070C0"/>
                </a:solidFill>
                <a:latin typeface="Poppins" panose="00000500000000000000" pitchFamily="2" charset="0"/>
                <a:ea typeface="Shrikhand"/>
                <a:cs typeface="Poppins" panose="00000500000000000000" pitchFamily="2" charset="0"/>
                <a:sym typeface="Shrikhand"/>
              </a:rPr>
              <a:t>Business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7800" y="2737803"/>
            <a:ext cx="14754401" cy="547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53"/>
              </a:lnSpc>
            </a:pPr>
            <a:r>
              <a:rPr lang="en-US" sz="2800" b="1" dirty="0">
                <a:solidFill>
                  <a:srgbClr val="0070C0"/>
                </a:solidFill>
                <a:latin typeface="Open Sans Medium"/>
                <a:ea typeface="Poppins"/>
                <a:cs typeface="Poppins"/>
                <a:sym typeface="Poppins"/>
              </a:rPr>
              <a:t>Revenue Streams:</a:t>
            </a:r>
          </a:p>
          <a:p>
            <a:pPr marL="234168" lvl="1" algn="just">
              <a:lnSpc>
                <a:spcPts val="3253"/>
              </a:lnSpc>
            </a:pPr>
            <a:r>
              <a:rPr lang="en-US" sz="2400" b="1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>1.  Freemium Model (Accessibility-first)</a:t>
            </a:r>
          </a:p>
          <a:p>
            <a:pPr marL="577068" lvl="1" indent="-342900" algn="just">
              <a:lnSpc>
                <a:spcPts val="3253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>Free tier: core board, English, Twi and Ga labels, offline pictograms and basic speech.</a:t>
            </a:r>
          </a:p>
          <a:p>
            <a:pPr marL="577068" lvl="1" indent="-342900" algn="just">
              <a:lnSpc>
                <a:spcPts val="3253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>Premium tier (planned): voice profile and cloning, extra languages (e.g. Ewe, Fante), user profiles and cloud backup.</a:t>
            </a:r>
          </a:p>
          <a:p>
            <a:pPr marL="234168" lvl="1" algn="just">
              <a:lnSpc>
                <a:spcPts val="3253"/>
              </a:lnSpc>
            </a:pPr>
            <a:r>
              <a:rPr lang="en-US" sz="2400" b="1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>2. B2B Model (Institutional Licensing)</a:t>
            </a:r>
          </a:p>
          <a:p>
            <a:pPr marL="234168" lvl="1" algn="just">
              <a:lnSpc>
                <a:spcPts val="3253"/>
              </a:lnSpc>
            </a:pPr>
            <a:r>
              <a:rPr lang="en-US" sz="2400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>Special-education schools, hospitals and clinics, speech therapy centres, NGOs and disability advocacy groups.</a:t>
            </a:r>
          </a:p>
          <a:p>
            <a:pPr marL="234168" lvl="1" algn="just">
              <a:lnSpc>
                <a:spcPts val="3253"/>
              </a:lnSpc>
            </a:pPr>
            <a:r>
              <a:rPr lang="en-US" sz="2400" b="1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 xml:space="preserve">3. Vocabulary Packs: </a:t>
            </a:r>
            <a:r>
              <a:rPr lang="en-US" sz="2400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>Localized vocabulary and photo packs (foods, places, greetings) built with native speakers.</a:t>
            </a:r>
          </a:p>
          <a:p>
            <a:pPr marL="234168" lvl="1" algn="just">
              <a:lnSpc>
                <a:spcPts val="3253"/>
              </a:lnSpc>
            </a:pPr>
            <a:r>
              <a:rPr lang="en-US" sz="2400" b="1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 xml:space="preserve">4. Partnerships: </a:t>
            </a:r>
            <a:r>
              <a:rPr lang="en-US" sz="2400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>Offer the Twi and Ga language layer to other AAC and education apps.</a:t>
            </a:r>
          </a:p>
          <a:p>
            <a:pPr marL="234168" lvl="1" algn="just">
              <a:lnSpc>
                <a:spcPts val="3253"/>
              </a:lnSpc>
            </a:pPr>
            <a:r>
              <a:rPr lang="en-US" sz="2400" b="1" dirty="0">
                <a:solidFill>
                  <a:srgbClr val="341D15"/>
                </a:solidFill>
                <a:latin typeface="Open Sans Medium"/>
                <a:ea typeface="Poppins"/>
                <a:cs typeface="Poppins"/>
                <a:sym typeface="Poppins"/>
              </a:rPr>
              <a:t>5. Grants &amp; CSR Partnerships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4E3A5C-8098-82C1-227E-00C12A34E901}"/>
              </a:ext>
            </a:extLst>
          </p:cNvPr>
          <p:cNvSpPr txBox="1"/>
          <p:nvPr/>
        </p:nvSpPr>
        <p:spPr>
          <a:xfrm>
            <a:off x="347103" y="969006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19100"/>
            <a:ext cx="16459200" cy="707886"/>
          </a:xfrm>
          <a:prstGeom prst="rect">
            <a:avLst/>
          </a:prstGeom>
        </p:spPr>
        <p:txBody>
          <a:bodyPr vert="horz" wrap="square" lIns="0" tIns="30480" rIns="0" bIns="0" rtlCol="0" anchor="ctr">
            <a:spAutoFit/>
          </a:bodyPr>
          <a:lstStyle/>
          <a:p>
            <a:pPr marL="76200">
              <a:spcBef>
                <a:spcPts val="240"/>
              </a:spcBef>
            </a:pPr>
            <a:r>
              <a:rPr spc="150" dirty="0">
                <a:solidFill>
                  <a:srgbClr val="000000"/>
                </a:solidFill>
                <a:latin typeface="Shrikhand" panose="020B0604020202020204" charset="0"/>
                <a:cs typeface="Shrikhand" panose="020B0604020202020204" charset="0"/>
              </a:rPr>
              <a:t>Competitor</a:t>
            </a:r>
            <a:r>
              <a:rPr spc="-40" dirty="0">
                <a:solidFill>
                  <a:srgbClr val="000000"/>
                </a:solidFill>
                <a:latin typeface="Shrikhand" panose="020B0604020202020204" charset="0"/>
                <a:cs typeface="Shrikhand" panose="020B0604020202020204" charset="0"/>
              </a:rPr>
              <a:t> </a:t>
            </a:r>
            <a:r>
              <a:rPr spc="-20" dirty="0">
                <a:solidFill>
                  <a:srgbClr val="000000"/>
                </a:solidFill>
                <a:latin typeface="Shrikhand" panose="020B0604020202020204" charset="0"/>
                <a:cs typeface="Shrikhand" panose="020B0604020202020204" charset="0"/>
              </a:rPr>
              <a:t>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461654" y="1258246"/>
            <a:ext cx="91440" cy="556260"/>
          </a:xfrm>
          <a:custGeom>
            <a:avLst/>
            <a:gdLst/>
            <a:ahLst/>
            <a:cxnLst/>
            <a:rect l="l" t="t" r="r" b="b"/>
            <a:pathLst>
              <a:path w="45720" h="278130">
                <a:moveTo>
                  <a:pt x="45595" y="0"/>
                </a:moveTo>
                <a:lnTo>
                  <a:pt x="0" y="0"/>
                </a:lnTo>
                <a:lnTo>
                  <a:pt x="0" y="278100"/>
                </a:lnTo>
                <a:lnTo>
                  <a:pt x="45595" y="278100"/>
                </a:lnTo>
                <a:lnTo>
                  <a:pt x="45595" y="0"/>
                </a:lnTo>
                <a:close/>
              </a:path>
            </a:pathLst>
          </a:custGeom>
          <a:solidFill>
            <a:srgbClr val="36837E"/>
          </a:solidFill>
        </p:spPr>
        <p:txBody>
          <a:bodyPr wrap="square" lIns="0" tIns="0" rIns="0" bIns="0" rtlCol="0"/>
          <a:lstStyle/>
          <a:p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1230452" y="1752594"/>
            <a:ext cx="16525240" cy="7211058"/>
            <a:chOff x="615226" y="1216122"/>
            <a:chExt cx="8262620" cy="3605529"/>
          </a:xfrm>
        </p:grpSpPr>
        <p:sp>
          <p:nvSpPr>
            <p:cNvPr id="5" name="object 5"/>
            <p:cNvSpPr/>
            <p:nvPr/>
          </p:nvSpPr>
          <p:spPr>
            <a:xfrm>
              <a:off x="615226" y="1216122"/>
              <a:ext cx="8262620" cy="3605529"/>
            </a:xfrm>
            <a:custGeom>
              <a:avLst/>
              <a:gdLst/>
              <a:ahLst/>
              <a:cxnLst/>
              <a:rect l="l" t="t" r="r" b="b"/>
              <a:pathLst>
                <a:path w="8262620" h="3605529">
                  <a:moveTo>
                    <a:pt x="8262594" y="0"/>
                  </a:moveTo>
                  <a:lnTo>
                    <a:pt x="0" y="0"/>
                  </a:lnTo>
                  <a:lnTo>
                    <a:pt x="0" y="3605403"/>
                  </a:lnTo>
                  <a:lnTo>
                    <a:pt x="8262594" y="3605403"/>
                  </a:lnTo>
                  <a:lnTo>
                    <a:pt x="82625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600"/>
            </a:p>
          </p:txBody>
        </p:sp>
        <p:sp>
          <p:nvSpPr>
            <p:cNvPr id="6" name="object 6"/>
            <p:cNvSpPr/>
            <p:nvPr/>
          </p:nvSpPr>
          <p:spPr>
            <a:xfrm>
              <a:off x="4035653" y="1274930"/>
              <a:ext cx="3368040" cy="705485"/>
            </a:xfrm>
            <a:custGeom>
              <a:avLst/>
              <a:gdLst/>
              <a:ahLst/>
              <a:cxnLst/>
              <a:rect l="l" t="t" r="r" b="b"/>
              <a:pathLst>
                <a:path w="3368040" h="705485">
                  <a:moveTo>
                    <a:pt x="0" y="505825"/>
                  </a:moveTo>
                  <a:lnTo>
                    <a:pt x="969655" y="505825"/>
                  </a:lnTo>
                  <a:lnTo>
                    <a:pt x="969655" y="199149"/>
                  </a:lnTo>
                  <a:lnTo>
                    <a:pt x="0" y="199149"/>
                  </a:lnTo>
                  <a:lnTo>
                    <a:pt x="0" y="505825"/>
                  </a:lnTo>
                  <a:close/>
                </a:path>
                <a:path w="3368040" h="705485">
                  <a:moveTo>
                    <a:pt x="2662758" y="704949"/>
                  </a:moveTo>
                  <a:lnTo>
                    <a:pt x="3367727" y="704949"/>
                  </a:lnTo>
                  <a:lnTo>
                    <a:pt x="3367727" y="0"/>
                  </a:lnTo>
                  <a:lnTo>
                    <a:pt x="2662758" y="0"/>
                  </a:lnTo>
                  <a:lnTo>
                    <a:pt x="2662758" y="704949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600"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754369"/>
              </p:ext>
            </p:extLst>
          </p:nvPr>
        </p:nvGraphicFramePr>
        <p:xfrm>
          <a:off x="1028700" y="1342152"/>
          <a:ext cx="16114602" cy="85191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8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84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3000" dirty="0">
                          <a:latin typeface="Arial"/>
                          <a:cs typeface="Arial"/>
                        </a:rPr>
                        <a:t> </a:t>
                      </a:r>
                      <a:endParaRPr sz="3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solidFill>
                            <a:srgbClr val="1A1A1A"/>
                          </a:solidFill>
                          <a:latin typeface="Tahoma"/>
                          <a:cs typeface="Tahoma"/>
                        </a:rPr>
                        <a:t>Proloquo2Go</a:t>
                      </a:r>
                      <a:endParaRPr sz="3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solidFill>
                            <a:srgbClr val="1A1A1A"/>
                          </a:solidFill>
                          <a:latin typeface="Tahoma"/>
                          <a:cs typeface="Tahoma"/>
                        </a:rPr>
                        <a:t>TD Snap</a:t>
                      </a:r>
                      <a:endParaRPr sz="3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solidFill>
                            <a:srgbClr val="1A1A1A"/>
                          </a:solidFill>
                          <a:latin typeface="Tahoma"/>
                          <a:cs typeface="Tahoma"/>
                        </a:rPr>
                        <a:t>SpeakEasy</a:t>
                      </a:r>
                      <a:endParaRPr sz="3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25" dirty="0">
                          <a:solidFill>
                            <a:srgbClr val="0070C0"/>
                          </a:solidFill>
                          <a:latin typeface="Tahoma"/>
                          <a:cs typeface="Tahoma"/>
                        </a:rPr>
                        <a:t>Echo</a:t>
                      </a:r>
                      <a:endParaRPr sz="3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36837E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57150">
                      <a:solidFill>
                        <a:srgbClr val="36837E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1870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lang="en-US" sz="2800" spc="125" dirty="0">
                          <a:latin typeface="Tahoma"/>
                          <a:cs typeface="Tahoma"/>
                        </a:rPr>
                        <a:t>Twi and Ga labels and speech</a:t>
                      </a:r>
                      <a:endParaRPr sz="2800" dirty="0">
                        <a:latin typeface="Tahoma"/>
                        <a:cs typeface="Tahoma"/>
                      </a:endParaRPr>
                    </a:p>
                  </a:txBody>
                  <a:tcPr marL="0" marR="0" marT="35687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0353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1005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0353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0353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2280"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56870" marB="0" anchor="ctr">
                    <a:lnL w="57150">
                      <a:solidFill>
                        <a:srgbClr val="36837E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Mix languages in one sentence</a:t>
                      </a:r>
                      <a:endParaRPr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1016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lang="en-GB"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4544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lang="en-GB"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4544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4544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2280"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45440" marB="0" anchor="ctr">
                    <a:lnL w="57150">
                      <a:solidFill>
                        <a:srgbClr val="36837E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5602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lang="en-US" sz="2800" spc="114" dirty="0">
                          <a:latin typeface="Tahoma"/>
                          <a:cs typeface="Tahoma"/>
                        </a:rPr>
                        <a:t>Ghanaian food and place photos</a:t>
                      </a:r>
                      <a:endParaRPr sz="2800" dirty="0">
                        <a:latin typeface="Tahoma"/>
                        <a:cs typeface="Tahoma"/>
                      </a:endParaRPr>
                    </a:p>
                  </a:txBody>
                  <a:tcPr marL="0" marR="0" marT="32004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2004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lang="en-GB" sz="27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7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68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20040" marB="0" anchor="ctr">
                    <a:lnL w="57150" cap="flat" cmpd="sng" algn="ctr">
                      <a:solidFill>
                        <a:srgbClr val="368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935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lang="en-US" sz="2800" spc="114" dirty="0">
                          <a:latin typeface="Tahoma"/>
                          <a:cs typeface="Tahoma"/>
                        </a:rPr>
                        <a:t>Pictograms work offline</a:t>
                      </a:r>
                      <a:endParaRPr sz="2800" dirty="0">
                        <a:latin typeface="Tahoma"/>
                        <a:cs typeface="Tahoma"/>
                      </a:endParaRPr>
                    </a:p>
                  </a:txBody>
                  <a:tcPr marL="0" marR="0" marT="31623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242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685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0607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0607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12420" marB="0" anchor="ctr">
                    <a:lnL w="57150">
                      <a:solidFill>
                        <a:srgbClr val="36837E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5602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Natural-speech suggestions</a:t>
                      </a:r>
                      <a:endParaRPr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32004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1325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1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spc="-25" dirty="0">
                          <a:solidFill>
                            <a:srgbClr val="E67E22"/>
                          </a:solidFill>
                          <a:latin typeface="Tahoma"/>
                          <a:cs typeface="Tahoma"/>
                        </a:rPr>
                        <a:t>Partial</a:t>
                      </a:r>
                    </a:p>
                  </a:txBody>
                  <a:tcPr marL="0" marR="0" marT="32004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767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11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spc="-25" dirty="0">
                          <a:solidFill>
                            <a:srgbClr val="E67E22"/>
                          </a:solidFill>
                          <a:latin typeface="Tahoma"/>
                          <a:cs typeface="Tahoma"/>
                        </a:rPr>
                        <a:t>Partial</a:t>
                      </a:r>
                      <a:endParaRPr lang="en-GB"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8448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270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97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lang="en-GB"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638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68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228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10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lang="en-GB"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60350" marB="0" anchor="ctr">
                    <a:lnL w="57150" cap="flat" cmpd="sng" algn="ctr">
                      <a:solidFill>
                        <a:srgbClr val="368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141726"/>
                  </a:ext>
                </a:extLst>
              </a:tr>
              <a:tr h="821388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lang="en-GB" sz="2800" spc="114" dirty="0">
                          <a:latin typeface="Tahoma"/>
                          <a:cs typeface="Tahoma"/>
                        </a:rPr>
                        <a:t>Switch scanning access</a:t>
                      </a:r>
                      <a:endParaRPr sz="2800" dirty="0">
                        <a:latin typeface="Tahoma"/>
                        <a:cs typeface="Tahoma"/>
                      </a:endParaRPr>
                    </a:p>
                  </a:txBody>
                  <a:tcPr marL="0" marR="0" marT="32004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2004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7670" algn="ctr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8448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>
                      <a:solidFill>
                        <a:srgbClr val="96D1CC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2800" b="1" spc="-25" dirty="0">
                          <a:solidFill>
                            <a:srgbClr val="7F7F7F"/>
                          </a:solidFill>
                          <a:latin typeface="Tahoma"/>
                          <a:cs typeface="Tahoma"/>
                        </a:rPr>
                        <a:t>n/a</a:t>
                      </a:r>
                      <a:endParaRPr sz="2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638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2280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60350" marB="0" anchor="ctr">
                    <a:lnL w="57150">
                      <a:solidFill>
                        <a:srgbClr val="36837E"/>
                      </a:solidFill>
                      <a:prstDash val="soli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7230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lang="en-US" sz="2800" dirty="0">
                          <a:latin typeface="Tahoma"/>
                          <a:cs typeface="Tahoma"/>
                        </a:rPr>
                        <a:t>Free, open symbol library</a:t>
                      </a:r>
                      <a:endParaRPr sz="2800" dirty="0">
                        <a:latin typeface="Tahoma"/>
                        <a:cs typeface="Tahoma"/>
                      </a:endParaRPr>
                    </a:p>
                  </a:txBody>
                  <a:tcPr marL="0" marR="0" marT="320040" marB="0" anchor="ctr">
                    <a:lnL w="38100">
                      <a:solidFill>
                        <a:srgbClr val="96D1CC"/>
                      </a:solidFill>
                      <a:prstDash val="soli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800" dirty="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32004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670" algn="ctr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800" dirty="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8448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2800" b="1" spc="-25" dirty="0">
                          <a:solidFill>
                            <a:srgbClr val="D62828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2800" dirty="0">
                        <a:solidFill>
                          <a:schemeClr val="tx1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46380" marB="0" anchor="ctr">
                    <a:lnL w="38100" cap="flat" cmpd="sng" algn="ctr">
                      <a:solidFill>
                        <a:srgbClr val="96D1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68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38100">
                      <a:solidFill>
                        <a:srgbClr val="96D1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2280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2800" b="1" spc="-25" dirty="0">
                          <a:solidFill>
                            <a:srgbClr val="00A651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2800" dirty="0">
                        <a:solidFill>
                          <a:srgbClr val="00B0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60350" marB="0" anchor="ctr">
                    <a:lnL w="57150" cap="flat" cmpd="sng" algn="ctr">
                      <a:solidFill>
                        <a:srgbClr val="3683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>
                      <a:solidFill>
                        <a:srgbClr val="36837E"/>
                      </a:solidFill>
                      <a:prstDash val="solid"/>
                    </a:lnR>
                    <a:lnT w="38100">
                      <a:solidFill>
                        <a:srgbClr val="96D1CC"/>
                      </a:solidFill>
                      <a:prstDash val="solid"/>
                    </a:lnT>
                    <a:lnB w="57150">
                      <a:solidFill>
                        <a:srgbClr val="3683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87983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E0B96D8-BD6E-71D9-29FE-39E2C0D7601F}"/>
              </a:ext>
            </a:extLst>
          </p:cNvPr>
          <p:cNvSpPr txBox="1"/>
          <p:nvPr/>
        </p:nvSpPr>
        <p:spPr>
          <a:xfrm>
            <a:off x="347103" y="969006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14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DC5C64-6584-BECF-70D5-9D750508961C}"/>
              </a:ext>
            </a:extLst>
          </p:cNvPr>
          <p:cNvGrpSpPr/>
          <p:nvPr/>
        </p:nvGrpSpPr>
        <p:grpSpPr>
          <a:xfrm>
            <a:off x="7767837" y="1471431"/>
            <a:ext cx="1172254" cy="1024032"/>
            <a:chOff x="300620" y="723465"/>
            <a:chExt cx="5000118" cy="4367896"/>
          </a:xfrm>
        </p:grpSpPr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BA2A4AB-6F20-B90B-95F5-0EB5E357F02E}"/>
              </a:ext>
            </a:extLst>
          </p:cNvPr>
          <p:cNvGrpSpPr/>
          <p:nvPr/>
        </p:nvGrpSpPr>
        <p:grpSpPr>
          <a:xfrm>
            <a:off x="12825197" y="1363785"/>
            <a:ext cx="1372936" cy="1199339"/>
            <a:chOff x="358501" y="774027"/>
            <a:chExt cx="5000118" cy="4367896"/>
          </a:xfrm>
        </p:grpSpPr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CEFFDB-6BA0-195A-59EC-714A4BF76DFD}"/>
              </a:ext>
            </a:extLst>
          </p:cNvPr>
          <p:cNvGrpSpPr/>
          <p:nvPr/>
        </p:nvGrpSpPr>
        <p:grpSpPr>
          <a:xfrm>
            <a:off x="14866006" y="1107826"/>
            <a:ext cx="2139333" cy="1524768"/>
            <a:chOff x="-1304722" y="724581"/>
            <a:chExt cx="12541759" cy="893889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01B9856-8470-94E3-55D7-1026B773E69B}"/>
                </a:ext>
              </a:extLst>
            </p:cNvPr>
            <p:cNvSpPr txBox="1"/>
            <p:nvPr/>
          </p:nvSpPr>
          <p:spPr>
            <a:xfrm>
              <a:off x="5216400" y="6528146"/>
              <a:ext cx="9550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PAY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28700" y="9855200"/>
            <a:ext cx="16103600" cy="330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/>
            <a:r>
              <a:rPr lang="en-US" sz="1100" b="0" dirty="0">
                <a:solidFill>
                  <a:srgbClr val="595959"/>
                </a:solidFill>
                <a:latin typeface="Open Sans Medium"/>
              </a:rPr>
              <a:t>Competitor features are based on public information and should be re-checked before submission.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D02D-DDAF-B781-DA39-C772D08E4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AFE3B6A-4F9D-C2EB-C9F2-03890580E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87779"/>
            <a:ext cx="16240125" cy="8313905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5E31306B-D3DA-B255-6A44-A8C195E23C95}"/>
              </a:ext>
            </a:extLst>
          </p:cNvPr>
          <p:cNvGrpSpPr/>
          <p:nvPr/>
        </p:nvGrpSpPr>
        <p:grpSpPr>
          <a:xfrm>
            <a:off x="1028700" y="342900"/>
            <a:ext cx="16230600" cy="1268855"/>
            <a:chOff x="0" y="0"/>
            <a:chExt cx="2514545" cy="342309"/>
          </a:xfrm>
          <a:solidFill>
            <a:srgbClr val="0070C0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BE3000C-75B0-0E62-9898-4A4010542AEC}"/>
                </a:ext>
              </a:extLst>
            </p:cNvPr>
            <p:cNvSpPr/>
            <p:nvPr/>
          </p:nvSpPr>
          <p:spPr>
            <a:xfrm>
              <a:off x="0" y="0"/>
              <a:ext cx="2514545" cy="342309"/>
            </a:xfrm>
            <a:custGeom>
              <a:avLst/>
              <a:gdLst/>
              <a:ahLst/>
              <a:cxnLst/>
              <a:rect l="l" t="t" r="r" b="b"/>
              <a:pathLst>
                <a:path w="2514545" h="342309">
                  <a:moveTo>
                    <a:pt x="11925" y="0"/>
                  </a:moveTo>
                  <a:lnTo>
                    <a:pt x="2502620" y="0"/>
                  </a:lnTo>
                  <a:cubicBezTo>
                    <a:pt x="2509206" y="0"/>
                    <a:pt x="2514545" y="5339"/>
                    <a:pt x="2514545" y="11925"/>
                  </a:cubicBezTo>
                  <a:lnTo>
                    <a:pt x="2514545" y="330384"/>
                  </a:lnTo>
                  <a:cubicBezTo>
                    <a:pt x="2514545" y="336970"/>
                    <a:pt x="2509206" y="342309"/>
                    <a:pt x="2502620" y="342309"/>
                  </a:cubicBezTo>
                  <a:lnTo>
                    <a:pt x="11925" y="342309"/>
                  </a:lnTo>
                  <a:cubicBezTo>
                    <a:pt x="5339" y="342309"/>
                    <a:pt x="0" y="336970"/>
                    <a:pt x="0" y="330384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C2D7769-C4C8-24D6-CDDF-DCECD517BABF}"/>
              </a:ext>
            </a:extLst>
          </p:cNvPr>
          <p:cNvGrpSpPr/>
          <p:nvPr/>
        </p:nvGrpSpPr>
        <p:grpSpPr>
          <a:xfrm>
            <a:off x="1028700" y="3916164"/>
            <a:ext cx="196693" cy="667922"/>
            <a:chOff x="0" y="0"/>
            <a:chExt cx="51804" cy="175914"/>
          </a:xfrm>
          <a:solidFill>
            <a:srgbClr val="0070C0"/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908DBCB-D549-4E8D-F9A2-C563E0C44C8E}"/>
                </a:ext>
              </a:extLst>
            </p:cNvPr>
            <p:cNvSpPr/>
            <p:nvPr/>
          </p:nvSpPr>
          <p:spPr>
            <a:xfrm>
              <a:off x="0" y="0"/>
              <a:ext cx="51804" cy="175914"/>
            </a:xfrm>
            <a:custGeom>
              <a:avLst/>
              <a:gdLst/>
              <a:ahLst/>
              <a:cxnLst/>
              <a:rect l="l" t="t" r="r" b="b"/>
              <a:pathLst>
                <a:path w="51804" h="175914">
                  <a:moveTo>
                    <a:pt x="0" y="0"/>
                  </a:moveTo>
                  <a:lnTo>
                    <a:pt x="51804" y="0"/>
                  </a:lnTo>
                  <a:lnTo>
                    <a:pt x="51804" y="175914"/>
                  </a:lnTo>
                  <a:lnTo>
                    <a:pt x="0" y="175914"/>
                  </a:lnTo>
                  <a:close/>
                </a:path>
              </a:pathLst>
            </a:custGeom>
            <a:grpFill/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F4BDFF5-37C2-30F2-64AB-9356F6479D5B}"/>
                </a:ext>
              </a:extLst>
            </p:cNvPr>
            <p:cNvSpPr txBox="1"/>
            <p:nvPr/>
          </p:nvSpPr>
          <p:spPr>
            <a:xfrm>
              <a:off x="0" y="-38100"/>
              <a:ext cx="51804" cy="2140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86B5AFB-42C8-FABF-8668-E11DFE909200}"/>
              </a:ext>
            </a:extLst>
          </p:cNvPr>
          <p:cNvSpPr txBox="1"/>
          <p:nvPr/>
        </p:nvSpPr>
        <p:spPr>
          <a:xfrm>
            <a:off x="3917146" y="764077"/>
            <a:ext cx="10339687" cy="59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 b="1" dirty="0">
                <a:solidFill>
                  <a:srgbClr val="FFFCF4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VISION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3F52E05-0F3B-20A0-A3B8-1E7822D5AC50}"/>
              </a:ext>
            </a:extLst>
          </p:cNvPr>
          <p:cNvGrpSpPr/>
          <p:nvPr/>
        </p:nvGrpSpPr>
        <p:grpSpPr>
          <a:xfrm>
            <a:off x="1060372" y="5796373"/>
            <a:ext cx="196693" cy="667922"/>
            <a:chOff x="0" y="0"/>
            <a:chExt cx="51804" cy="175914"/>
          </a:xfrm>
          <a:solidFill>
            <a:srgbClr val="0070C0"/>
          </a:solidFill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42C5EFE-E6C6-CD61-A56C-DA402681886D}"/>
                </a:ext>
              </a:extLst>
            </p:cNvPr>
            <p:cNvSpPr/>
            <p:nvPr/>
          </p:nvSpPr>
          <p:spPr>
            <a:xfrm>
              <a:off x="0" y="0"/>
              <a:ext cx="51804" cy="175914"/>
            </a:xfrm>
            <a:custGeom>
              <a:avLst/>
              <a:gdLst/>
              <a:ahLst/>
              <a:cxnLst/>
              <a:rect l="l" t="t" r="r" b="b"/>
              <a:pathLst>
                <a:path w="51804" h="175914">
                  <a:moveTo>
                    <a:pt x="0" y="0"/>
                  </a:moveTo>
                  <a:lnTo>
                    <a:pt x="51804" y="0"/>
                  </a:lnTo>
                  <a:lnTo>
                    <a:pt x="51804" y="175914"/>
                  </a:lnTo>
                  <a:lnTo>
                    <a:pt x="0" y="175914"/>
                  </a:lnTo>
                  <a:close/>
                </a:path>
              </a:pathLst>
            </a:custGeom>
            <a:grpFill/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20DEA23-4D24-A99C-37C7-76CB127D21C8}"/>
                </a:ext>
              </a:extLst>
            </p:cNvPr>
            <p:cNvSpPr txBox="1"/>
            <p:nvPr/>
          </p:nvSpPr>
          <p:spPr>
            <a:xfrm>
              <a:off x="0" y="-38100"/>
              <a:ext cx="51804" cy="2140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C82471FF-7C0D-463C-0A7F-E071F0FA9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8025" y="5971230"/>
            <a:ext cx="2330138" cy="23301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7CCC37-3F0C-D2F5-59B2-CE2ED6327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123" y="5971230"/>
            <a:ext cx="2330138" cy="2330138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E198EA43-A76D-9B1A-1723-20F0CAB788A4}"/>
              </a:ext>
            </a:extLst>
          </p:cNvPr>
          <p:cNvSpPr txBox="1"/>
          <p:nvPr/>
        </p:nvSpPr>
        <p:spPr>
          <a:xfrm>
            <a:off x="1524000" y="1685315"/>
            <a:ext cx="14779625" cy="2967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7347" lvl="1" algn="just">
              <a:lnSpc>
                <a:spcPts val="3853"/>
              </a:lnSpc>
            </a:pPr>
            <a:r>
              <a:rPr lang="en-US" sz="2569" b="1" dirty="0">
                <a:solidFill>
                  <a:srgbClr val="341D15"/>
                </a:solidFill>
                <a:latin typeface="Poppins"/>
                <a:ea typeface="Poppins"/>
                <a:cs typeface="Poppins"/>
                <a:sym typeface="Poppins"/>
              </a:rPr>
              <a:t>Impact Vision:</a:t>
            </a:r>
          </a:p>
          <a:p>
            <a:pPr marL="554695" lvl="1" indent="-277348" algn="just">
              <a:lnSpc>
                <a:spcPts val="3853"/>
              </a:lnSpc>
              <a:buFont typeface="Arial"/>
              <a:buChar char="•"/>
            </a:pPr>
            <a:r>
              <a:rPr lang="en-US" sz="2569" dirty="0">
                <a:solidFill>
                  <a:srgbClr val="341D15"/>
                </a:solidFill>
                <a:latin typeface="Poppins"/>
                <a:ea typeface="Poppins"/>
                <a:cs typeface="Poppins"/>
                <a:sym typeface="Poppins"/>
              </a:rPr>
              <a:t>“Inclusion isn’t a feature-it’s a right, therefore we seek to exercise the rights of everyone”</a:t>
            </a:r>
          </a:p>
          <a:p>
            <a:pPr marL="554695" lvl="1" indent="-277348" algn="just">
              <a:lnSpc>
                <a:spcPts val="3853"/>
              </a:lnSpc>
              <a:buFont typeface="Arial"/>
              <a:buChar char="•"/>
            </a:pPr>
            <a:r>
              <a:rPr lang="en-US" sz="2569" dirty="0">
                <a:solidFill>
                  <a:srgbClr val="341D15"/>
                </a:solidFill>
                <a:latin typeface="Poppins"/>
                <a:ea typeface="Poppins"/>
                <a:cs typeface="Poppins"/>
                <a:sym typeface="Poppins"/>
              </a:rPr>
              <a:t>With Echo, we’re giving people their voice back-in their own languages.</a:t>
            </a:r>
          </a:p>
          <a:p>
            <a:pPr marL="554695" lvl="1" indent="-277348" algn="just">
              <a:lnSpc>
                <a:spcPts val="3853"/>
              </a:lnSpc>
              <a:buFont typeface="Arial"/>
              <a:buChar char="•"/>
            </a:pPr>
            <a:r>
              <a:rPr lang="en-US" sz="2569" dirty="0">
                <a:solidFill>
                  <a:srgbClr val="341D15"/>
                </a:solidFill>
                <a:latin typeface="Poppins"/>
                <a:ea typeface="Poppins"/>
                <a:cs typeface="Poppins"/>
                <a:sym typeface="Poppins"/>
              </a:rPr>
              <a:t>With Echo, no one has to give up their language or wait for a connection to be heard, anywhere.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DE3EC071-27B3-23DC-9512-C079908371C7}"/>
              </a:ext>
            </a:extLst>
          </p:cNvPr>
          <p:cNvSpPr txBox="1"/>
          <p:nvPr/>
        </p:nvSpPr>
        <p:spPr>
          <a:xfrm>
            <a:off x="1552575" y="4899376"/>
            <a:ext cx="3209649" cy="467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7347" lvl="1" algn="just">
              <a:lnSpc>
                <a:spcPts val="3853"/>
              </a:lnSpc>
            </a:pPr>
            <a:r>
              <a:rPr lang="en-US" sz="2569" b="1" dirty="0">
                <a:solidFill>
                  <a:srgbClr val="341D15"/>
                </a:solidFill>
                <a:latin typeface="Poppins"/>
                <a:ea typeface="Poppins"/>
                <a:cs typeface="Poppins"/>
                <a:sym typeface="Poppins"/>
              </a:rPr>
              <a:t>SDG  Alignment</a:t>
            </a:r>
            <a:endParaRPr lang="en-US" sz="2569" dirty="0">
              <a:solidFill>
                <a:srgbClr val="341D1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F4DA6E-8A1A-BC57-0845-FC66400808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59261" y="5971230"/>
            <a:ext cx="2330138" cy="23301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40286E-CBFC-5B49-2A1D-06DF4E5256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655" y="8789254"/>
            <a:ext cx="11586949" cy="11548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A6092E-1793-C062-EEDD-BC7D1EA05950}"/>
              </a:ext>
            </a:extLst>
          </p:cNvPr>
          <p:cNvSpPr txBox="1"/>
          <p:nvPr/>
        </p:nvSpPr>
        <p:spPr>
          <a:xfrm>
            <a:off x="120604" y="970222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9257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re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6072"/>
            <a:ext cx="891540" cy="8915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88820" y="548640"/>
            <a:ext cx="1440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21295C"/>
                </a:solidFill>
                <a:latin typeface="Poppins" panose="00000500000000000000" pitchFamily="2" charset="0"/>
                <a:ea typeface="Cambria" pitchFamily="34" charset="-122"/>
                <a:cs typeface="Poppins" panose="00000500000000000000" pitchFamily="2" charset="0"/>
              </a:rPr>
              <a:t>References</a:t>
            </a:r>
            <a:endParaRPr lang="en-US" sz="3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822960" y="1920240"/>
            <a:ext cx="16596360" cy="923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World Health Organization. Disability. Fact sheet, 7 March 2023. https://www.who.int/news-room/fact-sheets/detail/disability-and-health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World Health Organization. Autism. Fact sheet, updated 17 September 2025. https://www.who.int/news-room/fact-sheets/detail/autism-spectrum-disorders</a:t>
            </a: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Elsahar, Y. et al. (2019). Augmentative and Alternative Communication (AAC) Advances: A Review of Configurations for Individuals with a Speech Disability. https://pmc.ncbi.nlm.nih.gov/articles/PMC6515262/</a:t>
            </a: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National Institute on Deafness and Other Communication Disorders. Aphasia. https://www.nidcd.nih.gov/health/aphasia</a:t>
            </a: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Instituto Cervantes. El español en el mundo 2024. https://cvc.cervantes.es/lengua/anuario/anuario_24/</a:t>
            </a: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Organisation internationale de la Francophonie. La langue française dans le monde 2022. https://www.francophonie.org</a:t>
            </a: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Government of Aragón. ARASAAC pictograms (author Sergio Palao), licensed CC BY-NC-SA. https://arasaac.org</a:t>
            </a: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GhanaNLP. Khaya AI translation and text-to-speech API. https://developer.khaya.ai</a:t>
            </a: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Wikimedia Commons contributors. Photos of Ghanaian dishes and tro tro, CC BY-SA 4.0 and CC BY 2.0 (credits in the app’s About screen). https://commons.wikimedia.org</a:t>
            </a:r>
            <a:endParaRPr lang="en-US" sz="2400" dirty="0">
              <a:latin typeface="Open Sans Medium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Medium"/>
              </a:rPr>
              <a:t>AssistiveWare, Proloquo2Go, and the SpeakEasy project (github.com/enzomar/speakeasy): design and architecture references.</a:t>
            </a:r>
            <a:endParaRPr lang="en-US" sz="2400" dirty="0">
              <a:latin typeface="Open Sans Medium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85800" y="98069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Business Plan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7145000" y="98069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94520114-0F4D-6B52-D2E4-D53338D8E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663" y="9010563"/>
            <a:ext cx="11586949" cy="1154846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028700" y="1028700"/>
            <a:ext cx="7781925" cy="8229600"/>
            <a:chOff x="0" y="0"/>
            <a:chExt cx="2049560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9561" cy="2167467"/>
            </a:xfrm>
            <a:custGeom>
              <a:avLst/>
              <a:gdLst/>
              <a:ahLst/>
              <a:cxnLst/>
              <a:rect l="l" t="t" r="r" b="b"/>
              <a:pathLst>
                <a:path w="2049561" h="2167467">
                  <a:moveTo>
                    <a:pt x="24871" y="0"/>
                  </a:moveTo>
                  <a:lnTo>
                    <a:pt x="2024689" y="0"/>
                  </a:lnTo>
                  <a:cubicBezTo>
                    <a:pt x="2031285" y="0"/>
                    <a:pt x="2037611" y="2620"/>
                    <a:pt x="2042276" y="7285"/>
                  </a:cubicBezTo>
                  <a:cubicBezTo>
                    <a:pt x="2046940" y="11949"/>
                    <a:pt x="2049561" y="18275"/>
                    <a:pt x="2049561" y="24871"/>
                  </a:cubicBezTo>
                  <a:lnTo>
                    <a:pt x="2049561" y="2142595"/>
                  </a:lnTo>
                  <a:cubicBezTo>
                    <a:pt x="2049561" y="2149191"/>
                    <a:pt x="2046940" y="2155518"/>
                    <a:pt x="2042276" y="2160182"/>
                  </a:cubicBezTo>
                  <a:cubicBezTo>
                    <a:pt x="2037611" y="2164846"/>
                    <a:pt x="2031285" y="2167467"/>
                    <a:pt x="2024689" y="2167467"/>
                  </a:cubicBezTo>
                  <a:lnTo>
                    <a:pt x="24871" y="2167467"/>
                  </a:lnTo>
                  <a:cubicBezTo>
                    <a:pt x="18275" y="2167467"/>
                    <a:pt x="11949" y="2164846"/>
                    <a:pt x="7285" y="2160182"/>
                  </a:cubicBezTo>
                  <a:cubicBezTo>
                    <a:pt x="2620" y="2155518"/>
                    <a:pt x="0" y="2149191"/>
                    <a:pt x="0" y="2142595"/>
                  </a:cubicBezTo>
                  <a:lnTo>
                    <a:pt x="0" y="24871"/>
                  </a:lnTo>
                  <a:cubicBezTo>
                    <a:pt x="0" y="18275"/>
                    <a:pt x="2620" y="11949"/>
                    <a:pt x="7285" y="7285"/>
                  </a:cubicBezTo>
                  <a:cubicBezTo>
                    <a:pt x="11949" y="2620"/>
                    <a:pt x="18275" y="0"/>
                    <a:pt x="2487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341D15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49560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12658" y="2478055"/>
            <a:ext cx="3981474" cy="812498"/>
            <a:chOff x="1251956" y="451280"/>
            <a:chExt cx="5308633" cy="1083328"/>
          </a:xfrm>
        </p:grpSpPr>
        <p:sp>
          <p:nvSpPr>
            <p:cNvPr id="9" name="TextBox 9"/>
            <p:cNvSpPr txBox="1"/>
            <p:nvPr/>
          </p:nvSpPr>
          <p:spPr>
            <a:xfrm>
              <a:off x="1251956" y="451280"/>
              <a:ext cx="5308633" cy="4616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3"/>
                </a:lnSpc>
              </a:pPr>
              <a:r>
                <a:rPr lang="en-US" sz="2269" b="1" spc="49" dirty="0">
                  <a:solidFill>
                    <a:srgbClr val="211B0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HANDWAVE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02756" y="879900"/>
              <a:ext cx="4615702" cy="654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935"/>
                </a:lnSpc>
              </a:pPr>
              <a:r>
                <a:rPr lang="en-US" b="1" dirty="0">
                  <a:solidFill>
                    <a:srgbClr val="0070C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Giving Voice to the Unheard-</a:t>
              </a:r>
              <a:r>
                <a:rPr lang="en-GB" b="1" dirty="0">
                  <a:solidFill>
                    <a:srgbClr val="0070C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 Every Language</a:t>
              </a:r>
              <a:endParaRPr lang="en-US" b="1" spc="295" dirty="0">
                <a:solidFill>
                  <a:srgbClr val="0070C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73691" y="6442029"/>
            <a:ext cx="6225322" cy="2271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341D15"/>
                </a:solidFill>
                <a:latin typeface="Shrikhand"/>
                <a:ea typeface="Shrikhand"/>
                <a:cs typeface="Shrikhand"/>
                <a:sym typeface="Shrikhand"/>
              </a:rPr>
              <a:t>Thank</a:t>
            </a:r>
          </a:p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341D15"/>
                </a:solidFill>
                <a:latin typeface="Shrikhand"/>
                <a:ea typeface="Shrikhand"/>
                <a:cs typeface="Shrikhand"/>
                <a:sym typeface="Shrikhand"/>
              </a:rPr>
              <a:t>You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73691" y="3927607"/>
            <a:ext cx="6656844" cy="1591757"/>
            <a:chOff x="0" y="-85725"/>
            <a:chExt cx="8875791" cy="212234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85725"/>
              <a:ext cx="6588554" cy="653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52"/>
                </a:lnSpc>
                <a:spcBef>
                  <a:spcPct val="0"/>
                </a:spcBef>
              </a:pPr>
              <a:r>
                <a:rPr lang="en-US" sz="2823" b="1" dirty="0">
                  <a:solidFill>
                    <a:srgbClr val="0070C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Contact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68653"/>
              <a:ext cx="8875791" cy="4593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799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ce-pobekoe1423@st.umat.edu.gh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626420"/>
              <a:ext cx="8875791" cy="4101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9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+233-246-467-996/ +233-544-883-507 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30059DB2-245F-F325-1D4F-4F9006831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51632" y="2237955"/>
            <a:ext cx="833249" cy="1144775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2433627-F7CB-54A6-23DE-19CA7E6DD30A}"/>
              </a:ext>
            </a:extLst>
          </p:cNvPr>
          <p:cNvGrpSpPr/>
          <p:nvPr/>
        </p:nvGrpSpPr>
        <p:grpSpPr>
          <a:xfrm>
            <a:off x="7722546" y="711394"/>
            <a:ext cx="12541759" cy="8938895"/>
            <a:chOff x="7722546" y="711394"/>
            <a:chExt cx="12541759" cy="893889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CEEC125-2AC8-9C0E-F207-770218BA9ED4}"/>
                </a:ext>
              </a:extLst>
            </p:cNvPr>
            <p:cNvSpPr txBox="1"/>
            <p:nvPr/>
          </p:nvSpPr>
          <p:spPr>
            <a:xfrm>
              <a:off x="14243668" y="6514959"/>
              <a:ext cx="9550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PAY</a:t>
              </a:r>
            </a:p>
          </p:txBody>
        </p:sp>
        <p:sp>
          <p:nvSpPr>
            <p:cNvPr id="36" name="Image placeholder 36"/>
            <p:cNvSpPr/>
            <p:nvPr/>
          </p:nvSpPr>
          <p:spPr>
            <a:xfrm>
              <a:off x="11430000" y="1397000"/>
              <a:ext cx="5969000" cy="7112000"/>
            </a:xfrm>
            <a:prstGeom prst="roundRect">
              <a:avLst/>
            </a:prstGeom>
            <a:solidFill>
              <a:srgbClr val="EEF4FC"/>
            </a:solidFill>
            <a:ln w="25400">
              <a:solidFill>
                <a:srgbClr val="0070C0"/>
              </a:solidFill>
              <a:prstDash val="dash"/>
            </a:ln>
          </p:spPr>
          <p:txBody>
            <a:bodyPr wrap="square" lIns="91440" rIns="91440" anchor="ctr">
              <a:normAutofit/>
            </a:bodyPr>
            <a:lstStyle/>
            <a:p>
              <a:pPr algn="ctr"/>
              <a:r>
                <a:rPr lang="en-US" sz="1800" b="1" dirty="0">
                  <a:solidFill>
                    <a:srgbClr val="0070C0"/>
                  </a:solidFill>
                  <a:latin typeface="Open Sans Medium"/>
                </a:rPr>
                <a:t>[INSERT IMAGE]</a:t>
              </a:r>
            </a:p>
            <a:p>
              <a:pPr algn="ctr"/>
              <a:r>
                <a:rPr lang="en-US" sz="1296" dirty="0">
                  <a:solidFill>
                    <a:srgbClr val="4A5B70"/>
                  </a:solidFill>
                  <a:latin typeface="Open Sans Medium"/>
                </a:rPr>
                <a:t>Echo logo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95CAFF1-48DA-F894-1892-17D0D815D92C}"/>
              </a:ext>
            </a:extLst>
          </p:cNvPr>
          <p:cNvSpPr txBox="1"/>
          <p:nvPr/>
        </p:nvSpPr>
        <p:spPr>
          <a:xfrm>
            <a:off x="120604" y="970222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00" dirty="0">
                <a:solidFill>
                  <a:srgbClr val="0070C0"/>
                </a:solidFill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9F8FD"/>
        </a:solidFill>
        <a:ln>
          <a:noFill/>
        </a:ln>
      </a:spPr>
      <a:bodyPr wrap="square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16267</TotalTime>
  <Words>1755</Words>
  <Application>Microsoft Office PowerPoint</Application>
  <PresentationFormat>Custom</PresentationFormat>
  <Paragraphs>236</Paragraphs>
  <Slides>20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Open Sans</vt:lpstr>
      <vt:lpstr>Open Sans Medium</vt:lpstr>
      <vt:lpstr>Poppins</vt:lpstr>
      <vt:lpstr>Poppins Bold</vt:lpstr>
      <vt:lpstr>Shrikhand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Competitor 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xxx</dc:creator>
  <cp:lastModifiedBy>Clarance Manu</cp:lastModifiedBy>
  <cp:revision>183</cp:revision>
  <dcterms:created xsi:type="dcterms:W3CDTF">2022-05-19T05:06:40Z</dcterms:created>
  <dcterms:modified xsi:type="dcterms:W3CDTF">2026-09-13T18:18:23Z</dcterms:modified>
</cp:coreProperties>
</file>